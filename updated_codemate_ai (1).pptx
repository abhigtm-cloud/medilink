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8.jpg" ContentType="image/jpg"/>
  <Override PartName="/ppt/media/image9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1925" y="-3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033458"/>
            <a:ext cx="6428422" cy="2054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479796"/>
            <a:ext cx="5293995" cy="2446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250630"/>
            <a:ext cx="3289839" cy="6458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250630"/>
            <a:ext cx="3289839" cy="6458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391414"/>
            <a:ext cx="6806565" cy="1565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250630"/>
            <a:ext cx="6806565" cy="6458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100376"/>
            <a:ext cx="2420112" cy="489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100376"/>
            <a:ext cx="1739455" cy="489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92468" y="9656577"/>
            <a:ext cx="636270" cy="171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E7E7E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‹#›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mongodb.com/docs/manual/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3000/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localhost:5000/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2347" y="1004516"/>
            <a:ext cx="4244340" cy="338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50" b="1" spc="-20" dirty="0">
                <a:latin typeface="Times New Roman"/>
                <a:cs typeface="Times New Roman"/>
              </a:rPr>
              <a:t>Sentiment</a:t>
            </a:r>
            <a:r>
              <a:rPr sz="1750" b="1" spc="-90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Analysis</a:t>
            </a:r>
            <a:r>
              <a:rPr sz="1750" b="1" spc="-5" dirty="0">
                <a:latin typeface="Times New Roman"/>
                <a:cs typeface="Times New Roman"/>
              </a:rPr>
              <a:t> </a:t>
            </a:r>
            <a:r>
              <a:rPr sz="1750" b="1" dirty="0">
                <a:latin typeface="Times New Roman"/>
                <a:cs typeface="Times New Roman"/>
              </a:rPr>
              <a:t>Using Machine</a:t>
            </a:r>
            <a:r>
              <a:rPr sz="1750" b="1" spc="5" dirty="0">
                <a:latin typeface="Times New Roman"/>
                <a:cs typeface="Times New Roman"/>
              </a:rPr>
              <a:t> </a:t>
            </a:r>
            <a:r>
              <a:rPr sz="1750" b="1" spc="-10" dirty="0">
                <a:latin typeface="Times New Roman"/>
                <a:cs typeface="Times New Roman"/>
              </a:rPr>
              <a:t>Learning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85"/>
              </a:spcBef>
            </a:pPr>
            <a:endParaRPr sz="1750">
              <a:latin typeface="Times New Roman"/>
              <a:cs typeface="Times New Roman"/>
            </a:endParaRPr>
          </a:p>
          <a:p>
            <a:pPr marL="6350" algn="ctr">
              <a:lnSpc>
                <a:spcPct val="100000"/>
              </a:lnSpc>
            </a:pPr>
            <a:r>
              <a:rPr sz="1350" b="1" dirty="0">
                <a:latin typeface="Times New Roman"/>
                <a:cs typeface="Times New Roman"/>
              </a:rPr>
              <a:t>A</a:t>
            </a:r>
            <a:r>
              <a:rPr sz="1350" b="1" spc="-7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PROJECT</a:t>
            </a:r>
            <a:r>
              <a:rPr sz="1350" b="1" spc="-10" dirty="0">
                <a:latin typeface="Times New Roman"/>
                <a:cs typeface="Times New Roman"/>
              </a:rPr>
              <a:t> REPORT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350">
              <a:latin typeface="Times New Roman"/>
              <a:cs typeface="Times New Roman"/>
            </a:endParaRPr>
          </a:p>
          <a:p>
            <a:pPr marL="33020" algn="ctr">
              <a:lnSpc>
                <a:spcPct val="100000"/>
              </a:lnSpc>
            </a:pPr>
            <a:r>
              <a:rPr sz="1350" b="1" i="1" dirty="0">
                <a:latin typeface="Times New Roman"/>
                <a:cs typeface="Times New Roman"/>
              </a:rPr>
              <a:t>Submitted</a:t>
            </a:r>
            <a:r>
              <a:rPr sz="1350" b="1" i="1" spc="-45" dirty="0">
                <a:latin typeface="Times New Roman"/>
                <a:cs typeface="Times New Roman"/>
              </a:rPr>
              <a:t> </a:t>
            </a:r>
            <a:r>
              <a:rPr sz="1350" b="1" i="1" spc="-25" dirty="0">
                <a:latin typeface="Times New Roman"/>
                <a:cs typeface="Times New Roman"/>
              </a:rPr>
              <a:t>by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350">
              <a:latin typeface="Times New Roman"/>
              <a:cs typeface="Times New Roman"/>
            </a:endParaRPr>
          </a:p>
          <a:p>
            <a:pPr marL="1463040" marR="1414780" algn="ctr">
              <a:lnSpc>
                <a:spcPts val="1770"/>
              </a:lnSpc>
              <a:spcBef>
                <a:spcPts val="5"/>
              </a:spcBef>
            </a:pPr>
            <a:r>
              <a:rPr sz="1550" b="1" i="1" dirty="0">
                <a:latin typeface="Times New Roman"/>
                <a:cs typeface="Times New Roman"/>
              </a:rPr>
              <a:t>Kashish</a:t>
            </a:r>
            <a:r>
              <a:rPr sz="1550" b="1" i="1" spc="15" dirty="0">
                <a:latin typeface="Times New Roman"/>
                <a:cs typeface="Times New Roman"/>
              </a:rPr>
              <a:t> </a:t>
            </a:r>
            <a:r>
              <a:rPr sz="1550" b="1" i="1" spc="-10" dirty="0">
                <a:latin typeface="Times New Roman"/>
                <a:cs typeface="Times New Roman"/>
              </a:rPr>
              <a:t>Sharma </a:t>
            </a:r>
            <a:r>
              <a:rPr sz="1550" b="1" i="1" dirty="0">
                <a:latin typeface="Times New Roman"/>
                <a:cs typeface="Times New Roman"/>
              </a:rPr>
              <a:t>Vanshika</a:t>
            </a:r>
            <a:r>
              <a:rPr sz="1550" b="1" i="1" spc="-30" dirty="0">
                <a:latin typeface="Times New Roman"/>
                <a:cs typeface="Times New Roman"/>
              </a:rPr>
              <a:t> </a:t>
            </a:r>
            <a:r>
              <a:rPr sz="1550" b="1" i="1" spc="-20" dirty="0">
                <a:latin typeface="Times New Roman"/>
                <a:cs typeface="Times New Roman"/>
              </a:rPr>
              <a:t>Angra</a:t>
            </a: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550">
              <a:latin typeface="Times New Roman"/>
              <a:cs typeface="Times New Roman"/>
            </a:endParaRPr>
          </a:p>
          <a:p>
            <a:pPr marL="36195" algn="ctr">
              <a:lnSpc>
                <a:spcPct val="100000"/>
              </a:lnSpc>
            </a:pPr>
            <a:r>
              <a:rPr sz="1350" spc="-25" dirty="0">
                <a:latin typeface="Times New Roman"/>
                <a:cs typeface="Times New Roman"/>
              </a:rPr>
              <a:t>IN</a:t>
            </a:r>
            <a:endParaRPr sz="1350">
              <a:latin typeface="Times New Roman"/>
              <a:cs typeface="Times New Roman"/>
            </a:endParaRPr>
          </a:p>
          <a:p>
            <a:pPr marR="635" algn="ctr">
              <a:lnSpc>
                <a:spcPct val="100000"/>
              </a:lnSpc>
              <a:spcBef>
                <a:spcPts val="715"/>
              </a:spcBef>
            </a:pPr>
            <a:r>
              <a:rPr sz="1350" spc="-10" dirty="0">
                <a:latin typeface="Times New Roman"/>
                <a:cs typeface="Times New Roman"/>
              </a:rPr>
              <a:t>BACHELOR</a:t>
            </a:r>
            <a:r>
              <a:rPr sz="1350" spc="-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OF</a:t>
            </a:r>
            <a:r>
              <a:rPr sz="1350" spc="-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COMPUTER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APPLICATION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6778" y="5810960"/>
            <a:ext cx="1715135" cy="61277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350" b="1" dirty="0">
                <a:latin typeface="Times New Roman"/>
                <a:cs typeface="Times New Roman"/>
              </a:rPr>
              <a:t>Chandigarh</a:t>
            </a:r>
            <a:r>
              <a:rPr sz="1350" b="1" spc="-50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University</a:t>
            </a:r>
            <a:endParaRPr sz="13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1350" dirty="0">
                <a:latin typeface="Times New Roman"/>
                <a:cs typeface="Times New Roman"/>
              </a:rPr>
              <a:t>August</a:t>
            </a:r>
            <a:r>
              <a:rPr sz="1350" spc="15" dirty="0">
                <a:latin typeface="Times New Roman"/>
                <a:cs typeface="Times New Roman"/>
              </a:rPr>
              <a:t> </a:t>
            </a:r>
            <a:r>
              <a:rPr sz="1350" spc="-20" dirty="0">
                <a:latin typeface="Times New Roman"/>
                <a:cs typeface="Times New Roman"/>
              </a:rPr>
              <a:t>2025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8893" y="981143"/>
            <a:ext cx="5958205" cy="1019810"/>
            <a:chOff x="938893" y="981143"/>
            <a:chExt cx="5958205" cy="10198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893" y="981143"/>
              <a:ext cx="750497" cy="9543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7186" y="1008939"/>
              <a:ext cx="5179357" cy="991397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8703" y="4848499"/>
            <a:ext cx="2938736" cy="10574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8893" y="397176"/>
            <a:ext cx="5958205" cy="1019810"/>
            <a:chOff x="938893" y="397176"/>
            <a:chExt cx="5958205" cy="1019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8893" y="397176"/>
              <a:ext cx="750497" cy="95433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7186" y="424972"/>
              <a:ext cx="5179357" cy="99139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80039" y="3350392"/>
            <a:ext cx="5807710" cy="1421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Times New Roman"/>
                <a:cs typeface="Times New Roman"/>
              </a:rPr>
              <a:t>BONAFIDE </a:t>
            </a:r>
            <a:r>
              <a:rPr sz="1350" b="1" spc="-10" dirty="0">
                <a:latin typeface="Times New Roman"/>
                <a:cs typeface="Times New Roman"/>
              </a:rPr>
              <a:t>CERTIFICATE</a:t>
            </a:r>
            <a:endParaRPr sz="1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4900"/>
              </a:lnSpc>
            </a:pPr>
            <a:r>
              <a:rPr sz="1350" dirty="0">
                <a:latin typeface="Times New Roman"/>
                <a:cs typeface="Times New Roman"/>
              </a:rPr>
              <a:t>Certified</a:t>
            </a:r>
            <a:r>
              <a:rPr sz="1350" spc="3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that</a:t>
            </a:r>
            <a:r>
              <a:rPr sz="1350" spc="30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this</a:t>
            </a:r>
            <a:r>
              <a:rPr sz="1350" spc="3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project</a:t>
            </a:r>
            <a:r>
              <a:rPr sz="1350" spc="3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report</a:t>
            </a:r>
            <a:r>
              <a:rPr sz="1350" spc="30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“</a:t>
            </a:r>
            <a:r>
              <a:rPr lang="en-US" sz="1350" b="1" dirty="0" err="1">
                <a:latin typeface="Times New Roman"/>
                <a:cs typeface="Times New Roman"/>
              </a:rPr>
              <a:t>CodeMate</a:t>
            </a:r>
            <a:r>
              <a:rPr lang="en-US" sz="1350" b="1" spc="330" dirty="0">
                <a:latin typeface="Times New Roman"/>
                <a:cs typeface="Times New Roman"/>
              </a:rPr>
              <a:t> AI</a:t>
            </a:r>
            <a:r>
              <a:rPr sz="1350" dirty="0">
                <a:latin typeface="Times New Roman"/>
                <a:cs typeface="Times New Roman"/>
              </a:rPr>
              <a:t>”</a:t>
            </a:r>
            <a:r>
              <a:rPr sz="1350" spc="3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is</a:t>
            </a:r>
            <a:r>
              <a:rPr sz="1350" spc="3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30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bonafide</a:t>
            </a:r>
            <a:r>
              <a:rPr sz="1350" spc="3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work</a:t>
            </a:r>
            <a:r>
              <a:rPr sz="1350" spc="305" dirty="0">
                <a:latin typeface="Times New Roman"/>
                <a:cs typeface="Times New Roman"/>
              </a:rPr>
              <a:t> </a:t>
            </a:r>
            <a:r>
              <a:rPr sz="1350" spc="-25" dirty="0">
                <a:latin typeface="Times New Roman"/>
                <a:cs typeface="Times New Roman"/>
              </a:rPr>
              <a:t>of </a:t>
            </a:r>
            <a:r>
              <a:rPr sz="1350" dirty="0">
                <a:latin typeface="Times New Roman"/>
                <a:cs typeface="Times New Roman"/>
              </a:rPr>
              <a:t>“</a:t>
            </a:r>
            <a:r>
              <a:rPr sz="1350" b="1" dirty="0">
                <a:latin typeface="Times New Roman"/>
                <a:cs typeface="Times New Roman"/>
              </a:rPr>
              <a:t>Kashish</a:t>
            </a:r>
            <a:r>
              <a:rPr sz="1350" b="1" spc="-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Sharma</a:t>
            </a:r>
            <a:r>
              <a:rPr sz="1350" b="1" spc="4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and</a:t>
            </a:r>
            <a:r>
              <a:rPr sz="1350" b="1" spc="3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Vanshika</a:t>
            </a:r>
            <a:r>
              <a:rPr sz="1350" b="1" spc="30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Angra</a:t>
            </a:r>
            <a:r>
              <a:rPr sz="1350" dirty="0">
                <a:latin typeface="Times New Roman"/>
                <a:cs typeface="Times New Roman"/>
              </a:rPr>
              <a:t>.”</a:t>
            </a:r>
            <a:r>
              <a:rPr sz="1350" spc="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who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carried</a:t>
            </a:r>
            <a:r>
              <a:rPr sz="1350" spc="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out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project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work</a:t>
            </a:r>
            <a:r>
              <a:rPr sz="1350" spc="60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under </a:t>
            </a:r>
            <a:r>
              <a:rPr sz="1350" dirty="0">
                <a:latin typeface="Times New Roman"/>
                <a:cs typeface="Times New Roman"/>
              </a:rPr>
              <a:t>my/our</a:t>
            </a:r>
            <a:r>
              <a:rPr sz="1350" spc="-10" dirty="0">
                <a:latin typeface="Times New Roman"/>
                <a:cs typeface="Times New Roman"/>
              </a:rPr>
              <a:t> supervision.</a:t>
            </a:r>
            <a:endParaRPr sz="135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039" y="5443309"/>
            <a:ext cx="1611630" cy="62484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350" spc="-10" dirty="0">
                <a:latin typeface="Times New Roman"/>
                <a:cs typeface="Times New Roman"/>
              </a:rPr>
              <a:t>SIGNATURE</a:t>
            </a:r>
            <a:endParaRPr sz="1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350" b="1" dirty="0">
                <a:latin typeface="Times New Roman"/>
                <a:cs typeface="Times New Roman"/>
              </a:rPr>
              <a:t>Mrs.</a:t>
            </a:r>
            <a:r>
              <a:rPr sz="1350" b="1" spc="5" dirty="0">
                <a:latin typeface="Times New Roman"/>
                <a:cs typeface="Times New Roman"/>
              </a:rPr>
              <a:t> </a:t>
            </a:r>
            <a:r>
              <a:rPr lang="en-US" sz="1350" b="1" spc="5" dirty="0">
                <a:latin typeface="Times New Roman"/>
                <a:cs typeface="Times New Roman"/>
              </a:rPr>
              <a:t>Ankita</a:t>
            </a:r>
            <a:endParaRPr sz="13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9385" y="5536408"/>
            <a:ext cx="996315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Times New Roman"/>
                <a:cs typeface="Times New Roman"/>
              </a:rPr>
              <a:t>SIGNATURE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039" y="6428851"/>
            <a:ext cx="1071245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Times New Roman"/>
                <a:cs typeface="Times New Roman"/>
              </a:rPr>
              <a:t>SUPERVISOR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4398" y="6428851"/>
            <a:ext cx="2332990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Times New Roman"/>
                <a:cs typeface="Times New Roman"/>
              </a:rPr>
              <a:t>HEAD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OF</a:t>
            </a:r>
            <a:r>
              <a:rPr sz="1350" spc="-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DEPARTMENT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0039" y="7624334"/>
            <a:ext cx="5875655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62320" algn="l"/>
              </a:tabLst>
            </a:pPr>
            <a:r>
              <a:rPr sz="1350" dirty="0">
                <a:latin typeface="Times New Roman"/>
                <a:cs typeface="Times New Roman"/>
              </a:rPr>
              <a:t>Submitted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for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project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viva-voce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examination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held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spc="-25" dirty="0">
                <a:latin typeface="Times New Roman"/>
                <a:cs typeface="Times New Roman"/>
              </a:rPr>
              <a:t>on</a:t>
            </a:r>
            <a:r>
              <a:rPr sz="13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0039" y="8223250"/>
            <a:ext cx="1919605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Times New Roman"/>
                <a:cs typeface="Times New Roman"/>
              </a:rPr>
              <a:t>INTERNAL</a:t>
            </a:r>
            <a:r>
              <a:rPr sz="1350" b="1" spc="-80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EXAMINER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94398" y="8223250"/>
            <a:ext cx="1969770" cy="2317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Times New Roman"/>
                <a:cs typeface="Times New Roman"/>
              </a:rPr>
              <a:t>EXTERNAL</a:t>
            </a:r>
            <a:r>
              <a:rPr sz="1350" b="1" spc="-70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EXAMINER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8703" y="2149056"/>
            <a:ext cx="2938736" cy="10574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4016" y="1150613"/>
            <a:ext cx="5393690" cy="78339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110489" algn="ctr">
              <a:lnSpc>
                <a:spcPct val="100000"/>
              </a:lnSpc>
              <a:spcBef>
                <a:spcPts val="110"/>
              </a:spcBef>
            </a:pPr>
            <a:r>
              <a:rPr sz="1450" b="1" dirty="0">
                <a:latin typeface="Times New Roman"/>
                <a:cs typeface="Times New Roman"/>
              </a:rPr>
              <a:t>TABLE</a:t>
            </a:r>
            <a:r>
              <a:rPr sz="1450" b="1" spc="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OF</a:t>
            </a:r>
            <a:r>
              <a:rPr sz="1450" b="1" spc="15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CONTENTS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450">
              <a:latin typeface="Times New Roman"/>
              <a:cs typeface="Times New Roman"/>
            </a:endParaRPr>
          </a:p>
          <a:p>
            <a:pPr marR="100965" algn="r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List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Figures......................................................................................................................</a:t>
            </a:r>
            <a:endParaRPr sz="1100">
              <a:latin typeface="Times New Roman"/>
              <a:cs typeface="Times New Roman"/>
            </a:endParaRPr>
          </a:p>
          <a:p>
            <a:pPr marR="112395" algn="r">
              <a:lnSpc>
                <a:spcPct val="100000"/>
              </a:lnSpc>
              <a:spcBef>
                <a:spcPts val="1065"/>
              </a:spcBef>
            </a:pPr>
            <a:r>
              <a:rPr sz="1100" dirty="0">
                <a:latin typeface="Times New Roman"/>
                <a:cs typeface="Times New Roman"/>
              </a:rPr>
              <a:t>List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Tables.......................................................................................................................</a:t>
            </a:r>
            <a:endParaRPr sz="1100">
              <a:latin typeface="Times New Roman"/>
              <a:cs typeface="Times New Roman"/>
            </a:endParaRPr>
          </a:p>
          <a:p>
            <a:pPr marR="64769" algn="r">
              <a:lnSpc>
                <a:spcPct val="100000"/>
              </a:lnSpc>
              <a:spcBef>
                <a:spcPts val="1080"/>
              </a:spcBef>
            </a:pPr>
            <a:r>
              <a:rPr sz="1100" dirty="0">
                <a:latin typeface="Times New Roman"/>
                <a:cs typeface="Times New Roman"/>
              </a:rPr>
              <a:t>Abstract</a:t>
            </a:r>
            <a:r>
              <a:rPr sz="1100" spc="280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..............................................................................................................................8</a:t>
            </a:r>
            <a:endParaRPr sz="1100">
              <a:latin typeface="Times New Roman"/>
              <a:cs typeface="Times New Roman"/>
            </a:endParaRPr>
          </a:p>
          <a:p>
            <a:pPr marR="62230" algn="r">
              <a:lnSpc>
                <a:spcPct val="100000"/>
              </a:lnSpc>
              <a:spcBef>
                <a:spcPts val="1045"/>
              </a:spcBef>
            </a:pPr>
            <a:r>
              <a:rPr sz="1100" dirty="0">
                <a:latin typeface="Times New Roman"/>
                <a:cs typeface="Times New Roman"/>
              </a:rPr>
              <a:t>Abbreviations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.....................................................................................................................9</a:t>
            </a:r>
            <a:endParaRPr sz="1100">
              <a:latin typeface="Times New Roman"/>
              <a:cs typeface="Times New Roman"/>
            </a:endParaRPr>
          </a:p>
          <a:p>
            <a:pPr marR="8255" algn="r">
              <a:lnSpc>
                <a:spcPct val="100000"/>
              </a:lnSpc>
              <a:spcBef>
                <a:spcPts val="1230"/>
              </a:spcBef>
            </a:pPr>
            <a:r>
              <a:rPr sz="1250" b="1" dirty="0">
                <a:latin typeface="Times New Roman"/>
                <a:cs typeface="Times New Roman"/>
              </a:rPr>
              <a:t>CHAPTER</a:t>
            </a:r>
            <a:r>
              <a:rPr sz="1250" b="1" spc="4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1.</a:t>
            </a:r>
            <a:r>
              <a:rPr sz="1250" b="1" spc="6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INTRODUCTION</a:t>
            </a:r>
            <a:r>
              <a:rPr sz="1250" b="1" spc="7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........................................................................10</a:t>
            </a:r>
            <a:endParaRPr sz="1250">
              <a:latin typeface="Times New Roman"/>
              <a:cs typeface="Times New Roman"/>
            </a:endParaRPr>
          </a:p>
          <a:p>
            <a:pPr marL="268605" marR="31750" lvl="1" indent="-268605" algn="r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268605" algn="l"/>
              </a:tabLst>
            </a:pPr>
            <a:r>
              <a:rPr sz="1100" dirty="0">
                <a:latin typeface="Times New Roman"/>
                <a:cs typeface="Times New Roman"/>
              </a:rPr>
              <a:t>Identification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Client/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Need/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Contemporary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11</a:t>
            </a:r>
            <a:endParaRPr sz="1100">
              <a:latin typeface="Times New Roman"/>
              <a:cs typeface="Times New Roman"/>
            </a:endParaRPr>
          </a:p>
          <a:p>
            <a:pPr marL="260350" marR="22225" lvl="1" indent="-260350" algn="r">
              <a:lnSpc>
                <a:spcPct val="100000"/>
              </a:lnSpc>
              <a:spcBef>
                <a:spcPts val="1210"/>
              </a:spcBef>
              <a:buAutoNum type="arabicPeriod"/>
              <a:tabLst>
                <a:tab pos="260350" algn="l"/>
              </a:tabLst>
            </a:pPr>
            <a:r>
              <a:rPr sz="1100" dirty="0">
                <a:latin typeface="Times New Roman"/>
                <a:cs typeface="Times New Roman"/>
              </a:rPr>
              <a:t>Identification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12</a:t>
            </a:r>
            <a:endParaRPr sz="1100">
              <a:latin typeface="Times New Roman"/>
              <a:cs typeface="Times New Roman"/>
            </a:endParaRPr>
          </a:p>
          <a:p>
            <a:pPr marL="264160" marR="27305" lvl="1" indent="-264160" algn="r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264160" algn="l"/>
              </a:tabLst>
            </a:pPr>
            <a:r>
              <a:rPr sz="1100" dirty="0">
                <a:latin typeface="Times New Roman"/>
                <a:cs typeface="Times New Roman"/>
              </a:rPr>
              <a:t>Identification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Tasks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13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5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58445" marR="23495" lvl="1" indent="-258445" algn="r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58445" algn="l"/>
              </a:tabLst>
            </a:pPr>
            <a:r>
              <a:rPr sz="1100" dirty="0">
                <a:latin typeface="Times New Roman"/>
                <a:cs typeface="Times New Roman"/>
              </a:rPr>
              <a:t>Timeline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.................................................................................................................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15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7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67335" marR="30480" lvl="1" indent="-267335" algn="r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67335" algn="l"/>
              </a:tabLst>
            </a:pPr>
            <a:r>
              <a:rPr sz="1100" dirty="0">
                <a:latin typeface="Times New Roman"/>
                <a:cs typeface="Times New Roman"/>
              </a:rPr>
              <a:t>Organization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16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CHAPTER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2.</a:t>
            </a:r>
            <a:r>
              <a:rPr sz="1250" b="1" spc="4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LITERATURE</a:t>
            </a:r>
            <a:r>
              <a:rPr sz="1250" b="1" spc="5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REVIEW/BACKGROUND</a:t>
            </a:r>
            <a:r>
              <a:rPr sz="1250" b="1" spc="4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STUDY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..............</a:t>
            </a:r>
            <a:r>
              <a:rPr sz="1250" b="1" spc="40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17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50">
              <a:latin typeface="Times New Roman"/>
              <a:cs typeface="Times New Roman"/>
            </a:endParaRPr>
          </a:p>
          <a:p>
            <a:pPr marL="212725" marR="19685" lvl="1" indent="-212725" algn="r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12725" algn="l"/>
              </a:tabLst>
            </a:pPr>
            <a:r>
              <a:rPr sz="1100" dirty="0">
                <a:latin typeface="Times New Roman"/>
                <a:cs typeface="Times New Roman"/>
              </a:rPr>
              <a:t>Timeline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.........................................................................17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43840" marR="5715" lvl="1" indent="-243840" algn="r">
              <a:lnSpc>
                <a:spcPct val="100000"/>
              </a:lnSpc>
              <a:buAutoNum type="arabicPeriod"/>
              <a:tabLst>
                <a:tab pos="243840" algn="l"/>
              </a:tabLst>
            </a:pP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19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2725" marR="6350" lvl="1" indent="-212725" algn="r">
              <a:lnSpc>
                <a:spcPct val="100000"/>
              </a:lnSpc>
              <a:buAutoNum type="arabicPeriod"/>
              <a:tabLst>
                <a:tab pos="212725" algn="l"/>
              </a:tabLst>
            </a:pPr>
            <a:r>
              <a:rPr sz="1100" dirty="0">
                <a:latin typeface="Times New Roman"/>
                <a:cs typeface="Times New Roman"/>
              </a:rPr>
              <a:t>Bibliometric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21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4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2725" marR="22225" lvl="1" indent="-212725" algn="r">
              <a:lnSpc>
                <a:spcPct val="100000"/>
              </a:lnSpc>
              <a:buAutoNum type="arabicPeriod"/>
              <a:tabLst>
                <a:tab pos="212725" algn="l"/>
              </a:tabLst>
            </a:pPr>
            <a:r>
              <a:rPr sz="1100" dirty="0">
                <a:latin typeface="Times New Roman"/>
                <a:cs typeface="Times New Roman"/>
              </a:rPr>
              <a:t>Review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Summary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..................................................................................................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2725" marR="15240" lvl="1" indent="-212725" algn="r">
              <a:lnSpc>
                <a:spcPct val="100000"/>
              </a:lnSpc>
              <a:buAutoNum type="arabicPeriod"/>
              <a:tabLst>
                <a:tab pos="212725" algn="l"/>
              </a:tabLst>
            </a:pPr>
            <a:r>
              <a:rPr sz="1100" dirty="0">
                <a:latin typeface="Times New Roman"/>
                <a:cs typeface="Times New Roman"/>
              </a:rPr>
              <a:t>Problem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Definition.................................................................................................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24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4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2725" marR="66675" lvl="1" indent="-212725" algn="r">
              <a:lnSpc>
                <a:spcPct val="100000"/>
              </a:lnSpc>
              <a:buAutoNum type="arabicPeriod"/>
              <a:tabLst>
                <a:tab pos="212725" algn="l"/>
              </a:tabLst>
            </a:pPr>
            <a:r>
              <a:rPr sz="1100" dirty="0">
                <a:latin typeface="Times New Roman"/>
                <a:cs typeface="Times New Roman"/>
              </a:rPr>
              <a:t>Goals/Objectives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..................................................................................................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24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100">
              <a:latin typeface="Times New Roman"/>
              <a:cs typeface="Times New Roman"/>
            </a:endParaRPr>
          </a:p>
          <a:p>
            <a:pPr marR="44450" algn="r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CHAPTER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3.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DESIGN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FLOW/PROCESS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......................................................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26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50">
              <a:latin typeface="Times New Roman"/>
              <a:cs typeface="Times New Roman"/>
            </a:endParaRPr>
          </a:p>
          <a:p>
            <a:pPr marL="211454" marR="5715" lvl="1" indent="-211454" algn="r">
              <a:lnSpc>
                <a:spcPct val="100000"/>
              </a:lnSpc>
              <a:buAutoNum type="arabicPeriod"/>
              <a:tabLst>
                <a:tab pos="211454" algn="l"/>
              </a:tabLst>
            </a:pPr>
            <a:r>
              <a:rPr sz="1100" dirty="0">
                <a:latin typeface="Times New Roman"/>
                <a:cs typeface="Times New Roman"/>
              </a:rPr>
              <a:t>Evaluation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specifications/Features..........................................................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26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07645" marR="6350" lvl="1" indent="-207645" algn="r">
              <a:lnSpc>
                <a:spcPct val="100000"/>
              </a:lnSpc>
              <a:buAutoNum type="arabicPeriod"/>
              <a:tabLst>
                <a:tab pos="207645" algn="l"/>
              </a:tabLst>
            </a:pP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 ............................................................................................................. </a:t>
            </a:r>
            <a:r>
              <a:rPr sz="1100" spc="-25" dirty="0">
                <a:latin typeface="Times New Roman"/>
                <a:cs typeface="Times New Roman"/>
              </a:rPr>
              <a:t>27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3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0185" marR="6350" lvl="1" indent="-210185" algn="r">
              <a:lnSpc>
                <a:spcPct val="100000"/>
              </a:lnSpc>
              <a:buAutoNum type="arabicPeriod"/>
              <a:tabLst>
                <a:tab pos="210185" algn="l"/>
              </a:tabLst>
            </a:pP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finalization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subject 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28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4872" y="1329267"/>
            <a:ext cx="5412105" cy="8078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7645" marR="15240" lvl="1" indent="-207645" algn="r">
              <a:lnSpc>
                <a:spcPct val="100000"/>
              </a:lnSpc>
              <a:spcBef>
                <a:spcPts val="120"/>
              </a:spcBef>
              <a:buAutoNum type="arabicPeriod" startAt="4"/>
              <a:tabLst>
                <a:tab pos="207645" algn="l"/>
              </a:tabLst>
            </a:pP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Flow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30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0"/>
              </a:spcBef>
              <a:buFont typeface="Times New Roman"/>
              <a:buAutoNum type="arabicPeriod" startAt="4"/>
            </a:pPr>
            <a:endParaRPr sz="1100">
              <a:latin typeface="Times New Roman"/>
              <a:cs typeface="Times New Roman"/>
            </a:endParaRPr>
          </a:p>
          <a:p>
            <a:pPr marL="210185" marR="14604" lvl="1" indent="-210185" algn="r">
              <a:lnSpc>
                <a:spcPct val="100000"/>
              </a:lnSpc>
              <a:buAutoNum type="arabicPeriod" startAt="4"/>
              <a:tabLst>
                <a:tab pos="210185" algn="l"/>
              </a:tabLst>
            </a:pP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................................................................................................................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34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40"/>
              </a:spcBef>
              <a:buFont typeface="Times New Roman"/>
              <a:buAutoNum type="arabicPeriod" startAt="4"/>
            </a:pPr>
            <a:endParaRPr sz="1100">
              <a:latin typeface="Times New Roman"/>
              <a:cs typeface="Times New Roman"/>
            </a:endParaRPr>
          </a:p>
          <a:p>
            <a:pPr marL="207645" marR="14604" lvl="1" indent="-207645" algn="r">
              <a:lnSpc>
                <a:spcPct val="100000"/>
              </a:lnSpc>
              <a:buAutoNum type="arabicPeriod" startAt="4"/>
              <a:tabLst>
                <a:tab pos="207645" algn="l"/>
              </a:tabLst>
            </a:pP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plan/methodology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35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80"/>
              </a:spcBef>
              <a:buFont typeface="Times New Roman"/>
              <a:buAutoNum type="arabicPeriod" startAt="4"/>
            </a:pPr>
            <a:endParaRPr sz="1100">
              <a:latin typeface="Times New Roman"/>
              <a:cs typeface="Times New Roman"/>
            </a:endParaRPr>
          </a:p>
          <a:p>
            <a:pPr marL="208915" marR="13970" lvl="1" indent="-208915" algn="r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08915" algn="l"/>
              </a:tabLst>
            </a:pP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</a:t>
            </a:r>
            <a:r>
              <a:rPr sz="1100" spc="-10" dirty="0">
                <a:latin typeface="Times New Roman"/>
                <a:cs typeface="Times New Roman"/>
              </a:rPr>
              <a:t>Project……………………………………………………………………….37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1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CHAPTER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4.</a:t>
            </a:r>
            <a:r>
              <a:rPr sz="1250" b="1" spc="5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RESULTS</a:t>
            </a:r>
            <a:r>
              <a:rPr sz="1250" b="1" spc="5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ANALYSIS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VALIDATION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............................41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50">
              <a:latin typeface="Times New Roman"/>
              <a:cs typeface="Times New Roman"/>
            </a:endParaRPr>
          </a:p>
          <a:p>
            <a:pPr marL="213360" marR="15240" lvl="1" indent="-213360" algn="r">
              <a:lnSpc>
                <a:spcPct val="100000"/>
              </a:lnSpc>
              <a:buAutoNum type="arabicPeriod"/>
              <a:tabLst>
                <a:tab pos="213360" algn="l"/>
              </a:tabLst>
            </a:pP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41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34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4629" marR="19685" lvl="1" indent="-214629" algn="r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14629" algn="l"/>
              </a:tabLst>
            </a:pPr>
            <a:r>
              <a:rPr sz="1100" dirty="0">
                <a:latin typeface="Times New Roman"/>
                <a:cs typeface="Times New Roman"/>
              </a:rPr>
              <a:t>Results: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42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5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1454" marR="14604" lvl="1" indent="-211454" algn="r">
              <a:lnSpc>
                <a:spcPct val="100000"/>
              </a:lnSpc>
              <a:buAutoNum type="arabicPeriod"/>
              <a:tabLst>
                <a:tab pos="211454" algn="l"/>
              </a:tabLst>
            </a:pPr>
            <a:r>
              <a:rPr sz="1100" dirty="0">
                <a:latin typeface="Times New Roman"/>
                <a:cs typeface="Times New Roman"/>
              </a:rPr>
              <a:t>Results: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43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34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0185" marR="15240" lvl="1" indent="-210185" algn="r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10185" algn="l"/>
              </a:tabLst>
            </a:pPr>
            <a:r>
              <a:rPr sz="1100" dirty="0">
                <a:latin typeface="Times New Roman"/>
                <a:cs typeface="Times New Roman"/>
              </a:rPr>
              <a:t>Summary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Findings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.........................................................................................................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44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9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08915" marR="13335" lvl="1" indent="-208915" algn="r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08915" algn="l"/>
              </a:tabLst>
            </a:pPr>
            <a:r>
              <a:rPr sz="1100" dirty="0">
                <a:latin typeface="Times New Roman"/>
                <a:cs typeface="Times New Roman"/>
              </a:rPr>
              <a:t>Output/Results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</a:t>
            </a:r>
            <a:r>
              <a:rPr sz="1100" spc="-10" dirty="0">
                <a:latin typeface="Times New Roman"/>
                <a:cs typeface="Times New Roman"/>
              </a:rPr>
              <a:t>Codemate AI………………………………………………………………45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1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CHAPTER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4.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CONCLUSION</a:t>
            </a:r>
            <a:r>
              <a:rPr sz="1250" b="1" spc="5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FUTURE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WORK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...................................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47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250">
              <a:latin typeface="Times New Roman"/>
              <a:cs typeface="Times New Roman"/>
            </a:endParaRPr>
          </a:p>
          <a:p>
            <a:pPr marL="214629" marR="13970" lvl="1" indent="-214629" algn="r">
              <a:lnSpc>
                <a:spcPct val="100000"/>
              </a:lnSpc>
              <a:buAutoNum type="arabicPeriod"/>
              <a:tabLst>
                <a:tab pos="214629" algn="l"/>
              </a:tabLst>
            </a:pPr>
            <a:r>
              <a:rPr sz="1100" dirty="0">
                <a:latin typeface="Times New Roman"/>
                <a:cs typeface="Times New Roman"/>
              </a:rPr>
              <a:t>Conclusion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.........................................................................................................................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47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25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1454" marR="14604" lvl="1" indent="-211454" algn="r">
              <a:lnSpc>
                <a:spcPct val="100000"/>
              </a:lnSpc>
              <a:buAutoNum type="arabicPeriod"/>
              <a:tabLst>
                <a:tab pos="211454" algn="l"/>
              </a:tabLst>
            </a:pP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.......................................................................................................................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48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90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REFERENCES</a:t>
            </a:r>
            <a:r>
              <a:rPr sz="1250" b="1" spc="40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.....................................................................................................50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25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sz="1250" b="1" dirty="0">
                <a:latin typeface="Times New Roman"/>
                <a:cs typeface="Times New Roman"/>
              </a:rPr>
              <a:t>USER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MANUAL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.................................................................................................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52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25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APPENDIX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..........................................................................................................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57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50">
              <a:latin typeface="Times New Roman"/>
              <a:cs typeface="Times New Roman"/>
            </a:endParaRPr>
          </a:p>
          <a:p>
            <a:pPr marL="210185" marR="19685" lvl="2" indent="-210185" algn="r">
              <a:lnSpc>
                <a:spcPct val="100000"/>
              </a:lnSpc>
              <a:buAutoNum type="arabicPeriod"/>
              <a:tabLst>
                <a:tab pos="210185" algn="l"/>
              </a:tabLst>
            </a:pP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Explanations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................................................................................................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57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484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132715" marR="19685" lvl="3" indent="-132715" algn="r">
              <a:lnSpc>
                <a:spcPct val="100000"/>
              </a:lnSpc>
              <a:buAutoNum type="alphaLcPeriod"/>
              <a:tabLst>
                <a:tab pos="132715" algn="l"/>
              </a:tabLst>
            </a:pPr>
            <a:r>
              <a:rPr sz="1100" dirty="0">
                <a:latin typeface="Times New Roman"/>
                <a:cs typeface="Times New Roman"/>
              </a:rPr>
              <a:t>Actions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Setup……….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................................................................……57</a:t>
            </a:r>
            <a:endParaRPr sz="1100">
              <a:latin typeface="Times New Roman"/>
              <a:cs typeface="Times New Roman"/>
            </a:endParaRPr>
          </a:p>
          <a:p>
            <a:pPr lvl="3">
              <a:lnSpc>
                <a:spcPct val="100000"/>
              </a:lnSpc>
              <a:spcBef>
                <a:spcPts val="475"/>
              </a:spcBef>
              <a:buFont typeface="Times New Roman"/>
              <a:buAutoNum type="alphaLcPeriod"/>
            </a:pPr>
            <a:endParaRPr sz="1100">
              <a:latin typeface="Times New Roman"/>
              <a:cs typeface="Times New Roman"/>
            </a:endParaRPr>
          </a:p>
          <a:p>
            <a:pPr marL="551815" lvl="3" indent="-117475">
              <a:lnSpc>
                <a:spcPct val="100000"/>
              </a:lnSpc>
              <a:buAutoNum type="alphaLcPeriod"/>
              <a:tabLst>
                <a:tab pos="551815" algn="l"/>
              </a:tabLst>
            </a:pP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establishing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refreshing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connection.................................................57</a:t>
            </a:r>
            <a:endParaRPr sz="1100">
              <a:latin typeface="Times New Roman"/>
              <a:cs typeface="Times New Roman"/>
            </a:endParaRPr>
          </a:p>
          <a:p>
            <a:pPr lvl="3">
              <a:lnSpc>
                <a:spcPct val="100000"/>
              </a:lnSpc>
              <a:spcBef>
                <a:spcPts val="465"/>
              </a:spcBef>
              <a:buFont typeface="Times New Roman"/>
              <a:buAutoNum type="alphaLcPeriod"/>
            </a:pPr>
            <a:endParaRPr sz="1100">
              <a:latin typeface="Times New Roman"/>
              <a:cs typeface="Times New Roman"/>
            </a:endParaRPr>
          </a:p>
          <a:p>
            <a:pPr marL="542925" lvl="3" indent="-109220">
              <a:lnSpc>
                <a:spcPct val="100000"/>
              </a:lnSpc>
              <a:buAutoNum type="alphaLcPeriod"/>
              <a:tabLst>
                <a:tab pos="542925" algn="l"/>
              </a:tabLst>
            </a:pPr>
            <a:r>
              <a:rPr sz="1100" dirty="0">
                <a:latin typeface="Times New Roman"/>
                <a:cs typeface="Times New Roman"/>
              </a:rPr>
              <a:t>Server.js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functionality……………………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58</a:t>
            </a:r>
            <a:endParaRPr sz="1100">
              <a:latin typeface="Times New Roman"/>
              <a:cs typeface="Times New Roman"/>
            </a:endParaRPr>
          </a:p>
          <a:p>
            <a:pPr lvl="3">
              <a:lnSpc>
                <a:spcPct val="100000"/>
              </a:lnSpc>
              <a:spcBef>
                <a:spcPts val="465"/>
              </a:spcBef>
              <a:buFont typeface="Times New Roman"/>
              <a:buAutoNum type="alphaLcPeriod"/>
            </a:pPr>
            <a:endParaRPr sz="1100">
              <a:latin typeface="Times New Roman"/>
              <a:cs typeface="Times New Roman"/>
            </a:endParaRPr>
          </a:p>
          <a:p>
            <a:pPr marL="551815" lvl="3" indent="-117475">
              <a:lnSpc>
                <a:spcPct val="100000"/>
              </a:lnSpc>
              <a:buAutoNum type="alphaLcPeriod"/>
              <a:tabLst>
                <a:tab pos="551815" algn="l"/>
              </a:tabLst>
            </a:pPr>
            <a:r>
              <a:rPr sz="1100" dirty="0">
                <a:latin typeface="Times New Roman"/>
                <a:cs typeface="Times New Roman"/>
              </a:rPr>
              <a:t>Client.jsx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avatar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frontend…………..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..............................................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59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31112" y="1154007"/>
            <a:ext cx="4891405" cy="5562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4315" indent="-221615">
              <a:lnSpc>
                <a:spcPct val="100000"/>
              </a:lnSpc>
              <a:spcBef>
                <a:spcPts val="120"/>
              </a:spcBef>
              <a:buAutoNum type="alphaLcPeriod" startAt="5"/>
              <a:tabLst>
                <a:tab pos="234315" algn="l"/>
              </a:tabLst>
            </a:pP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Frontend………….............................................................................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60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Times New Roman"/>
              <a:buAutoNum type="alphaLcPeriod" startAt="5"/>
            </a:pPr>
            <a:endParaRPr sz="1100">
              <a:latin typeface="Times New Roman"/>
              <a:cs typeface="Times New Roman"/>
            </a:endParaRPr>
          </a:p>
          <a:p>
            <a:pPr marL="271780" indent="-259079">
              <a:lnSpc>
                <a:spcPct val="100000"/>
              </a:lnSpc>
              <a:buAutoNum type="alphaLcPeriod" startAt="5"/>
              <a:tabLst>
                <a:tab pos="271780" algn="l"/>
              </a:tabLst>
            </a:pPr>
            <a:r>
              <a:rPr sz="1100" dirty="0">
                <a:latin typeface="Times New Roman"/>
                <a:cs typeface="Times New Roman"/>
              </a:rPr>
              <a:t>CSS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………..............................................................................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62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5183" y="1327072"/>
            <a:ext cx="4798060" cy="335470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76860" algn="ctr">
              <a:lnSpc>
                <a:spcPct val="100000"/>
              </a:lnSpc>
              <a:spcBef>
                <a:spcPts val="114"/>
              </a:spcBef>
            </a:pPr>
            <a:r>
              <a:rPr sz="1350" b="1" dirty="0">
                <a:latin typeface="Times New Roman"/>
                <a:cs typeface="Times New Roman"/>
              </a:rPr>
              <a:t>List</a:t>
            </a:r>
            <a:r>
              <a:rPr sz="1350" b="1" spc="1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of</a:t>
            </a:r>
            <a:r>
              <a:rPr sz="1350" b="1" spc="5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Figures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1.1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….</a:t>
            </a:r>
            <a:r>
              <a:rPr sz="1100" b="1" spc="-10" dirty="0">
                <a:latin typeface="Times New Roman"/>
                <a:cs typeface="Times New Roman"/>
              </a:rPr>
              <a:t>……………………………………………………………………..15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3.1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…………………………………………………………………………32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3.2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...………………………………………………………………….……32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3.3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.………………………………………………………………….……..33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3.4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.………………………………………………………………….……..40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3.5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.………………………………………………………………….……..40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4.1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.………………………………………………………………….……..45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4.2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.………………………………………………………………….……..46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Figure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4.3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.………………………………………………………………….……..46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5183" y="1151812"/>
            <a:ext cx="4474845" cy="14268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91995">
              <a:lnSpc>
                <a:spcPct val="100000"/>
              </a:lnSpc>
              <a:spcBef>
                <a:spcPts val="114"/>
              </a:spcBef>
            </a:pPr>
            <a:r>
              <a:rPr sz="1350" b="1" dirty="0">
                <a:latin typeface="Times New Roman"/>
                <a:cs typeface="Times New Roman"/>
              </a:rPr>
              <a:t>List</a:t>
            </a:r>
            <a:r>
              <a:rPr sz="1350" b="1" spc="15" dirty="0">
                <a:latin typeface="Times New Roman"/>
                <a:cs typeface="Times New Roman"/>
              </a:rPr>
              <a:t> </a:t>
            </a:r>
            <a:r>
              <a:rPr sz="1350" b="1" dirty="0">
                <a:latin typeface="Times New Roman"/>
                <a:cs typeface="Times New Roman"/>
              </a:rPr>
              <a:t>of</a:t>
            </a:r>
            <a:r>
              <a:rPr sz="1350" b="1" spc="15" dirty="0">
                <a:latin typeface="Times New Roman"/>
                <a:cs typeface="Times New Roman"/>
              </a:rPr>
              <a:t> </a:t>
            </a:r>
            <a:r>
              <a:rPr sz="1350" b="1" spc="-10" dirty="0">
                <a:latin typeface="Times New Roman"/>
                <a:cs typeface="Times New Roman"/>
              </a:rPr>
              <a:t>Tables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100" b="1" dirty="0">
                <a:latin typeface="Times New Roman"/>
                <a:cs typeface="Times New Roman"/>
              </a:rPr>
              <a:t>Table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1.1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...………………………………………………………………….15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latin typeface="Times New Roman"/>
                <a:cs typeface="Times New Roman"/>
              </a:rPr>
              <a:t>Table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4.1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...………………………………………………………………….43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2260"/>
              </a:lnSpc>
              <a:spcBef>
                <a:spcPts val="75"/>
              </a:spcBef>
            </a:pPr>
            <a:r>
              <a:rPr sz="1100" b="1" dirty="0">
                <a:latin typeface="Times New Roman"/>
                <a:cs typeface="Times New Roman"/>
              </a:rPr>
              <a:t>Table</a:t>
            </a:r>
            <a:r>
              <a:rPr sz="1100" b="1" spc="-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4.2</a:t>
            </a:r>
            <a:r>
              <a:rPr sz="1100" b="1" spc="-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...…………………………………………………………….……44 </a:t>
            </a:r>
            <a:r>
              <a:rPr sz="1100" b="1" dirty="0">
                <a:latin typeface="Times New Roman"/>
                <a:cs typeface="Times New Roman"/>
              </a:rPr>
              <a:t>Table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Guide1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….………………………………………………………....…52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8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86460" y="1319777"/>
            <a:ext cx="5804535" cy="799443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6545" algn="ctr">
              <a:lnSpc>
                <a:spcPct val="100000"/>
              </a:lnSpc>
              <a:spcBef>
                <a:spcPts val="110"/>
              </a:spcBef>
            </a:pPr>
            <a:r>
              <a:rPr sz="1450" b="1" spc="-10" dirty="0">
                <a:latin typeface="Times New Roman"/>
                <a:cs typeface="Times New Roman"/>
              </a:rPr>
              <a:t>ABSTRACT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5200"/>
              </a:lnSpc>
            </a:pPr>
            <a:r>
              <a:rPr sz="1100" b="1" dirty="0" err="1">
                <a:latin typeface="Times New Roman"/>
                <a:cs typeface="Times New Roman"/>
              </a:rPr>
              <a:t>Code</a:t>
            </a:r>
            <a:r>
              <a:rPr lang="en-US" sz="1100" b="1" dirty="0" err="1">
                <a:latin typeface="Times New Roman"/>
                <a:cs typeface="Times New Roman"/>
              </a:rPr>
              <a:t>mate</a:t>
            </a:r>
            <a:r>
              <a:rPr lang="en-US" sz="1100" b="1" dirty="0">
                <a:latin typeface="Times New Roman"/>
                <a:cs typeface="Times New Roman"/>
              </a:rPr>
              <a:t> AI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innovative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increasing </a:t>
            </a:r>
            <a:r>
              <a:rPr sz="1100" dirty="0">
                <a:latin typeface="Times New Roman"/>
                <a:cs typeface="Times New Roman"/>
              </a:rPr>
              <a:t>demand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particularly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learning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engineering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teams.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Unlike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approaches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depend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heavily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on </a:t>
            </a:r>
            <a:r>
              <a:rPr sz="1100" dirty="0">
                <a:latin typeface="Times New Roman"/>
                <a:cs typeface="Times New Roman"/>
              </a:rPr>
              <a:t>desktop-based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IDEs,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operates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entirely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browser,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offering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frictionless, </a:t>
            </a:r>
            <a:r>
              <a:rPr sz="1100" dirty="0">
                <a:latin typeface="Times New Roman"/>
                <a:cs typeface="Times New Roman"/>
              </a:rPr>
              <a:t>accessible,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5500"/>
              </a:lnSpc>
            </a:pP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integrates </a:t>
            </a:r>
            <a:r>
              <a:rPr sz="1100" b="1" dirty="0">
                <a:latin typeface="Times New Roman"/>
                <a:cs typeface="Times New Roman"/>
              </a:rPr>
              <a:t>CodeMirror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versatile,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syntax-aware code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real-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highlighting,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formatting,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capabilities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programming </a:t>
            </a:r>
            <a:r>
              <a:rPr sz="1100" dirty="0">
                <a:latin typeface="Times New Roman"/>
                <a:cs typeface="Times New Roman"/>
              </a:rPr>
              <a:t>languages.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enabled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concurrently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document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sub-500ms</a:t>
            </a:r>
            <a:r>
              <a:rPr sz="1100" b="1" spc="2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latency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participants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view </a:t>
            </a:r>
            <a:r>
              <a:rPr sz="1100" dirty="0">
                <a:latin typeface="Times New Roman"/>
                <a:cs typeface="Times New Roman"/>
              </a:rPr>
              <a:t>instantaneous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noticeable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delay.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embedded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chat</a:t>
            </a:r>
            <a:r>
              <a:rPr sz="1100" b="1" spc="4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system</a:t>
            </a:r>
            <a:r>
              <a:rPr sz="1100" b="1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enhances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immediate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sessions.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5700"/>
              </a:lnSpc>
            </a:pP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employs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Docker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containerization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conjunction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sandboxed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running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user-</a:t>
            </a:r>
            <a:r>
              <a:rPr sz="1100" spc="-10" dirty="0">
                <a:latin typeface="Times New Roman"/>
                <a:cs typeface="Times New Roman"/>
              </a:rPr>
              <a:t>submitted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wide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variety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languages.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isolated,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resource-efficient,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exposing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potential vulnerabilities.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5300"/>
              </a:lnSpc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notable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deliberate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avoidance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persistent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database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MongoDB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Instead,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dynamically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runtime,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reducing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complexity,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improving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speed,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eliminating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bottlenecks </a:t>
            </a:r>
            <a:r>
              <a:rPr sz="1100" dirty="0">
                <a:latin typeface="Times New Roman"/>
                <a:cs typeface="Times New Roman"/>
              </a:rPr>
              <a:t>related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database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failure.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streamlined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contributes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platform’s </a:t>
            </a:r>
            <a:r>
              <a:rPr sz="1100" dirty="0">
                <a:latin typeface="Times New Roman"/>
                <a:cs typeface="Times New Roman"/>
              </a:rPr>
              <a:t>lightweight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nature,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capable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supporting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numerous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concurrent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without </a:t>
            </a:r>
            <a:r>
              <a:rPr sz="1100" dirty="0">
                <a:latin typeface="Times New Roman"/>
                <a:cs typeface="Times New Roman"/>
              </a:rPr>
              <a:t>degradation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performance.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5200"/>
              </a:lnSpc>
            </a:pP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—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React.js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b="1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—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demonstrates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rival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desktop-based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collaborative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tools.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Unlike heavyweight solutions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VS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Live Share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 require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IDEs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plugins,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intuitive,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dependency-free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accessible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any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browser.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53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Preliminary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usability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effectiveness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settings,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especially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pair</a:t>
            </a:r>
            <a:r>
              <a:rPr sz="1100" b="1" spc="1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programming</a:t>
            </a:r>
            <a:r>
              <a:rPr sz="1100" b="1" spc="1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exercises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b="1" spc="2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workshops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remote</a:t>
            </a:r>
            <a:r>
              <a:rPr sz="1100" b="1" spc="1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1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review</a:t>
            </a:r>
            <a:r>
              <a:rPr sz="1100" b="1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scenarios.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Future </a:t>
            </a:r>
            <a:r>
              <a:rPr sz="1100" dirty="0">
                <a:latin typeface="Times New Roman"/>
                <a:cs typeface="Times New Roman"/>
              </a:rPr>
              <a:t>roadmap</a:t>
            </a:r>
            <a:r>
              <a:rPr sz="1100" spc="1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items</a:t>
            </a:r>
            <a:r>
              <a:rPr sz="1100" spc="114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114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integrating</a:t>
            </a:r>
            <a:r>
              <a:rPr sz="1100" b="1" spc="125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version</a:t>
            </a:r>
            <a:r>
              <a:rPr sz="1100" b="1" spc="110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control</a:t>
            </a:r>
            <a:r>
              <a:rPr sz="1100" b="1" spc="125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capabilities</a:t>
            </a:r>
            <a:r>
              <a:rPr sz="1100" b="1" spc="114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114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Git-based</a:t>
            </a:r>
            <a:r>
              <a:rPr sz="1100" spc="114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snapshots), </a:t>
            </a:r>
            <a:r>
              <a:rPr sz="1100" b="1" dirty="0">
                <a:latin typeface="Times New Roman"/>
                <a:cs typeface="Times New Roman"/>
              </a:rPr>
              <a:t>implementing</a:t>
            </a:r>
            <a:r>
              <a:rPr sz="1100" b="1" spc="1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WebRTC</a:t>
            </a:r>
            <a:r>
              <a:rPr sz="1100" b="1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peer-to-peer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improve </a:t>
            </a:r>
            <a:r>
              <a:rPr sz="1100" dirty="0">
                <a:latin typeface="Times New Roman"/>
                <a:cs typeface="Times New Roman"/>
              </a:rPr>
              <a:t>media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sharing,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enhancing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cursor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tracking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shared </a:t>
            </a:r>
            <a:r>
              <a:rPr sz="1100" dirty="0">
                <a:latin typeface="Times New Roman"/>
                <a:cs typeface="Times New Roman"/>
              </a:rPr>
              <a:t>debugging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tools.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summary,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</a:t>
            </a:r>
            <a:r>
              <a:rPr sz="1100" dirty="0">
                <a:latin typeface="Times New Roman"/>
                <a:cs typeface="Times New Roman"/>
              </a:rPr>
              <a:t>illustrates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1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cloud-native,</a:t>
            </a:r>
            <a:r>
              <a:rPr sz="1100" spc="1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web-</a:t>
            </a:r>
            <a:r>
              <a:rPr sz="1100" spc="-10" dirty="0">
                <a:latin typeface="Times New Roman"/>
                <a:cs typeface="Times New Roman"/>
              </a:rPr>
              <a:t>first </a:t>
            </a:r>
            <a:r>
              <a:rPr sz="1100" dirty="0">
                <a:latin typeface="Times New Roman"/>
                <a:cs typeface="Times New Roman"/>
              </a:rPr>
              <a:t>architectures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redefine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workflows,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professional-grade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development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accessible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broader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audience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barriers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infrastructure,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software </a:t>
            </a:r>
            <a:r>
              <a:rPr sz="1100" dirty="0">
                <a:latin typeface="Times New Roman"/>
                <a:cs typeface="Times New Roman"/>
              </a:rPr>
              <a:t>installation,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dependence.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9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99819" y="1319777"/>
            <a:ext cx="3476625" cy="6952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8175">
              <a:lnSpc>
                <a:spcPct val="100000"/>
              </a:lnSpc>
              <a:spcBef>
                <a:spcPts val="110"/>
              </a:spcBef>
            </a:pPr>
            <a:r>
              <a:rPr sz="1450" b="1" spc="-10" dirty="0">
                <a:latin typeface="Times New Roman"/>
                <a:cs typeface="Times New Roman"/>
              </a:rPr>
              <a:t>ABBREVIATIONS</a:t>
            </a:r>
            <a:endParaRPr sz="14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1605"/>
              </a:spcBef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API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Application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Programming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Interface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CPU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Central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Processing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Unit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IDE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Integrated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Development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Environment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P2P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Peer-</a:t>
            </a:r>
            <a:r>
              <a:rPr sz="1150" dirty="0">
                <a:latin typeface="Times New Roman"/>
                <a:cs typeface="Times New Roman"/>
              </a:rPr>
              <a:t>to-</a:t>
            </a:r>
            <a:r>
              <a:rPr sz="1150" spc="-20" dirty="0">
                <a:latin typeface="Times New Roman"/>
                <a:cs typeface="Times New Roman"/>
              </a:rPr>
              <a:t>Peer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UI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Interface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UX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Experience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JSON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JavaScript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Object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Notation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JS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JavaScript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HTTP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HyperText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Transfer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Protocol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SSL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Secure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Sockets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Layer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DOM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Document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Object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Model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RAM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Random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Access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Memory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CDN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Content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Delivery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Network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5"/>
              </a:spcBef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CRUD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Create,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Read,</a:t>
            </a:r>
            <a:r>
              <a:rPr sz="1150" spc="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Update,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Delete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URL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Uniform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Resource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Locator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TLS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Transport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Layer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Security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OS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 Operating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System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TCP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Transmission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Control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Protocol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Symbol"/>
              <a:buChar char=""/>
            </a:pP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SzPct val="95652"/>
              <a:buFont typeface="Symbol"/>
              <a:buChar char="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DNS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Domain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Name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System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10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19777"/>
            <a:ext cx="5323840" cy="826296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1965" algn="ctr">
              <a:lnSpc>
                <a:spcPct val="100000"/>
              </a:lnSpc>
              <a:spcBef>
                <a:spcPts val="110"/>
              </a:spcBef>
            </a:pPr>
            <a:r>
              <a:rPr sz="1450" b="1" dirty="0">
                <a:latin typeface="Times New Roman"/>
                <a:cs typeface="Times New Roman"/>
              </a:rPr>
              <a:t>CHAPTER</a:t>
            </a:r>
            <a:r>
              <a:rPr sz="1450" b="1" spc="-5" dirty="0">
                <a:latin typeface="Times New Roman"/>
                <a:cs typeface="Times New Roman"/>
              </a:rPr>
              <a:t> </a:t>
            </a:r>
            <a:r>
              <a:rPr sz="1450" b="1" spc="-50" dirty="0">
                <a:latin typeface="Times New Roman"/>
                <a:cs typeface="Times New Roman"/>
              </a:rPr>
              <a:t>1</a:t>
            </a:r>
            <a:endParaRPr sz="1450" dirty="0">
              <a:latin typeface="Times New Roman"/>
              <a:cs typeface="Times New Roman"/>
            </a:endParaRPr>
          </a:p>
          <a:p>
            <a:pPr marL="485140" algn="ctr">
              <a:lnSpc>
                <a:spcPct val="100000"/>
              </a:lnSpc>
              <a:spcBef>
                <a:spcPts val="1330"/>
              </a:spcBef>
            </a:pPr>
            <a:r>
              <a:rPr sz="1450" b="1" spc="-10" dirty="0">
                <a:latin typeface="Times New Roman"/>
                <a:cs typeface="Times New Roman"/>
              </a:rPr>
              <a:t>INTRODUCTION</a:t>
            </a:r>
            <a:endParaRPr sz="1450" dirty="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7700"/>
              </a:lnSpc>
              <a:spcBef>
                <a:spcPts val="135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today’s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digitally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connected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virtual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evolved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from </a:t>
            </a:r>
            <a:r>
              <a:rPr sz="1100" dirty="0">
                <a:latin typeface="Times New Roman"/>
                <a:cs typeface="Times New Roman"/>
              </a:rPr>
              <a:t>temporary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adaptations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enduring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standards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professional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academic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life.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This </a:t>
            </a:r>
            <a:r>
              <a:rPr sz="1100" dirty="0">
                <a:latin typeface="Times New Roman"/>
                <a:cs typeface="Times New Roman"/>
              </a:rPr>
              <a:t>transformation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 tools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 seamless,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real-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interaction—especially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fields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coordination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instant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feedback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essential.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individual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fall </a:t>
            </a:r>
            <a:r>
              <a:rPr sz="1100" dirty="0">
                <a:latin typeface="Times New Roman"/>
                <a:cs typeface="Times New Roman"/>
              </a:rPr>
              <a:t>short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leading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conflicts,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delayed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feedback </a:t>
            </a:r>
            <a:r>
              <a:rPr sz="1100" dirty="0">
                <a:latin typeface="Times New Roman"/>
                <a:cs typeface="Times New Roman"/>
              </a:rPr>
              <a:t>loops,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fragmented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hinder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productivity, </a:t>
            </a:r>
            <a:r>
              <a:rPr sz="1100" dirty="0">
                <a:latin typeface="Times New Roman"/>
                <a:cs typeface="Times New Roman"/>
              </a:rPr>
              <a:t>slow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innovation,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complicate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teamwork.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7700"/>
              </a:lnSpc>
            </a:pPr>
            <a:r>
              <a:rPr sz="1100" b="1" dirty="0" err="1">
                <a:latin typeface="Times New Roman"/>
                <a:cs typeface="Times New Roman"/>
              </a:rPr>
              <a:t>Code</a:t>
            </a:r>
            <a:r>
              <a:rPr lang="en-US" sz="1100" b="1" dirty="0" err="1">
                <a:latin typeface="Times New Roman"/>
                <a:cs typeface="Times New Roman"/>
              </a:rPr>
              <a:t>mate</a:t>
            </a:r>
            <a:r>
              <a:rPr lang="en-US" sz="1100" b="1" dirty="0">
                <a:latin typeface="Times New Roman"/>
                <a:cs typeface="Times New Roman"/>
              </a:rPr>
              <a:t> AI</a:t>
            </a:r>
            <a:r>
              <a:rPr sz="1100" b="1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challenges.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code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empowers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write,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debug,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together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shared </a:t>
            </a: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regardless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geographical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location.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intuitive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 </a:t>
            </a:r>
            <a:r>
              <a:rPr sz="1100" dirty="0">
                <a:latin typeface="Times New Roman"/>
                <a:cs typeface="Times New Roman"/>
              </a:rPr>
              <a:t>enables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simply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entering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username, </a:t>
            </a:r>
            <a:r>
              <a:rPr lang="en-IN" sz="1100" b="1" dirty="0" err="1">
                <a:latin typeface="Times New Roman"/>
                <a:cs typeface="Times New Roman"/>
              </a:rPr>
              <a:t>Codemate</a:t>
            </a:r>
            <a:r>
              <a:rPr lang="en-IN" sz="1100" b="1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eliminates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complexity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fosters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immediate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collaboration.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offers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broad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languages—including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Python, </a:t>
            </a:r>
            <a:r>
              <a:rPr sz="1100" dirty="0">
                <a:latin typeface="Times New Roman"/>
                <a:cs typeface="Times New Roman"/>
              </a:rPr>
              <a:t>JavaScript,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C++,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Java—making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versatile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range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educational,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professional,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interview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cases.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enables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compile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external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streamlining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workflow.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7400"/>
              </a:lnSpc>
            </a:pPr>
            <a:r>
              <a:rPr sz="1100" dirty="0">
                <a:latin typeface="Times New Roman"/>
                <a:cs typeface="Times New Roman"/>
              </a:rPr>
              <a:t>Technologically,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 err="1">
                <a:latin typeface="Times New Roman"/>
                <a:cs typeface="Times New Roman"/>
              </a:rPr>
              <a:t>Code</a:t>
            </a:r>
            <a:r>
              <a:rPr lang="en-US" sz="1100" dirty="0" err="1">
                <a:latin typeface="Times New Roman"/>
                <a:cs typeface="Times New Roman"/>
              </a:rPr>
              <a:t>mate</a:t>
            </a:r>
            <a:r>
              <a:rPr lang="en-US" sz="1100" dirty="0">
                <a:latin typeface="Times New Roman"/>
                <a:cs typeface="Times New Roman"/>
              </a:rPr>
              <a:t> AI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engineered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stack.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frontend</a:t>
            </a:r>
            <a:r>
              <a:rPr sz="1100" spc="-10" dirty="0">
                <a:latin typeface="Times New Roman"/>
                <a:cs typeface="Times New Roman"/>
              </a:rPr>
              <a:t>,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React.js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accessible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experience.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b="1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power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edit, </a:t>
            </a:r>
            <a:r>
              <a:rPr sz="1100" dirty="0">
                <a:latin typeface="Times New Roman"/>
                <a:cs typeface="Times New Roman"/>
              </a:rPr>
              <a:t>keystroke,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message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immediately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reflected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active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participants’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screens. </a:t>
            </a:r>
            <a:r>
              <a:rPr sz="1100" dirty="0">
                <a:latin typeface="Times New Roman"/>
                <a:cs typeface="Times New Roman"/>
              </a:rPr>
              <a:t>Additional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avatars,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customizable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themes,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toast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notifications </a:t>
            </a:r>
            <a:r>
              <a:rPr sz="1100" dirty="0">
                <a:latin typeface="Times New Roman"/>
                <a:cs typeface="Times New Roman"/>
              </a:rPr>
              <a:t>personalize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workspace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engagement,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environment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inviting.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8415" marR="6350" indent="-6350" algn="just">
              <a:lnSpc>
                <a:spcPct val="107400"/>
              </a:lnSpc>
            </a:pPr>
            <a:r>
              <a:rPr sz="1100" dirty="0">
                <a:latin typeface="Times New Roman"/>
                <a:cs typeface="Times New Roman"/>
              </a:rPr>
              <a:t>What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apart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conventional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emphasis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interactivity,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ease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access,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performance.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platform’s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removes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lag </a:t>
            </a:r>
            <a:r>
              <a:rPr sz="1100" dirty="0">
                <a:latin typeface="Times New Roman"/>
                <a:cs typeface="Times New Roman"/>
              </a:rPr>
              <a:t>typically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associated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editing,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eliminates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installations,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lowering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barrier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entry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non-technical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users. </a:t>
            </a:r>
            <a:r>
              <a:rPr sz="1100" dirty="0">
                <a:latin typeface="Times New Roman"/>
                <a:cs typeface="Times New Roman"/>
              </a:rPr>
              <a:t>Whether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educators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conducting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sessions,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students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collaborating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on </a:t>
            </a:r>
            <a:r>
              <a:rPr sz="1100" dirty="0">
                <a:latin typeface="Times New Roman"/>
                <a:cs typeface="Times New Roman"/>
              </a:rPr>
              <a:t>assignments,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developers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troubleshooting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interviews,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creates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unified,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intuitive,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teamwork.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8415" marR="6985" indent="-6350" algn="just">
              <a:lnSpc>
                <a:spcPct val="107600"/>
              </a:lnSpc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shape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like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represent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forward.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</a:t>
            </a:r>
            <a:r>
              <a:rPr sz="1100" spc="-10" dirty="0">
                <a:latin typeface="Times New Roman"/>
                <a:cs typeface="Times New Roman"/>
              </a:rPr>
              <a:t>language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platform,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demonstrates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redefine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11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14230"/>
            <a:ext cx="5323840" cy="79625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algn="just">
              <a:lnSpc>
                <a:spcPct val="1068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globally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connected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world.</a:t>
            </a:r>
            <a:r>
              <a:rPr sz="1100" spc="4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paper</a:t>
            </a:r>
            <a:r>
              <a:rPr sz="1100" spc="4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delves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495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architecture,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technical </a:t>
            </a:r>
            <a:r>
              <a:rPr sz="1100" dirty="0">
                <a:latin typeface="Times New Roman"/>
                <a:cs typeface="Times New Roman"/>
              </a:rPr>
              <a:t>foundations,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practical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showcasing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evolving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demands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education.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52095" lvl="1" indent="-239395">
              <a:lnSpc>
                <a:spcPct val="100000"/>
              </a:lnSpc>
              <a:buAutoNum type="arabicPeriod"/>
              <a:tabLst>
                <a:tab pos="252095" algn="l"/>
              </a:tabLst>
            </a:pPr>
            <a:r>
              <a:rPr sz="1250" b="1" dirty="0">
                <a:latin typeface="Times New Roman"/>
                <a:cs typeface="Times New Roman"/>
              </a:rPr>
              <a:t>Identification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Client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/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Need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/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Relevant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Contemporary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Issue</a:t>
            </a:r>
            <a:endParaRPr sz="125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5"/>
              </a:spcBef>
              <a:buFont typeface="Times New Roman"/>
              <a:buAutoNum type="arabicPeriod"/>
            </a:pPr>
            <a:endParaRPr sz="1250" dirty="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75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digital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transformation,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part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professional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industries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environments.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Developers,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educators,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students,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interviewers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increasingly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internet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complexity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installations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reliance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heavyweight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environments.</a:t>
            </a: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include:</a:t>
            </a:r>
            <a:endParaRPr sz="1100" dirty="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Version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conflicts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attempt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modify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simultaneously.</a:t>
            </a:r>
            <a:endParaRPr sz="1100" dirty="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spcBef>
                <a:spcPts val="62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Delayed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feedback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loops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slow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down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process.</a:t>
            </a:r>
            <a:endParaRPr sz="1100" dirty="0">
              <a:latin typeface="Times New Roman"/>
              <a:cs typeface="Times New Roman"/>
            </a:endParaRPr>
          </a:p>
          <a:p>
            <a:pPr marL="457200" marR="5715" lvl="2" indent="-222885">
              <a:lnSpc>
                <a:spcPct val="145500"/>
              </a:lnSpc>
              <a:spcBef>
                <a:spcPts val="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Fragmented</a:t>
            </a:r>
            <a:r>
              <a:rPr sz="1100" b="1" spc="2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b="1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separate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platforms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editing,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compiling,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communication.</a:t>
            </a:r>
            <a:endParaRPr sz="1100" dirty="0">
              <a:latin typeface="Times New Roman"/>
              <a:cs typeface="Times New Roman"/>
            </a:endParaRPr>
          </a:p>
          <a:p>
            <a:pPr marL="457200" marR="5080" lvl="2" indent="-222885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Accessibility</a:t>
            </a:r>
            <a:r>
              <a:rPr sz="1100" b="1" spc="434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barriers</a:t>
            </a:r>
            <a:r>
              <a:rPr sz="1100" b="1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non-technical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who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struggle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installing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or </a:t>
            </a:r>
            <a:r>
              <a:rPr sz="1100" dirty="0">
                <a:latin typeface="Times New Roman"/>
                <a:cs typeface="Times New Roman"/>
              </a:rPr>
              <a:t>configuring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full-scale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IDEs.</a:t>
            </a:r>
            <a:endParaRPr sz="110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415"/>
              </a:spcBef>
              <a:buFont typeface="Symbol"/>
              <a:buChar char=""/>
            </a:pPr>
            <a:endParaRPr sz="1100" dirty="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7900"/>
              </a:lnSpc>
            </a:pP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(Integrated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Environments)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primarily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individual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synchronous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Though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extensions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(like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VS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Share)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versions,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high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resources,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accessibility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users.</a:t>
            </a:r>
            <a:endParaRPr sz="1100" dirty="0">
              <a:latin typeface="Times New Roman"/>
              <a:cs typeface="Times New Roman"/>
            </a:endParaRPr>
          </a:p>
          <a:p>
            <a:pPr marL="18415" marR="5715" indent="-6350" algn="just">
              <a:lnSpc>
                <a:spcPct val="107600"/>
              </a:lnSpc>
              <a:spcBef>
                <a:spcPts val="1175"/>
              </a:spcBef>
            </a:pPr>
            <a:r>
              <a:rPr lang="en-IN" sz="1100" b="1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lang="en-IN" sz="1100" b="1" dirty="0">
                <a:latin typeface="Times New Roman"/>
                <a:cs typeface="Times New Roman"/>
              </a:rPr>
              <a:t>AI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addresses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contemporary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offering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lightweight,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</a:t>
            </a:r>
            <a:r>
              <a:rPr sz="1100" spc="-10" dirty="0">
                <a:latin typeface="Times New Roman"/>
                <a:cs typeface="Times New Roman"/>
              </a:rPr>
              <a:t>based,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environment.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eliminates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barriers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physical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location,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compatibility,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complexity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 </a:t>
            </a:r>
            <a:r>
              <a:rPr sz="1100" spc="-20" dirty="0">
                <a:latin typeface="Times New Roman"/>
                <a:cs typeface="Times New Roman"/>
              </a:rPr>
              <a:t>can: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Join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instantly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ID.</a:t>
            </a:r>
            <a:endParaRPr sz="1100" dirty="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Edit,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debug,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 dirty="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Communicate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relying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third-party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tools.</a:t>
            </a:r>
            <a:endParaRPr sz="1100" dirty="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Enjoy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sub-second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teamwork.</a:t>
            </a:r>
            <a:endParaRPr sz="110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509"/>
              </a:spcBef>
              <a:buFont typeface="Symbol"/>
              <a:buChar char=""/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Clients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spc="-10" dirty="0">
                <a:latin typeface="Times New Roman"/>
                <a:cs typeface="Times New Roman"/>
              </a:rPr>
              <a:t>include:</a:t>
            </a:r>
            <a:endParaRPr sz="1100" dirty="0">
              <a:latin typeface="Times New Roman"/>
              <a:cs typeface="Times New Roman"/>
            </a:endParaRPr>
          </a:p>
          <a:p>
            <a:pPr marL="457200" marR="5715" lvl="2" indent="-222885">
              <a:lnSpc>
                <a:spcPct val="145500"/>
              </a:lnSpc>
              <a:spcBef>
                <a:spcPts val="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Educational</a:t>
            </a:r>
            <a:r>
              <a:rPr sz="1100" b="1" spc="4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institutions</a:t>
            </a:r>
            <a:r>
              <a:rPr sz="1100" b="1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conducting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classes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pair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programming exercises.</a:t>
            </a:r>
            <a:endParaRPr sz="1100" dirty="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Software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development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teams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zones.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12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324475" cy="81627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930" marR="7620" indent="-221615" algn="just">
              <a:lnSpc>
                <a:spcPct val="145500"/>
              </a:lnSpc>
              <a:spcBef>
                <a:spcPts val="9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Technical</a:t>
            </a:r>
            <a:r>
              <a:rPr sz="1100" b="1" spc="3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interviewers</a:t>
            </a:r>
            <a:r>
              <a:rPr sz="1100" b="1" spc="3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3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candidates</a:t>
            </a:r>
            <a:r>
              <a:rPr sz="1100" b="1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participating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interviews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	</a:t>
            </a:r>
            <a:r>
              <a:rPr sz="1100" spc="-10" dirty="0">
                <a:latin typeface="Times New Roman"/>
                <a:cs typeface="Times New Roman"/>
              </a:rPr>
              <a:t>assessments.</a:t>
            </a:r>
            <a:endParaRPr sz="110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Hackathon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organizers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facilitating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events.</a:t>
            </a:r>
            <a:endParaRPr sz="1100" dirty="0">
              <a:latin typeface="Times New Roman"/>
              <a:cs typeface="Times New Roman"/>
            </a:endParaRPr>
          </a:p>
          <a:p>
            <a:pPr marL="18415" marR="6350" indent="-6350" algn="just">
              <a:lnSpc>
                <a:spcPct val="145900"/>
              </a:lnSpc>
              <a:spcBef>
                <a:spcPts val="1170"/>
              </a:spcBef>
            </a:pP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contemporary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dirty="0">
                <a:latin typeface="Times New Roman"/>
                <a:cs typeface="Times New Roman"/>
              </a:rPr>
              <a:t>contributes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meaningfully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evolving </a:t>
            </a:r>
            <a:r>
              <a:rPr sz="1100" dirty="0">
                <a:latin typeface="Times New Roman"/>
                <a:cs typeface="Times New Roman"/>
              </a:rPr>
              <a:t>landscape</a:t>
            </a:r>
            <a:r>
              <a:rPr sz="1100" spc="17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distributed</a:t>
            </a:r>
            <a:r>
              <a:rPr sz="1100" spc="18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learning,</a:t>
            </a:r>
            <a:r>
              <a:rPr sz="1100" spc="18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work,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global</a:t>
            </a:r>
            <a:r>
              <a:rPr sz="1100" spc="17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175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development collaboration.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50" b="1" dirty="0">
                <a:latin typeface="Times New Roman"/>
                <a:cs typeface="Times New Roman"/>
              </a:rPr>
              <a:t>1.2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Identification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Problem</a:t>
            </a:r>
            <a:endParaRPr sz="12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73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has </a:t>
            </a:r>
            <a:r>
              <a:rPr sz="1100" dirty="0">
                <a:latin typeface="Times New Roman"/>
                <a:cs typeface="Times New Roman"/>
              </a:rPr>
              <a:t>highlighted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gaps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Traditional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IDEs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predominantly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single-user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experiences,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lacking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built-in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capabilities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multi-user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interaction.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problems:</a:t>
            </a:r>
            <a:endParaRPr sz="1100" dirty="0">
              <a:latin typeface="Times New Roman"/>
              <a:cs typeface="Times New Roman"/>
            </a:endParaRPr>
          </a:p>
          <a:p>
            <a:pPr marL="455930" marR="7620" indent="-221615" algn="just">
              <a:lnSpc>
                <a:spcPct val="146400"/>
              </a:lnSpc>
              <a:spcBef>
                <a:spcPts val="8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Version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Conflicts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 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same 	</a:t>
            </a:r>
            <a:r>
              <a:rPr sz="1100" dirty="0">
                <a:latin typeface="Times New Roman"/>
                <a:cs typeface="Times New Roman"/>
              </a:rPr>
              <a:t>codebase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frequent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overwrites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merge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conflicts.</a:t>
            </a:r>
            <a:endParaRPr sz="1100" dirty="0">
              <a:latin typeface="Times New Roman"/>
              <a:cs typeface="Times New Roman"/>
            </a:endParaRPr>
          </a:p>
          <a:p>
            <a:pPr marL="455930" marR="6350" indent="-221615" algn="just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Delayed</a:t>
            </a:r>
            <a:r>
              <a:rPr sz="1100" b="1" spc="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Feedback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absence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instantaneous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hampers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ability 	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debug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review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efficiently,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slower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cycles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learning 	curves.</a:t>
            </a:r>
            <a:endParaRPr sz="1100" dirty="0">
              <a:latin typeface="Times New Roman"/>
              <a:cs typeface="Times New Roman"/>
            </a:endParaRPr>
          </a:p>
          <a:p>
            <a:pPr marL="455930" marR="5715" indent="-221615" algn="just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Fragmented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Workflow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forced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switch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between 	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platforms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coding,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compiling,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communication,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fragments 	</a:t>
            </a:r>
            <a:r>
              <a:rPr sz="1100" dirty="0">
                <a:latin typeface="Times New Roman"/>
                <a:cs typeface="Times New Roman"/>
              </a:rPr>
              <a:t>attention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productivity.</a:t>
            </a:r>
            <a:endParaRPr sz="1100" dirty="0">
              <a:latin typeface="Times New Roman"/>
              <a:cs typeface="Times New Roman"/>
            </a:endParaRPr>
          </a:p>
          <a:p>
            <a:pPr marL="455930" marR="6985" indent="-221615" algn="just">
              <a:lnSpc>
                <a:spcPct val="1459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Accessibility</a:t>
            </a:r>
            <a:r>
              <a:rPr sz="1100" b="1" spc="1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Barriers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installation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specific 	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extensions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especially 	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non-technical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power.</a:t>
            </a:r>
            <a:endParaRPr sz="1100" dirty="0">
              <a:latin typeface="Times New Roman"/>
              <a:cs typeface="Times New Roman"/>
            </a:endParaRPr>
          </a:p>
          <a:p>
            <a:pPr marL="455930" marR="6350" indent="-221615" algn="just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High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Latency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Scalability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Issues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available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suffer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lag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	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 are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active,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 	impractical.</a:t>
            </a:r>
            <a:endParaRPr sz="1100" dirty="0">
              <a:latin typeface="Times New Roman"/>
              <a:cs typeface="Times New Roman"/>
            </a:endParaRPr>
          </a:p>
          <a:p>
            <a:pPr marL="455930" marR="6350" indent="-221615" algn="just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Lack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Integrated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Compilation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must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copy 	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separate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compilers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terminals,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breaking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flow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work.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Font typeface="Symbol"/>
              <a:buChar char=""/>
            </a:pPr>
            <a:endParaRPr sz="11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particularly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pronounced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collaboratively.</a:t>
            </a:r>
            <a:endParaRPr sz="110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locations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zones.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13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695950" cy="79057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57200" indent="-222250">
              <a:lnSpc>
                <a:spcPct val="100000"/>
              </a:lnSpc>
              <a:spcBef>
                <a:spcPts val="69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interviews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assessments.</a:t>
            </a:r>
            <a:endParaRPr sz="110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Hackathons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contests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development.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Font typeface="Symbol"/>
              <a:buChar char=""/>
            </a:pPr>
            <a:endParaRPr sz="1100" dirty="0">
              <a:latin typeface="Times New Roman"/>
              <a:cs typeface="Times New Roman"/>
            </a:endParaRPr>
          </a:p>
          <a:p>
            <a:pPr marL="18415" marR="378460" indent="-6350">
              <a:lnSpc>
                <a:spcPct val="106400"/>
              </a:lnSpc>
            </a:pP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thus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urgent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simple,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browser-based,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collaborative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platform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Offers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compilation.</a:t>
            </a:r>
            <a:endParaRPr sz="110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Supports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Requires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setup.</a:t>
            </a:r>
            <a:endParaRPr sz="110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Delivers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smooth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low-latency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8415" marR="377190" indent="-6350">
              <a:lnSpc>
                <a:spcPct val="107300"/>
              </a:lnSpc>
            </a:pPr>
            <a:r>
              <a:rPr lang="en-IN" sz="1100" b="1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lang="en-IN" sz="1100" b="1" dirty="0">
                <a:latin typeface="Times New Roman"/>
                <a:cs typeface="Times New Roman"/>
              </a:rPr>
              <a:t>AI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specifically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resolve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intuitive,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10" dirty="0">
                <a:latin typeface="Times New Roman"/>
                <a:cs typeface="Times New Roman"/>
              </a:rPr>
              <a:t>time,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challenges.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1.3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Identification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Tasks</a:t>
            </a:r>
            <a:endParaRPr sz="1250" dirty="0">
              <a:latin typeface="Times New Roman"/>
              <a:cs typeface="Times New Roman"/>
            </a:endParaRPr>
          </a:p>
          <a:p>
            <a:pPr marL="12700" marR="5080">
              <a:lnSpc>
                <a:spcPct val="146100"/>
              </a:lnSpc>
              <a:spcBef>
                <a:spcPts val="965"/>
              </a:spcBef>
            </a:pP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successfully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design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develop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lang="en-IN" sz="1200" b="1" dirty="0" err="1">
                <a:latin typeface="Times New Roman"/>
                <a:cs typeface="Times New Roman"/>
              </a:rPr>
              <a:t>Codemate</a:t>
            </a:r>
            <a:r>
              <a:rPr lang="en-IN" sz="1200" dirty="0">
                <a:latin typeface="Times New Roman"/>
                <a:cs typeface="Times New Roman"/>
              </a:rPr>
              <a:t> </a:t>
            </a:r>
            <a:r>
              <a:rPr lang="en-IN" sz="1200" b="1" dirty="0">
                <a:latin typeface="Times New Roman"/>
                <a:cs typeface="Times New Roman"/>
              </a:rPr>
              <a:t>AI</a:t>
            </a:r>
            <a:r>
              <a:rPr lang="en-IN" sz="120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real-</a:t>
            </a:r>
            <a:r>
              <a:rPr sz="1150" dirty="0">
                <a:latin typeface="Times New Roman"/>
                <a:cs typeface="Times New Roman"/>
              </a:rPr>
              <a:t>time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collaborative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platform,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 </a:t>
            </a:r>
            <a:r>
              <a:rPr sz="1150" dirty="0">
                <a:latin typeface="Times New Roman"/>
                <a:cs typeface="Times New Roman"/>
              </a:rPr>
              <a:t>following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major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tasks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were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identified:</a:t>
            </a:r>
            <a:endParaRPr sz="11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2608"/>
              <a:buAutoNum type="arabicPeriod"/>
              <a:tabLst>
                <a:tab pos="457200" algn="l"/>
              </a:tabLst>
            </a:pPr>
            <a:r>
              <a:rPr sz="1150" b="1" dirty="0">
                <a:latin typeface="Times New Roman"/>
                <a:cs typeface="Times New Roman"/>
              </a:rPr>
              <a:t>Requirement</a:t>
            </a:r>
            <a:r>
              <a:rPr sz="1150" b="1" spc="4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Analysis</a:t>
            </a:r>
            <a:endParaRPr sz="1150" dirty="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Analyze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needs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remote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developers,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educators,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students.</a:t>
            </a:r>
            <a:endParaRPr sz="1150" dirty="0">
              <a:latin typeface="Times New Roman"/>
              <a:cs typeface="Times New Roman"/>
            </a:endParaRPr>
          </a:p>
          <a:p>
            <a:pPr marL="902335" marR="382905" lvl="1" indent="-222885">
              <a:lnSpc>
                <a:spcPct val="144300"/>
              </a:lnSpc>
              <a:spcBef>
                <a:spcPts val="125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Define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key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features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such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real-</a:t>
            </a:r>
            <a:r>
              <a:rPr sz="1150" dirty="0">
                <a:latin typeface="Times New Roman"/>
                <a:cs typeface="Times New Roman"/>
              </a:rPr>
              <a:t>time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editing,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multi-</a:t>
            </a:r>
            <a:r>
              <a:rPr sz="1150" dirty="0">
                <a:latin typeface="Times New Roman"/>
                <a:cs typeface="Times New Roman"/>
              </a:rPr>
              <a:t>language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support,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live </a:t>
            </a:r>
            <a:r>
              <a:rPr sz="1150" dirty="0">
                <a:latin typeface="Times New Roman"/>
                <a:cs typeface="Times New Roman"/>
              </a:rPr>
              <a:t>compilation,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integrated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chat.</a:t>
            </a:r>
            <a:endParaRPr sz="115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45"/>
              </a:spcBef>
              <a:buSzPct val="82608"/>
              <a:buAutoNum type="arabicPeriod"/>
              <a:tabLst>
                <a:tab pos="457200" algn="l"/>
              </a:tabLst>
            </a:pPr>
            <a:r>
              <a:rPr sz="1150" b="1" dirty="0">
                <a:latin typeface="Times New Roman"/>
                <a:cs typeface="Times New Roman"/>
              </a:rPr>
              <a:t>Technology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Stack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Selection</a:t>
            </a:r>
            <a:endParaRPr sz="1150" dirty="0">
              <a:latin typeface="Times New Roman"/>
              <a:cs typeface="Times New Roman"/>
            </a:endParaRPr>
          </a:p>
          <a:p>
            <a:pPr marL="902335" marR="102235" lvl="1" indent="-222885">
              <a:lnSpc>
                <a:spcPct val="146100"/>
              </a:lnSpc>
              <a:spcBef>
                <a:spcPts val="85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Select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appropriate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technologies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frontend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(React.js),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backend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(Node.js, </a:t>
            </a:r>
            <a:r>
              <a:rPr sz="1150" dirty="0">
                <a:latin typeface="Times New Roman"/>
                <a:cs typeface="Times New Roman"/>
              </a:rPr>
              <a:t>Express.js),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real-time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communication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(Socket.IO),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execution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(Judge0 API).</a:t>
            </a:r>
            <a:endParaRPr sz="1150" dirty="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Choose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libraries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like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CodeMirror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syntax-aware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editing.</a:t>
            </a:r>
            <a:endParaRPr sz="115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2608"/>
              <a:buAutoNum type="arabicPeriod"/>
              <a:tabLst>
                <a:tab pos="457200" algn="l"/>
              </a:tabLst>
            </a:pPr>
            <a:r>
              <a:rPr sz="1150" b="1" dirty="0">
                <a:latin typeface="Times New Roman"/>
                <a:cs typeface="Times New Roman"/>
              </a:rPr>
              <a:t>Frontend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Development</a:t>
            </a:r>
            <a:endParaRPr sz="1150" dirty="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Design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user-friendly,</a:t>
            </a:r>
            <a:r>
              <a:rPr sz="1150" spc="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responsive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UI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React.js.</a:t>
            </a:r>
            <a:endParaRPr sz="1150" dirty="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Integrate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CodeMirror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editor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with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multi-language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syntax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highlighting.</a:t>
            </a:r>
            <a:endParaRPr sz="1150" dirty="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Implement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session-based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room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joining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using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Room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ID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Username </a:t>
            </a:r>
            <a:r>
              <a:rPr sz="1150" spc="-10" dirty="0">
                <a:latin typeface="Times New Roman"/>
                <a:cs typeface="Times New Roman"/>
              </a:rPr>
              <a:t>inputs.</a:t>
            </a:r>
            <a:endParaRPr sz="1150" dirty="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710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Add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customizable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themes,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avatars,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real-time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UI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notifications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(toasts).</a:t>
            </a:r>
            <a:endParaRPr sz="115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2608"/>
              <a:buAutoNum type="arabicPeriod"/>
              <a:tabLst>
                <a:tab pos="457200" algn="l"/>
              </a:tabLst>
            </a:pPr>
            <a:r>
              <a:rPr sz="1150" b="1" dirty="0">
                <a:latin typeface="Times New Roman"/>
                <a:cs typeface="Times New Roman"/>
              </a:rPr>
              <a:t>Backend</a:t>
            </a:r>
            <a:r>
              <a:rPr sz="1150" b="1" spc="4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Development</a:t>
            </a:r>
            <a:endParaRPr sz="11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14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99819" y="1242263"/>
            <a:ext cx="5526405" cy="789559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680085" indent="-222885">
              <a:lnSpc>
                <a:spcPct val="100000"/>
              </a:lnSpc>
              <a:spcBef>
                <a:spcPts val="825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Set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up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 Node.js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Express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server.</a:t>
            </a:r>
            <a:endParaRPr sz="1150">
              <a:latin typeface="Times New Roman"/>
              <a:cs typeface="Times New Roman"/>
            </a:endParaRPr>
          </a:p>
          <a:p>
            <a:pPr marL="680085" indent="-22288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Integrate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Socket.IO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handle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real-</a:t>
            </a:r>
            <a:r>
              <a:rPr sz="1150" dirty="0">
                <a:latin typeface="Times New Roman"/>
                <a:cs typeface="Times New Roman"/>
              </a:rPr>
              <a:t>time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communication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between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clients.</a:t>
            </a:r>
            <a:endParaRPr sz="1150">
              <a:latin typeface="Times New Roman"/>
              <a:cs typeface="Times New Roman"/>
            </a:endParaRPr>
          </a:p>
          <a:p>
            <a:pPr marL="680085" marR="427355" indent="-222885">
              <a:lnSpc>
                <a:spcPct val="145200"/>
              </a:lnSpc>
              <a:spcBef>
                <a:spcPts val="85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Create endpoints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interact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with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Judge0 API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compilation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and </a:t>
            </a:r>
            <a:r>
              <a:rPr sz="1150" spc="-10" dirty="0">
                <a:latin typeface="Times New Roman"/>
                <a:cs typeface="Times New Roman"/>
              </a:rPr>
              <a:t>execution.</a:t>
            </a:r>
            <a:endParaRPr sz="1150">
              <a:latin typeface="Times New Roman"/>
              <a:cs typeface="Times New Roman"/>
            </a:endParaRPr>
          </a:p>
          <a:p>
            <a:pPr marL="680085" indent="-222885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Implement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room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management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(creation, joining,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disconnection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handling).</a:t>
            </a: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35"/>
              </a:spcBef>
              <a:buSzPct val="82608"/>
              <a:buAutoNum type="arabicPeriod" startAt="5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Real-Time</a:t>
            </a:r>
            <a:r>
              <a:rPr sz="1150" b="1" spc="4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Synchronization</a:t>
            </a:r>
            <a:endParaRPr sz="1150">
              <a:latin typeface="Times New Roman"/>
              <a:cs typeface="Times New Roman"/>
            </a:endParaRPr>
          </a:p>
          <a:p>
            <a:pPr marL="680085" marR="24130" lvl="1" indent="-222885">
              <a:lnSpc>
                <a:spcPct val="144300"/>
              </a:lnSpc>
              <a:spcBef>
                <a:spcPts val="12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Ensure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instant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syncing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code,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messages,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presence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across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connected clients.</a:t>
            </a:r>
            <a:endParaRPr sz="1150">
              <a:latin typeface="Times New Roman"/>
              <a:cs typeface="Times New Roman"/>
            </a:endParaRPr>
          </a:p>
          <a:p>
            <a:pPr marL="680085" marR="466725" lvl="1" indent="-222885">
              <a:lnSpc>
                <a:spcPct val="144300"/>
              </a:lnSpc>
              <a:spcBef>
                <a:spcPts val="13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Handle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synchronization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conflicts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session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persistence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during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real-</a:t>
            </a:r>
            <a:r>
              <a:rPr sz="1150" spc="-20" dirty="0">
                <a:latin typeface="Times New Roman"/>
                <a:cs typeface="Times New Roman"/>
              </a:rPr>
              <a:t>time </a:t>
            </a:r>
            <a:r>
              <a:rPr sz="1150" spc="-10" dirty="0">
                <a:latin typeface="Times New Roman"/>
                <a:cs typeface="Times New Roman"/>
              </a:rPr>
              <a:t>collaboration.</a:t>
            </a: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40"/>
              </a:spcBef>
              <a:buSzPct val="82608"/>
              <a:buAutoNum type="arabicPeriod" startAt="5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Code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Compilation</a:t>
            </a:r>
            <a:r>
              <a:rPr sz="1150" b="1" spc="6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Integration</a:t>
            </a:r>
            <a:endParaRPr sz="1150">
              <a:latin typeface="Times New Roman"/>
              <a:cs typeface="Times New Roman"/>
            </a:endParaRPr>
          </a:p>
          <a:p>
            <a:pPr marL="680085" marR="414020" lvl="1" indent="-222885">
              <a:lnSpc>
                <a:spcPct val="145200"/>
              </a:lnSpc>
              <a:spcBef>
                <a:spcPts val="105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Connect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Judge0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API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platform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 executing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user-submitted </a:t>
            </a:r>
            <a:r>
              <a:rPr sz="1150" spc="-20" dirty="0">
                <a:latin typeface="Times New Roman"/>
                <a:cs typeface="Times New Roman"/>
              </a:rPr>
              <a:t>code </a:t>
            </a:r>
            <a:r>
              <a:rPr sz="1150" spc="-10" dirty="0">
                <a:latin typeface="Times New Roman"/>
                <a:cs typeface="Times New Roman"/>
              </a:rPr>
              <a:t>securely.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Handle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language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selection,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input/output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capturing,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error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reporting.</a:t>
            </a: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25"/>
              </a:spcBef>
              <a:buSzPct val="82608"/>
              <a:buAutoNum type="arabicPeriod" startAt="5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Chat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System</a:t>
            </a:r>
            <a:r>
              <a:rPr sz="1150" b="1" spc="4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Integration</a:t>
            </a:r>
            <a:endParaRPr sz="1150">
              <a:latin typeface="Times New Roman"/>
              <a:cs typeface="Times New Roman"/>
            </a:endParaRPr>
          </a:p>
          <a:p>
            <a:pPr marL="680085" marR="39370" lvl="1" indent="-222885">
              <a:lnSpc>
                <a:spcPct val="144300"/>
              </a:lnSpc>
              <a:spcBef>
                <a:spcPts val="12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Build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integrated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chat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feature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 communication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between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collaborators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within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room.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Ensure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messages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broadcast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real-</a:t>
            </a:r>
            <a:r>
              <a:rPr sz="1150" dirty="0">
                <a:latin typeface="Times New Roman"/>
                <a:cs typeface="Times New Roman"/>
              </a:rPr>
              <a:t>time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with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timestamps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tagging.</a:t>
            </a: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35"/>
              </a:spcBef>
              <a:buSzPct val="82608"/>
              <a:buAutoNum type="arabicPeriod" startAt="5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Testing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and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Debugging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Perform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unit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testing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 individual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components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backend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APIs.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Conduct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integration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testing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frontend-backend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real-</a:t>
            </a:r>
            <a:r>
              <a:rPr sz="1150" dirty="0">
                <a:latin typeface="Times New Roman"/>
                <a:cs typeface="Times New Roman"/>
              </a:rPr>
              <a:t>time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interactions.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1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Test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across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multiple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browsers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devices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performance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compatibility.</a:t>
            </a:r>
            <a:endParaRPr sz="115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35"/>
              </a:spcBef>
              <a:buSzPct val="82608"/>
              <a:buAutoNum type="arabicPeriod" startAt="5"/>
              <a:tabLst>
                <a:tab pos="234950" algn="l"/>
              </a:tabLst>
            </a:pPr>
            <a:r>
              <a:rPr sz="1150" b="1" dirty="0">
                <a:latin typeface="Times New Roman"/>
                <a:cs typeface="Times New Roman"/>
              </a:rPr>
              <a:t>Deployment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and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Hosting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Deploy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application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cloud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platform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(e.g.,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Render,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Vercel,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or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AWS).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Optimize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frontend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backend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builds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production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environments.</a:t>
            </a:r>
            <a:endParaRPr sz="1150">
              <a:latin typeface="Times New Roman"/>
              <a:cs typeface="Times New Roman"/>
            </a:endParaRPr>
          </a:p>
          <a:p>
            <a:pPr marL="234315" indent="-221615">
              <a:lnSpc>
                <a:spcPct val="100000"/>
              </a:lnSpc>
              <a:spcBef>
                <a:spcPts val="635"/>
              </a:spcBef>
              <a:buSzPct val="82608"/>
              <a:buAutoNum type="arabicPeriod" startAt="5"/>
              <a:tabLst>
                <a:tab pos="234315" algn="l"/>
              </a:tabLst>
            </a:pPr>
            <a:r>
              <a:rPr sz="1150" b="1" spc="-10" dirty="0">
                <a:latin typeface="Times New Roman"/>
                <a:cs typeface="Times New Roman"/>
              </a:rPr>
              <a:t>Documentation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Prepare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comprehensive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manuals,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setup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guides,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technical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documentation.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Document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API integrations,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room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management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logic,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real-time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flow.</a:t>
            </a:r>
            <a:endParaRPr sz="1150">
              <a:latin typeface="Times New Roman"/>
              <a:cs typeface="Times New Roman"/>
            </a:endParaRPr>
          </a:p>
          <a:p>
            <a:pPr marL="234315" indent="-221615">
              <a:lnSpc>
                <a:spcPct val="100000"/>
              </a:lnSpc>
              <a:spcBef>
                <a:spcPts val="625"/>
              </a:spcBef>
              <a:buSzPct val="82608"/>
              <a:buAutoNum type="arabicPeriod" startAt="5"/>
              <a:tabLst>
                <a:tab pos="234315" algn="l"/>
              </a:tabLst>
            </a:pPr>
            <a:r>
              <a:rPr sz="1150" b="1" dirty="0">
                <a:latin typeface="Times New Roman"/>
                <a:cs typeface="Times New Roman"/>
              </a:rPr>
              <a:t>Future</a:t>
            </a:r>
            <a:r>
              <a:rPr sz="1150" b="1" spc="5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Enhancements</a:t>
            </a:r>
            <a:r>
              <a:rPr sz="1150" b="1" spc="4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Planning</a:t>
            </a:r>
            <a:endParaRPr sz="115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30"/>
              </a:spcBef>
              <a:buFont typeface="Symbol"/>
              <a:buChar char=""/>
              <a:tabLst>
                <a:tab pos="680085" algn="l"/>
              </a:tabLst>
            </a:pPr>
            <a:r>
              <a:rPr sz="1150" dirty="0">
                <a:latin typeface="Times New Roman"/>
                <a:cs typeface="Times New Roman"/>
              </a:rPr>
              <a:t>Identify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possibilities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integrating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WebRTC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voice/video </a:t>
            </a:r>
            <a:r>
              <a:rPr sz="1150" spc="-10" dirty="0">
                <a:latin typeface="Times New Roman"/>
                <a:cs typeface="Times New Roman"/>
              </a:rPr>
              <a:t>communication.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316" y="1254455"/>
            <a:ext cx="5730875" cy="1617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2335" marR="210185" indent="-222885">
              <a:lnSpc>
                <a:spcPct val="146100"/>
              </a:lnSpc>
              <a:spcBef>
                <a:spcPts val="95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Explore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adding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version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control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(basic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Git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operations)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within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collaborative editor.</a:t>
            </a:r>
            <a:endParaRPr sz="1150">
              <a:latin typeface="Times New Roman"/>
              <a:cs typeface="Times New Roman"/>
            </a:endParaRPr>
          </a:p>
          <a:p>
            <a:pPr marL="902335" indent="-222250">
              <a:lnSpc>
                <a:spcPct val="100000"/>
              </a:lnSpc>
              <a:spcBef>
                <a:spcPts val="720"/>
              </a:spcBef>
              <a:buFont typeface="Symbol"/>
              <a:buChar char=""/>
              <a:tabLst>
                <a:tab pos="902335" algn="l"/>
              </a:tabLst>
            </a:pPr>
            <a:r>
              <a:rPr sz="1150" dirty="0">
                <a:latin typeface="Times New Roman"/>
                <a:cs typeface="Times New Roman"/>
              </a:rPr>
              <a:t>Plan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scalability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improvements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supporting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large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number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concurrent</a:t>
            </a:r>
            <a:r>
              <a:rPr sz="1150" spc="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users.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1.4 </a:t>
            </a:r>
            <a:r>
              <a:rPr sz="1250" b="1" spc="-10" dirty="0">
                <a:latin typeface="Times New Roman"/>
                <a:cs typeface="Times New Roman"/>
              </a:rPr>
              <a:t>Timeline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carried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manner: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8288" y="6446859"/>
            <a:ext cx="1961514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Figure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1.1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Timeline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90016" y="6821423"/>
          <a:ext cx="5863590" cy="2082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2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Phases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Task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5B9AD4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Timeframe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solidFill>
                      <a:srgbClr val="5B9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Phase</a:t>
                      </a:r>
                      <a:r>
                        <a:rPr sz="1100" b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B w="6350">
                      <a:solidFill>
                        <a:srgbClr val="9CC1E4"/>
                      </a:solidFill>
                      <a:prstDash val="solid"/>
                    </a:lnB>
                    <a:solidFill>
                      <a:srgbClr val="DDE9F6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  <a:tabLst>
                          <a:tab pos="969010" algn="l"/>
                        </a:tabLst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gathering,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technology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research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B w="6350">
                      <a:solidFill>
                        <a:srgbClr val="9CC1E4"/>
                      </a:solidFill>
                      <a:prstDash val="solid"/>
                    </a:lnB>
                    <a:solidFill>
                      <a:srgbClr val="DDE9F6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26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problem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9CC1E4"/>
                      </a:solidFill>
                      <a:prstDash val="solid"/>
                    </a:lnB>
                    <a:solidFill>
                      <a:srgbClr val="DDE9F6"/>
                    </a:solidFill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26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analysis,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350">
                      <a:solidFill>
                        <a:srgbClr val="9CC1E4"/>
                      </a:solidFill>
                      <a:prstDash val="solid"/>
                    </a:lnR>
                    <a:lnB w="6350">
                      <a:solidFill>
                        <a:srgbClr val="9CC1E4"/>
                      </a:solidFill>
                      <a:prstDash val="solid"/>
                    </a:lnB>
                    <a:solidFill>
                      <a:srgbClr val="DDE9F6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6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Month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B w="6350">
                      <a:solidFill>
                        <a:srgbClr val="9CC1E4"/>
                      </a:solidFill>
                      <a:prstDash val="solid"/>
                    </a:lnB>
                    <a:solidFill>
                      <a:srgbClr val="DD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Phase</a:t>
                      </a:r>
                      <a:r>
                        <a:rPr sz="1100" b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T w="6350">
                      <a:solidFill>
                        <a:srgbClr val="9CC1E4"/>
                      </a:solidFill>
                      <a:prstDash val="solid"/>
                    </a:lnT>
                    <a:lnB w="6350">
                      <a:solidFill>
                        <a:srgbClr val="9CC1E4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design,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frontend and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backend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setup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T w="6350">
                      <a:solidFill>
                        <a:srgbClr val="9CC1E4"/>
                      </a:solidFill>
                      <a:prstDash val="solid"/>
                    </a:lnT>
                    <a:lnB w="6350">
                      <a:solidFill>
                        <a:srgbClr val="9CC1E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Month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T w="6350">
                      <a:solidFill>
                        <a:srgbClr val="9CC1E4"/>
                      </a:solidFill>
                      <a:prstDash val="solid"/>
                    </a:lnT>
                    <a:lnB w="6350">
                      <a:solidFill>
                        <a:srgbClr val="9CC1E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Phase</a:t>
                      </a:r>
                      <a:r>
                        <a:rPr sz="1100" b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T w="6350">
                      <a:solidFill>
                        <a:srgbClr val="9CC1E4"/>
                      </a:solidFill>
                      <a:prstDash val="solid"/>
                    </a:lnT>
                    <a:lnB w="6350">
                      <a:solidFill>
                        <a:srgbClr val="9CC1E4"/>
                      </a:solidFill>
                      <a:prstDash val="solid"/>
                    </a:lnB>
                    <a:solidFill>
                      <a:srgbClr val="DDE9F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1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100" spc="1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(collaboration,</a:t>
                      </a:r>
                      <a:r>
                        <a:rPr sz="1100" spc="4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compila-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6675" marR="545465">
                        <a:lnSpc>
                          <a:spcPct val="1082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11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integration),</a:t>
                      </a:r>
                      <a:r>
                        <a:rPr sz="11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Testing,</a:t>
                      </a:r>
                      <a:r>
                        <a:rPr sz="11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optimization,</a:t>
                      </a:r>
                      <a:r>
                        <a:rPr sz="1100" spc="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bug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fixing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T w="6350">
                      <a:solidFill>
                        <a:srgbClr val="9CC1E4"/>
                      </a:solidFill>
                      <a:prstDash val="solid"/>
                    </a:lnT>
                    <a:lnB w="6350">
                      <a:solidFill>
                        <a:srgbClr val="9CC1E4"/>
                      </a:solidFill>
                      <a:prstDash val="solid"/>
                    </a:lnB>
                    <a:solidFill>
                      <a:srgbClr val="DDE9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Month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T w="6350">
                      <a:solidFill>
                        <a:srgbClr val="9CC1E4"/>
                      </a:solidFill>
                      <a:prstDash val="solid"/>
                    </a:lnT>
                    <a:lnB w="6350">
                      <a:solidFill>
                        <a:srgbClr val="9CC1E4"/>
                      </a:solidFill>
                      <a:prstDash val="solid"/>
                    </a:lnB>
                    <a:solidFill>
                      <a:srgbClr val="DDE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Phase</a:t>
                      </a:r>
                      <a:r>
                        <a:rPr sz="1100" b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T w="6350">
                      <a:solidFill>
                        <a:srgbClr val="9CC1E4"/>
                      </a:solidFill>
                      <a:prstDash val="solid"/>
                    </a:lnT>
                    <a:lnB w="6350">
                      <a:solidFill>
                        <a:srgbClr val="9CC1E4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Deployment,</a:t>
                      </a:r>
                      <a:r>
                        <a:rPr sz="11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documentation,</a:t>
                      </a:r>
                      <a:r>
                        <a:rPr sz="1100" spc="4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4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1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report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preparation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T w="6350">
                      <a:solidFill>
                        <a:srgbClr val="9CC1E4"/>
                      </a:solidFill>
                      <a:prstDash val="solid"/>
                    </a:lnT>
                    <a:lnB w="6350">
                      <a:solidFill>
                        <a:srgbClr val="9CC1E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Month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9CC1E4"/>
                      </a:solidFill>
                      <a:prstDash val="solid"/>
                    </a:lnL>
                    <a:lnR w="6350">
                      <a:solidFill>
                        <a:srgbClr val="9CC1E4"/>
                      </a:solidFill>
                      <a:prstDash val="solid"/>
                    </a:lnR>
                    <a:lnT w="6350">
                      <a:solidFill>
                        <a:srgbClr val="9CC1E4"/>
                      </a:solidFill>
                      <a:prstDash val="solid"/>
                    </a:lnT>
                    <a:lnB w="6350">
                      <a:solidFill>
                        <a:srgbClr val="9CC1E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023" y="3244206"/>
            <a:ext cx="5230262" cy="288401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15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16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2135"/>
            <a:ext cx="5811520" cy="76669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dirty="0">
                <a:latin typeface="Times New Roman"/>
                <a:cs typeface="Times New Roman"/>
              </a:rPr>
              <a:t>1.5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Organization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the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Report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9530">
              <a:lnSpc>
                <a:spcPts val="1280"/>
              </a:lnSpc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five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chapters,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project,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references,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appendices,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reproducibility.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Chapter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1: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Introduction</a:t>
            </a:r>
            <a:endParaRPr sz="1100">
              <a:latin typeface="Times New Roman"/>
              <a:cs typeface="Times New Roman"/>
            </a:endParaRPr>
          </a:p>
          <a:p>
            <a:pPr marL="457200" marR="78740">
              <a:lnSpc>
                <a:spcPct val="111800"/>
              </a:lnSpc>
            </a:pP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overview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identification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client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contemporary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tasks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undertaken,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brief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timeline,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summary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report’s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structure.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Chapter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2: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Literature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Review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/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Background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457200" marR="39370">
              <a:lnSpc>
                <a:spcPts val="149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Explores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evolution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problem,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academic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industrial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contexts,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bibliometric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summary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findings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formal </a:t>
            </a:r>
            <a:r>
              <a:rPr sz="1100" dirty="0">
                <a:latin typeface="Times New Roman"/>
                <a:cs typeface="Times New Roman"/>
              </a:rPr>
              <a:t>problem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definition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Chapter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3: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Design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Flow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/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457200" marR="5080">
              <a:lnSpc>
                <a:spcPts val="1490"/>
              </a:lnSpc>
              <a:spcBef>
                <a:spcPts val="65"/>
              </a:spcBef>
            </a:pPr>
            <a:r>
              <a:rPr sz="1100" dirty="0">
                <a:latin typeface="Times New Roman"/>
                <a:cs typeface="Times New Roman"/>
              </a:rPr>
              <a:t>Details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encountered,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trade-off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analysis,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finalized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outlines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methodology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adopted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implementation.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Chapter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4: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Results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Analysis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Validation</a:t>
            </a:r>
            <a:endParaRPr sz="1100">
              <a:latin typeface="Times New Roman"/>
              <a:cs typeface="Times New Roman"/>
            </a:endParaRPr>
          </a:p>
          <a:p>
            <a:pPr marL="457200" marR="49530">
              <a:lnSpc>
                <a:spcPct val="1118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Presents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outcomes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network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benchmarks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regions,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analytical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interpretation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results.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Chapter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5: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Conclusion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Future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Work</a:t>
            </a:r>
            <a:endParaRPr sz="1100">
              <a:latin typeface="Times New Roman"/>
              <a:cs typeface="Times New Roman"/>
            </a:endParaRPr>
          </a:p>
          <a:p>
            <a:pPr marL="457200" marR="195580">
              <a:lnSpc>
                <a:spcPct val="1118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Summarizes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findings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limitations.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It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outlines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directions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extending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10" dirty="0">
                <a:latin typeface="Times New Roman"/>
                <a:cs typeface="Times New Roman"/>
              </a:rPr>
              <a:t>world applications.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References</a:t>
            </a:r>
            <a:endParaRPr sz="1100">
              <a:latin typeface="Times New Roman"/>
              <a:cs typeface="Times New Roman"/>
            </a:endParaRPr>
          </a:p>
          <a:p>
            <a:pPr marL="457200" marR="519430">
              <a:lnSpc>
                <a:spcPts val="1490"/>
              </a:lnSpc>
              <a:spcBef>
                <a:spcPts val="60"/>
              </a:spcBef>
            </a:pPr>
            <a:r>
              <a:rPr sz="1100" dirty="0">
                <a:latin typeface="Times New Roman"/>
                <a:cs typeface="Times New Roman"/>
              </a:rPr>
              <a:t>Lists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academic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papers,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documentation,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sources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referred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throughout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report.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Appendix</a:t>
            </a:r>
            <a:endParaRPr sz="1100">
              <a:latin typeface="Times New Roman"/>
              <a:cs typeface="Times New Roman"/>
            </a:endParaRPr>
          </a:p>
          <a:p>
            <a:pPr marL="457200" marR="599440">
              <a:lnSpc>
                <a:spcPct val="1118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Contains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plagiarism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checklist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compliance.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Manual</a:t>
            </a:r>
            <a:endParaRPr sz="1100">
              <a:latin typeface="Times New Roman"/>
              <a:cs typeface="Times New Roman"/>
            </a:endParaRPr>
          </a:p>
          <a:p>
            <a:pPr marL="457200" marR="29845">
              <a:lnSpc>
                <a:spcPct val="1118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step-by-step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instructions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running,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interpreting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outputs,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requirements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usage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examples.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simplified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explanation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concepts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layman-friendly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analogies.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17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22249"/>
            <a:ext cx="5325110" cy="7903639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832485" algn="ctr">
              <a:lnSpc>
                <a:spcPct val="100000"/>
              </a:lnSpc>
              <a:spcBef>
                <a:spcPts val="875"/>
              </a:spcBef>
            </a:pPr>
            <a:r>
              <a:rPr sz="1450" b="1" dirty="0">
                <a:latin typeface="Times New Roman"/>
                <a:cs typeface="Times New Roman"/>
              </a:rPr>
              <a:t>CHAPTER </a:t>
            </a:r>
            <a:r>
              <a:rPr sz="1450" b="1" spc="-25" dirty="0">
                <a:latin typeface="Times New Roman"/>
                <a:cs typeface="Times New Roman"/>
              </a:rPr>
              <a:t>2:</a:t>
            </a:r>
            <a:endParaRPr sz="1450" dirty="0">
              <a:latin typeface="Times New Roman"/>
              <a:cs typeface="Times New Roman"/>
            </a:endParaRPr>
          </a:p>
          <a:p>
            <a:pPr marL="833755" algn="ctr">
              <a:lnSpc>
                <a:spcPct val="100000"/>
              </a:lnSpc>
              <a:spcBef>
                <a:spcPts val="780"/>
              </a:spcBef>
            </a:pPr>
            <a:r>
              <a:rPr sz="1450" b="1" dirty="0">
                <a:latin typeface="Times New Roman"/>
                <a:cs typeface="Times New Roman"/>
              </a:rPr>
              <a:t>LITERATURE</a:t>
            </a:r>
            <a:r>
              <a:rPr sz="1450" b="1" spc="-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REVIEW</a:t>
            </a:r>
            <a:r>
              <a:rPr sz="1450" b="1" spc="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/</a:t>
            </a:r>
            <a:r>
              <a:rPr sz="1450" b="1" spc="2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BACKGROUND</a:t>
            </a:r>
            <a:r>
              <a:rPr sz="1450" b="1" spc="15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STUDY</a:t>
            </a:r>
            <a:endParaRPr sz="1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252095" lvl="1" indent="-2393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52095" algn="l"/>
              </a:tabLst>
            </a:pPr>
            <a:r>
              <a:rPr sz="1250" b="1" dirty="0">
                <a:latin typeface="Times New Roman"/>
                <a:cs typeface="Times New Roman"/>
              </a:rPr>
              <a:t>Timeline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the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Reported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Problem</a:t>
            </a:r>
            <a:endParaRPr sz="1250" dirty="0">
              <a:latin typeface="Times New Roman"/>
              <a:cs typeface="Times New Roman"/>
            </a:endParaRPr>
          </a:p>
          <a:p>
            <a:pPr marL="18415" marR="5715" indent="-6350" algn="just">
              <a:lnSpc>
                <a:spcPct val="112400"/>
              </a:lnSpc>
              <a:spcBef>
                <a:spcPts val="142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rapid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shift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towards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has </a:t>
            </a:r>
            <a:r>
              <a:rPr sz="1100" dirty="0">
                <a:latin typeface="Times New Roman"/>
                <a:cs typeface="Times New Roman"/>
              </a:rPr>
              <a:t>fueled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However,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not </a:t>
            </a:r>
            <a:r>
              <a:rPr sz="1100" dirty="0">
                <a:latin typeface="Times New Roman"/>
                <a:cs typeface="Times New Roman"/>
              </a:rPr>
              <a:t>addressed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leap.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years,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emerged,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resolving 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aspects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Analyzing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timeline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helps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gaps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persisted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ecosystem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how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lang="en-IN" sz="1100" b="1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lang="en-IN" sz="1100" b="1" dirty="0">
                <a:latin typeface="Times New Roman"/>
                <a:cs typeface="Times New Roman"/>
              </a:rPr>
              <a:t>AI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evolved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comprehensively.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8415" marR="6350" indent="-6350" algn="just">
              <a:lnSpc>
                <a:spcPct val="1123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progression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categorized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phases,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technological </a:t>
            </a:r>
            <a:r>
              <a:rPr sz="1100" dirty="0">
                <a:latin typeface="Times New Roman"/>
                <a:cs typeface="Times New Roman"/>
              </a:rPr>
              <a:t>advancements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unresolved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eventually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conceptualization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AI </a:t>
            </a:r>
            <a:r>
              <a:rPr sz="1100" spc="-10" dirty="0">
                <a:latin typeface="Times New Roman"/>
                <a:cs typeface="Times New Roman"/>
              </a:rPr>
              <a:t>:-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Phase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1: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Early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Collaborative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Tools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(2008–2016)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55930" marR="5080" lvl="2" indent="-221615" algn="just">
              <a:lnSpc>
                <a:spcPct val="1127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2008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Etherpad</a:t>
            </a:r>
            <a:r>
              <a:rPr sz="1100" b="1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introduced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basic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text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collaboration.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However, 	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lacked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programming-specific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highlighting,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multi- 	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capabilities.</a:t>
            </a:r>
            <a:endParaRPr sz="1100" dirty="0">
              <a:latin typeface="Times New Roman"/>
              <a:cs typeface="Times New Roman"/>
            </a:endParaRPr>
          </a:p>
          <a:p>
            <a:pPr marL="455930" marR="8255" lvl="2" indent="-221615" algn="just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2010–2015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JSFiddle</a:t>
            </a:r>
            <a:r>
              <a:rPr sz="1100" b="1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CodePen</a:t>
            </a:r>
            <a:r>
              <a:rPr sz="1100" b="1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emerged,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offering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browser- 	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focused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primarily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front-end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(HTML,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CSS, 	</a:t>
            </a:r>
            <a:r>
              <a:rPr sz="1100" dirty="0">
                <a:latin typeface="Times New Roman"/>
                <a:cs typeface="Times New Roman"/>
              </a:rPr>
              <a:t>JavaScript).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However,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multi-user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absent.</a:t>
            </a:r>
            <a:endParaRPr sz="110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4"/>
              </a:spcBef>
              <a:buFont typeface="Symbol"/>
              <a:buChar char=""/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Problems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Identified: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55930" marR="5715" lvl="2" indent="-221615" algn="just">
              <a:lnSpc>
                <a:spcPct val="1127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Lack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concurrent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multi-user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(Gubanov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al., 	</a:t>
            </a:r>
            <a:r>
              <a:rPr sz="1100" spc="-10" dirty="0">
                <a:latin typeface="Times New Roman"/>
                <a:cs typeface="Times New Roman"/>
              </a:rPr>
              <a:t>2017).</a:t>
            </a:r>
            <a:endParaRPr sz="1100" dirty="0">
              <a:latin typeface="Times New Roman"/>
              <a:cs typeface="Times New Roman"/>
            </a:endParaRPr>
          </a:p>
          <a:p>
            <a:pPr marL="455930" marR="6985" lvl="2" indent="-221615" algn="just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Fragmented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workflows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juggle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separate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compiling, 	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(Mehta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Jain,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2020).</a:t>
            </a:r>
            <a:endParaRPr sz="110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4"/>
              </a:spcBef>
              <a:buFont typeface="Symbol"/>
              <a:buChar char=""/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Phase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2: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Emergence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IDEs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(2017–2020)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55930" marR="8255" lvl="2" indent="-221615" algn="just">
              <a:lnSpc>
                <a:spcPct val="1127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2017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Visual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Studio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Live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Share </a:t>
            </a:r>
            <a:r>
              <a:rPr sz="1100" dirty="0">
                <a:latin typeface="Times New Roman"/>
                <a:cs typeface="Times New Roman"/>
              </a:rPr>
              <a:t>enabled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 collaborative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Visual 	</a:t>
            </a:r>
            <a:r>
              <a:rPr sz="1100" dirty="0">
                <a:latin typeface="Times New Roman"/>
                <a:cs typeface="Times New Roman"/>
              </a:rPr>
              <a:t>Studio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necessitated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installations,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accessibility.</a:t>
            </a:r>
            <a:endParaRPr sz="1100" dirty="0">
              <a:latin typeface="Times New Roman"/>
              <a:cs typeface="Times New Roman"/>
            </a:endParaRPr>
          </a:p>
          <a:p>
            <a:pPr marL="455930" marR="6985" lvl="2" indent="-221615" algn="just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2018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Google Colab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popularized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cloud-based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notebooks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built-in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execution, 	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primarily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Python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restricting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versatility.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Problems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Identified: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18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05085"/>
            <a:ext cx="5324475" cy="75954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marR="5080" indent="-222885">
              <a:lnSpc>
                <a:spcPct val="111800"/>
              </a:lnSpc>
              <a:spcBef>
                <a:spcPts val="9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IDE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Dependency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inaccessible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non-technical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 </a:t>
            </a:r>
            <a:r>
              <a:rPr sz="1100" dirty="0">
                <a:latin typeface="Times New Roman"/>
                <a:cs typeface="Times New Roman"/>
              </a:rPr>
              <a:t>unfamiliar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(Tilkov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Vinoski,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2010).</a:t>
            </a:r>
            <a:endParaRPr sz="1100" dirty="0">
              <a:latin typeface="Times New Roman"/>
              <a:cs typeface="Times New Roman"/>
            </a:endParaRPr>
          </a:p>
          <a:p>
            <a:pPr marL="455930" marR="6985" indent="-221615" algn="just">
              <a:lnSpc>
                <a:spcPts val="1490"/>
              </a:lnSpc>
              <a:spcBef>
                <a:spcPts val="6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Limited</a:t>
            </a:r>
            <a:r>
              <a:rPr sz="1100" b="1" spc="2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2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Support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Platforms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Colab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catered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mainly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Python, 	</a:t>
            </a:r>
            <a:r>
              <a:rPr sz="1100" dirty="0">
                <a:latin typeface="Times New Roman"/>
                <a:cs typeface="Times New Roman"/>
              </a:rPr>
              <a:t>inhibiting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broader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(Nguyen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al.,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2017).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  <a:buFont typeface="Symbol"/>
              <a:buChar char=""/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Phase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3: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Modern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Demands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Gaps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(2021–2023)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57200" marR="5715" indent="-222885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2021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Replit</a:t>
            </a:r>
            <a:r>
              <a:rPr sz="1100" b="1" spc="2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Teams</a:t>
            </a:r>
            <a:r>
              <a:rPr sz="1100" b="1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offered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coding,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encountered </a:t>
            </a:r>
            <a:r>
              <a:rPr sz="1100" dirty="0">
                <a:latin typeface="Times New Roman"/>
                <a:cs typeface="Times New Roman"/>
              </a:rPr>
              <a:t>significant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(&gt;700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ms)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UI/UX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customization.</a:t>
            </a:r>
            <a:endParaRPr sz="1100" dirty="0">
              <a:latin typeface="Times New Roman"/>
              <a:cs typeface="Times New Roman"/>
            </a:endParaRPr>
          </a:p>
          <a:p>
            <a:pPr marL="457200" marR="6350" indent="-222885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2022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Studies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exposed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security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sandboxed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models </a:t>
            </a:r>
            <a:r>
              <a:rPr sz="1100" dirty="0">
                <a:latin typeface="Times New Roman"/>
                <a:cs typeface="Times New Roman"/>
              </a:rPr>
              <a:t>(Margaritov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al.,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2021)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pointed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WebSocket-</a:t>
            </a:r>
            <a:r>
              <a:rPr sz="1100" spc="-10" dirty="0">
                <a:latin typeface="Times New Roman"/>
                <a:cs typeface="Times New Roman"/>
              </a:rPr>
              <a:t>based</a:t>
            </a:r>
            <a:endParaRPr sz="1100" dirty="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170"/>
              </a:spcBef>
            </a:pP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(Park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Kim,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2021).</a:t>
            </a:r>
            <a:endParaRPr sz="1100" dirty="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6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2023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Surveys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revealed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for:</a:t>
            </a:r>
            <a:endParaRPr sz="1100" dirty="0">
              <a:latin typeface="Times New Roman"/>
              <a:cs typeface="Times New Roman"/>
            </a:endParaRPr>
          </a:p>
          <a:p>
            <a:pPr marL="902335" marR="6350" lvl="1" indent="-222885">
              <a:lnSpc>
                <a:spcPts val="1490"/>
              </a:lnSpc>
              <a:spcBef>
                <a:spcPts val="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b="1" dirty="0">
                <a:latin typeface="Times New Roman"/>
                <a:cs typeface="Times New Roman"/>
              </a:rPr>
              <a:t>Unified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Platforms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chat,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(Datta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al.,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2020).</a:t>
            </a:r>
            <a:endParaRPr sz="1100" dirty="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7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b="1" dirty="0">
                <a:latin typeface="Times New Roman"/>
                <a:cs typeface="Times New Roman"/>
              </a:rPr>
              <a:t>Accessibility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browser-native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 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installation,</a:t>
            </a:r>
            <a:endParaRPr sz="1100" dirty="0">
              <a:latin typeface="Times New Roman"/>
              <a:cs typeface="Times New Roman"/>
            </a:endParaRPr>
          </a:p>
          <a:p>
            <a:pPr marL="902335" marR="6350">
              <a:lnSpc>
                <a:spcPct val="1118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benefiting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educators,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workers,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non-developers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(Khan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Wong, 2021).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Persistent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Challenges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Leading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Codemate AI: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55930" marR="7620" indent="-221615" algn="just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Fragmented</a:t>
            </a:r>
            <a:r>
              <a:rPr sz="1100" b="1" spc="3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forced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separate 	</a:t>
            </a:r>
            <a:r>
              <a:rPr sz="1100" dirty="0">
                <a:latin typeface="Times New Roman"/>
                <a:cs typeface="Times New Roman"/>
              </a:rPr>
              <a:t>editors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CodeMirror),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compilers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Judge0),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Slack).</a:t>
            </a:r>
            <a:endParaRPr sz="1100" dirty="0">
              <a:latin typeface="Times New Roman"/>
              <a:cs typeface="Times New Roman"/>
            </a:endParaRPr>
          </a:p>
          <a:p>
            <a:pPr marL="455930" marR="5715" indent="-221615" algn="just">
              <a:lnSpc>
                <a:spcPct val="111800"/>
              </a:lnSpc>
              <a:spcBef>
                <a:spcPts val="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Latency</a:t>
            </a:r>
            <a:r>
              <a:rPr sz="1100" b="1" spc="1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1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Scalability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faced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slower 	</a:t>
            </a:r>
            <a:r>
              <a:rPr sz="1100" dirty="0">
                <a:latin typeface="Times New Roman"/>
                <a:cs typeface="Times New Roman"/>
              </a:rPr>
              <a:t>networks,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disrupting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(Holker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Harland,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2021).</a:t>
            </a:r>
            <a:endParaRPr sz="1100" dirty="0">
              <a:latin typeface="Times New Roman"/>
              <a:cs typeface="Times New Roman"/>
            </a:endParaRPr>
          </a:p>
          <a:p>
            <a:pPr marL="455930" marR="5080" indent="-221615" algn="just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Security</a:t>
            </a:r>
            <a:r>
              <a:rPr sz="1100" b="1" spc="2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vs.</a:t>
            </a:r>
            <a:r>
              <a:rPr sz="1100" b="1" spc="2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Flexibility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Docker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introduced 	</a:t>
            </a:r>
            <a:r>
              <a:rPr sz="1100" dirty="0">
                <a:latin typeface="Times New Roman"/>
                <a:cs typeface="Times New Roman"/>
              </a:rPr>
              <a:t>speed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trade-offs,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alternatives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lacked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proper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isolation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(Bass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al., 	</a:t>
            </a:r>
            <a:r>
              <a:rPr sz="1100" spc="-10" dirty="0">
                <a:latin typeface="Times New Roman"/>
                <a:cs typeface="Times New Roman"/>
              </a:rPr>
              <a:t>2021).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  <a:buFont typeface="Symbol"/>
              <a:buChar char=""/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IN" sz="1100" b="1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lang="en-IN" sz="1100" b="1" dirty="0">
                <a:latin typeface="Times New Roman"/>
                <a:cs typeface="Times New Roman"/>
              </a:rPr>
              <a:t>AI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Problem-Solution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Alignment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1100" b="1" dirty="0" err="1">
                <a:latin typeface="Times New Roman"/>
                <a:cs typeface="Times New Roman"/>
              </a:rPr>
              <a:t>Codemate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lang="en-IN" sz="1100" b="1" dirty="0">
                <a:latin typeface="Times New Roman"/>
                <a:cs typeface="Times New Roman"/>
              </a:rPr>
              <a:t>AI</a:t>
            </a:r>
            <a:r>
              <a:rPr lang="en-IN" sz="1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cumulative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by: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455930" marR="5080" indent="-221615" algn="just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Integrated</a:t>
            </a:r>
            <a:r>
              <a:rPr sz="1100" b="1" spc="185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Workflow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0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Seamlessly</a:t>
            </a:r>
            <a:r>
              <a:rPr sz="1100" spc="18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combining</a:t>
            </a:r>
            <a:r>
              <a:rPr sz="1100" spc="180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CodeMirror</a:t>
            </a:r>
            <a:r>
              <a:rPr sz="1100" b="1" spc="19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(syntax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editing), 	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b="1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(real-time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syncing),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3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b="1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(secure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execution)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	</a:t>
            </a:r>
            <a:r>
              <a:rPr sz="1100" dirty="0">
                <a:latin typeface="Times New Roman"/>
                <a:cs typeface="Times New Roman"/>
              </a:rPr>
              <a:t>unified,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platform.</a:t>
            </a:r>
            <a:endParaRPr sz="1100" dirty="0">
              <a:latin typeface="Times New Roman"/>
              <a:cs typeface="Times New Roman"/>
            </a:endParaRPr>
          </a:p>
          <a:p>
            <a:pPr marL="455930" marR="6350" indent="-221615" algn="just">
              <a:lnSpc>
                <a:spcPct val="111800"/>
              </a:lnSpc>
              <a:spcBef>
                <a:spcPts val="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Optimized Real-Time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Performance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Achieving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sub-500ms latency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efficient 	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payload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optimization.</a:t>
            </a:r>
            <a:endParaRPr sz="1100" dirty="0">
              <a:latin typeface="Times New Roman"/>
              <a:cs typeface="Times New Roman"/>
            </a:endParaRPr>
          </a:p>
          <a:p>
            <a:pPr marL="455930" marR="6350" indent="-221615" algn="just">
              <a:lnSpc>
                <a:spcPts val="1490"/>
              </a:lnSpc>
              <a:spcBef>
                <a:spcPts val="6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Security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without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Complexity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containerized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Judge0 	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heavy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installations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configurations.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19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2135"/>
            <a:ext cx="5323205" cy="819378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dirty="0">
                <a:latin typeface="Times New Roman"/>
                <a:cs typeface="Times New Roman"/>
              </a:rPr>
              <a:t>2.2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Existing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Solutions</a:t>
            </a:r>
            <a:endParaRPr sz="12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18415" marR="5715" indent="-6350" algn="just">
              <a:lnSpc>
                <a:spcPct val="1073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 coding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 has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several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tools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aspects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programming,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teamwork.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innovations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revealed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limitations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lang="en-IN" sz="1100" dirty="0" err="1">
                <a:latin typeface="Times New Roman"/>
                <a:cs typeface="Times New Roman"/>
              </a:rPr>
              <a:t>Codemate</a:t>
            </a:r>
            <a:r>
              <a:rPr lang="en-IN" sz="1100">
                <a:latin typeface="Times New Roman"/>
                <a:cs typeface="Times New Roman"/>
              </a:rPr>
              <a:t> AI </a:t>
            </a:r>
            <a:r>
              <a:rPr sz="1100">
                <a:latin typeface="Times New Roman"/>
                <a:cs typeface="Times New Roman"/>
              </a:rPr>
              <a:t>aims</a:t>
            </a:r>
            <a:r>
              <a:rPr sz="1100" spc="4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overcome.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Below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overview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most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notable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solutions: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buAutoNum type="arabicPeriod"/>
              <a:tabLst>
                <a:tab pos="154940" algn="l"/>
              </a:tabLst>
            </a:pPr>
            <a:r>
              <a:rPr sz="1100" b="1" dirty="0">
                <a:latin typeface="Times New Roman"/>
                <a:cs typeface="Times New Roman"/>
              </a:rPr>
              <a:t>Etherpad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(2008)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Times New Roman"/>
              <a:buAutoNum type="arabicPeriod"/>
            </a:pPr>
            <a:endParaRPr sz="1100" dirty="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Overview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 marL="457200" marR="6350">
              <a:lnSpc>
                <a:spcPct val="111800"/>
              </a:lnSpc>
            </a:pPr>
            <a:r>
              <a:rPr sz="1100" dirty="0">
                <a:latin typeface="Times New Roman"/>
                <a:cs typeface="Times New Roman"/>
              </a:rPr>
              <a:t>Etherpad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earliest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editors,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multiple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text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documents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simultaneously.</a:t>
            </a:r>
            <a:endParaRPr sz="1100" dirty="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6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Strengths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60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text.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Open-source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self-</a:t>
            </a:r>
            <a:r>
              <a:rPr sz="1100" spc="-20" dirty="0">
                <a:latin typeface="Times New Roman"/>
                <a:cs typeface="Times New Roman"/>
              </a:rPr>
              <a:t>host.</a:t>
            </a:r>
            <a:endParaRPr sz="1100" dirty="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6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Limitations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60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support.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Primarily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text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4"/>
              </a:spcBef>
              <a:buFont typeface="Courier New"/>
              <a:buChar char="o"/>
            </a:pPr>
            <a:endParaRPr sz="11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54940" algn="l"/>
              </a:tabLst>
            </a:pPr>
            <a:r>
              <a:rPr sz="1100" b="1" dirty="0">
                <a:latin typeface="Times New Roman"/>
                <a:cs typeface="Times New Roman"/>
              </a:rPr>
              <a:t>JSFiddle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CodePen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(2010–2015)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Times New Roman"/>
              <a:buAutoNum type="arabicPeriod"/>
            </a:pPr>
            <a:endParaRPr sz="1100" dirty="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Overview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 marL="457200" marR="5715">
              <a:lnSpc>
                <a:spcPct val="1118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Platforms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JSFiddle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CodePen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sandboxes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execute </a:t>
            </a:r>
            <a:r>
              <a:rPr sz="1100" dirty="0">
                <a:latin typeface="Times New Roman"/>
                <a:cs typeface="Times New Roman"/>
              </a:rPr>
              <a:t>HTML,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JavaScript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snippets.</a:t>
            </a:r>
            <a:endParaRPr sz="1100" dirty="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Strengths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Easy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front-end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samples.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70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Immediate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client-side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code.</a:t>
            </a:r>
            <a:endParaRPr sz="1100" dirty="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6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Limitations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4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multi-user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 dirty="0">
              <a:latin typeface="Times New Roman"/>
              <a:cs typeface="Times New Roman"/>
            </a:endParaRPr>
          </a:p>
          <a:p>
            <a:pPr marL="902335" marR="6350" lvl="2" indent="-222885">
              <a:lnSpc>
                <a:spcPct val="112700"/>
              </a:lnSpc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Restricted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mainly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front-end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technologies;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back-end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general-</a:t>
            </a:r>
            <a:r>
              <a:rPr sz="1100" spc="-10" dirty="0">
                <a:latin typeface="Times New Roman"/>
                <a:cs typeface="Times New Roman"/>
              </a:rPr>
              <a:t>purpose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support.</a:t>
            </a:r>
            <a:endParaRPr sz="110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0"/>
              </a:spcBef>
              <a:buFont typeface="Courier New"/>
              <a:buChar char="o"/>
            </a:pPr>
            <a:endParaRPr sz="1100" dirty="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buAutoNum type="arabicPeriod"/>
              <a:tabLst>
                <a:tab pos="154940" algn="l"/>
              </a:tabLst>
            </a:pPr>
            <a:r>
              <a:rPr sz="1100" b="1" dirty="0">
                <a:latin typeface="Times New Roman"/>
                <a:cs typeface="Times New Roman"/>
              </a:rPr>
              <a:t>Visual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Studio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Live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Share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(2017)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Times New Roman"/>
              <a:buAutoNum type="arabicPeriod"/>
            </a:pPr>
            <a:endParaRPr sz="1100" dirty="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Overview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145"/>
              </a:spcBef>
            </a:pPr>
            <a:r>
              <a:rPr sz="1100" dirty="0">
                <a:latin typeface="Times New Roman"/>
                <a:cs typeface="Times New Roman"/>
              </a:rPr>
              <a:t>Microsoft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extension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</a:t>
            </a:r>
            <a:endParaRPr sz="1100" dirty="0">
              <a:latin typeface="Times New Roman"/>
              <a:cs typeface="Times New Roman"/>
            </a:endParaRPr>
          </a:p>
          <a:p>
            <a:pPr marL="457200" marR="5715">
              <a:lnSpc>
                <a:spcPct val="1118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Studio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developers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collaboratively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debug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10" dirty="0">
                <a:latin typeface="Times New Roman"/>
                <a:cs typeface="Times New Roman"/>
              </a:rPr>
              <a:t>time.</a:t>
            </a:r>
            <a:endParaRPr sz="1100" dirty="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7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Strengths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debugging,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terminal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sharing.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Deep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breakpoints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stacks.</a:t>
            </a:r>
            <a:endParaRPr sz="1100" dirty="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7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Limitations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 dirty="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Requires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installation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Code.</a:t>
            </a:r>
            <a:endParaRPr sz="1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20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05085"/>
            <a:ext cx="5641975" cy="799020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902335" indent="-222250">
              <a:lnSpc>
                <a:spcPct val="100000"/>
              </a:lnSpc>
              <a:spcBef>
                <a:spcPts val="250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Heavyweight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unsuitable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quick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non-technical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  <a:p>
            <a:pPr marL="902335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accessibility.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buAutoNum type="arabicPeriod" startAt="4"/>
              <a:tabLst>
                <a:tab pos="154940" algn="l"/>
              </a:tabLst>
            </a:pPr>
            <a:r>
              <a:rPr sz="1100" b="1" dirty="0">
                <a:latin typeface="Times New Roman"/>
                <a:cs typeface="Times New Roman"/>
              </a:rPr>
              <a:t>Google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Colaboratory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(Colab)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(2018)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Font typeface="Times New Roman"/>
              <a:buAutoNum type="arabicPeriod" startAt="4"/>
            </a:pP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Overview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457200" marR="322580">
              <a:lnSpc>
                <a:spcPts val="1490"/>
              </a:lnSpc>
              <a:spcBef>
                <a:spcPts val="65"/>
              </a:spcBef>
            </a:pPr>
            <a:r>
              <a:rPr sz="1100" dirty="0">
                <a:latin typeface="Times New Roman"/>
                <a:cs typeface="Times New Roman"/>
              </a:rPr>
              <a:t>Google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Colab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offered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cloud-based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Jupyter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notebook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primarily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Python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facilitating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notebooks.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7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Strengths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Free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GPUs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cloud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computation.</a:t>
            </a:r>
            <a:endParaRPr sz="110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comments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markdown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support.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7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Limitations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6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restriction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Python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shell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commands).</a:t>
            </a:r>
            <a:endParaRPr sz="1100">
              <a:latin typeface="Times New Roman"/>
              <a:cs typeface="Times New Roman"/>
            </a:endParaRPr>
          </a:p>
          <a:p>
            <a:pPr marL="902335" marR="323850" lvl="2" indent="-222885">
              <a:lnSpc>
                <a:spcPts val="1490"/>
              </a:lnSpc>
              <a:spcBef>
                <a:spcPts val="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1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data</a:t>
            </a:r>
            <a:r>
              <a:rPr sz="1100" spc="1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science</a:t>
            </a:r>
            <a:r>
              <a:rPr sz="1100" spc="1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machine</a:t>
            </a:r>
            <a:r>
              <a:rPr sz="1100" spc="114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learning,</a:t>
            </a:r>
            <a:r>
              <a:rPr sz="1100" spc="1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1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general-</a:t>
            </a:r>
            <a:r>
              <a:rPr sz="1100" spc="-10" dirty="0">
                <a:latin typeface="Times New Roman"/>
                <a:cs typeface="Times New Roman"/>
              </a:rPr>
              <a:t>purpose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projects.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165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154940" indent="-142240">
              <a:lnSpc>
                <a:spcPct val="100000"/>
              </a:lnSpc>
              <a:buAutoNum type="arabicPeriod" startAt="4"/>
              <a:tabLst>
                <a:tab pos="154940" algn="l"/>
              </a:tabLst>
            </a:pPr>
            <a:r>
              <a:rPr sz="1100" b="1" dirty="0">
                <a:latin typeface="Times New Roman"/>
                <a:cs typeface="Times New Roman"/>
              </a:rPr>
              <a:t>Replit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(2020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onwards)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Times New Roman"/>
              <a:buAutoNum type="arabicPeriod" startAt="4"/>
            </a:pP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Overview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457200" marR="323850">
              <a:lnSpc>
                <a:spcPct val="110900"/>
              </a:lnSpc>
              <a:spcBef>
                <a:spcPts val="20"/>
              </a:spcBef>
            </a:pPr>
            <a:r>
              <a:rPr sz="1100" dirty="0">
                <a:latin typeface="Times New Roman"/>
                <a:cs typeface="Times New Roman"/>
              </a:rPr>
              <a:t>Replit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allowed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browser,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built-in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features.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7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Strengths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Wide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70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In-browser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installation.</a:t>
            </a:r>
            <a:endParaRPr sz="110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5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projects.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Limitations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70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(reported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&gt;700ms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delays).</a:t>
            </a:r>
            <a:endParaRPr sz="110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4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customization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flexibility.</a:t>
            </a:r>
            <a:endParaRPr sz="1100">
              <a:latin typeface="Times New Roman"/>
              <a:cs typeface="Times New Roman"/>
            </a:endParaRPr>
          </a:p>
          <a:p>
            <a:pPr marL="902335" lvl="2" indent="-222250">
              <a:lnSpc>
                <a:spcPct val="100000"/>
              </a:lnSpc>
              <a:spcBef>
                <a:spcPts val="16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Security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vulnerabilities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sandboxed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environments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4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At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technical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level: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low-latency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client-server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communication.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CodeMirror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powerful,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component.</a:t>
            </a:r>
            <a:endParaRPr sz="1100">
              <a:latin typeface="Times New Roman"/>
              <a:cs typeface="Times New Roman"/>
            </a:endParaRPr>
          </a:p>
          <a:p>
            <a:pPr marL="457200" marR="5080" lvl="1" indent="-222885">
              <a:lnSpc>
                <a:spcPts val="1490"/>
              </a:lnSpc>
              <a:spcBef>
                <a:spcPts val="6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sandboxed environments.</a:t>
            </a:r>
            <a:endParaRPr sz="1100">
              <a:latin typeface="Times New Roman"/>
              <a:cs typeface="Times New Roman"/>
            </a:endParaRPr>
          </a:p>
          <a:p>
            <a:pPr marL="12700" marR="323850">
              <a:lnSpc>
                <a:spcPct val="112700"/>
              </a:lnSpc>
              <a:spcBef>
                <a:spcPts val="1265"/>
              </a:spcBef>
            </a:pPr>
            <a:r>
              <a:rPr sz="1100" dirty="0">
                <a:latin typeface="Times New Roman"/>
                <a:cs typeface="Times New Roman"/>
              </a:rPr>
              <a:t>However,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seamlessly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 technologies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cohesive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—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until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Codemate AI.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Codemate AI's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Unique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Contribution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learning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gaps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offers: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21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05085"/>
            <a:ext cx="5324475" cy="804354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57200" indent="-222250">
              <a:lnSpc>
                <a:spcPct val="100000"/>
              </a:lnSpc>
              <a:spcBef>
                <a:spcPts val="25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browser-native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installation-free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platform.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synchronization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sub-500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ms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latency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Integrated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chat,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editing,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UI.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7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support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restricting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stack.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Secure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exposing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host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environment.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75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Thus,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represents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holistic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advancement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truly</a:t>
            </a:r>
            <a:r>
              <a:rPr sz="1100" b="1" spc="2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seamless</a:t>
            </a:r>
            <a:r>
              <a:rPr sz="1100" b="1" spc="2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collaborative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especially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suited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educational,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professional,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use </a:t>
            </a:r>
            <a:r>
              <a:rPr sz="1100" dirty="0">
                <a:latin typeface="Times New Roman"/>
                <a:cs typeface="Times New Roman"/>
              </a:rPr>
              <a:t>cases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also,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addresses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clear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technological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gap: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real-time,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multi- </a:t>
            </a:r>
            <a:r>
              <a:rPr sz="1100" dirty="0">
                <a:latin typeface="Times New Roman"/>
                <a:cs typeface="Times New Roman"/>
              </a:rPr>
              <a:t>language,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18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18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18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9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180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configuration, </a:t>
            </a:r>
            <a:r>
              <a:rPr sz="1100" dirty="0">
                <a:latin typeface="Times New Roman"/>
                <a:cs typeface="Times New Roman"/>
              </a:rPr>
              <a:t>maximum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responsiveness,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2.3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Bibliometric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Analysis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50">
              <a:latin typeface="Times New Roman"/>
              <a:cs typeface="Times New Roman"/>
            </a:endParaRPr>
          </a:p>
          <a:p>
            <a:pPr marL="18415" marR="6350" indent="-6350" algn="just">
              <a:lnSpc>
                <a:spcPct val="107500"/>
              </a:lnSpc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7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bibliometric</a:t>
            </a:r>
            <a:r>
              <a:rPr sz="1100" spc="17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survey</a:t>
            </a:r>
            <a:r>
              <a:rPr sz="1100" spc="17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7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conducted</a:t>
            </a:r>
            <a:r>
              <a:rPr sz="1100" spc="17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IEEE</a:t>
            </a:r>
            <a:r>
              <a:rPr sz="1100" b="1" spc="170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Xplore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ACM</a:t>
            </a:r>
            <a:r>
              <a:rPr sz="1100" b="1" spc="175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Digital</a:t>
            </a:r>
            <a:r>
              <a:rPr sz="1100" b="1" spc="175" dirty="0">
                <a:latin typeface="Times New Roman"/>
                <a:cs typeface="Times New Roman"/>
              </a:rPr>
              <a:t>  </a:t>
            </a:r>
            <a:r>
              <a:rPr sz="1100" b="1" spc="-10" dirty="0">
                <a:latin typeface="Times New Roman"/>
                <a:cs typeface="Times New Roman"/>
              </a:rPr>
              <a:t>Library</a:t>
            </a:r>
            <a:r>
              <a:rPr sz="1100" spc="-10" dirty="0">
                <a:latin typeface="Times New Roman"/>
                <a:cs typeface="Times New Roman"/>
              </a:rPr>
              <a:t>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Google</a:t>
            </a:r>
            <a:r>
              <a:rPr sz="1100" b="1" spc="3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Scholar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(2015–2023)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trends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tools. </a:t>
            </a:r>
            <a:r>
              <a:rPr sz="1100" dirty="0">
                <a:latin typeface="Times New Roman"/>
                <a:cs typeface="Times New Roman"/>
              </a:rPr>
              <a:t>Keywords</a:t>
            </a:r>
            <a:r>
              <a:rPr sz="1100" spc="315" dirty="0">
                <a:latin typeface="Times New Roman"/>
                <a:cs typeface="Times New Roman"/>
              </a:rPr>
              <a:t>  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320" dirty="0">
                <a:latin typeface="Times New Roman"/>
                <a:cs typeface="Times New Roman"/>
              </a:rPr>
              <a:t>  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“real-time</a:t>
            </a:r>
            <a:r>
              <a:rPr sz="1100" i="1" spc="320" dirty="0">
                <a:latin typeface="Times New Roman"/>
                <a:cs typeface="Times New Roman"/>
              </a:rPr>
              <a:t>   </a:t>
            </a:r>
            <a:r>
              <a:rPr sz="1100" i="1" dirty="0">
                <a:latin typeface="Times New Roman"/>
                <a:cs typeface="Times New Roman"/>
              </a:rPr>
              <a:t>code</a:t>
            </a:r>
            <a:r>
              <a:rPr sz="1100" i="1" spc="320" dirty="0">
                <a:latin typeface="Times New Roman"/>
                <a:cs typeface="Times New Roman"/>
              </a:rPr>
              <a:t>   </a:t>
            </a:r>
            <a:r>
              <a:rPr sz="1100" i="1" dirty="0">
                <a:latin typeface="Times New Roman"/>
                <a:cs typeface="Times New Roman"/>
              </a:rPr>
              <a:t>collaboration,”</a:t>
            </a:r>
            <a:r>
              <a:rPr sz="1100" i="1" spc="315" dirty="0">
                <a:latin typeface="Times New Roman"/>
                <a:cs typeface="Times New Roman"/>
              </a:rPr>
              <a:t>   </a:t>
            </a:r>
            <a:r>
              <a:rPr sz="1100" i="1" dirty="0">
                <a:latin typeface="Times New Roman"/>
                <a:cs typeface="Times New Roman"/>
              </a:rPr>
              <a:t>“multi-language</a:t>
            </a:r>
            <a:r>
              <a:rPr sz="1100" i="1" spc="320" dirty="0">
                <a:latin typeface="Times New Roman"/>
                <a:cs typeface="Times New Roman"/>
              </a:rPr>
              <a:t>   </a:t>
            </a:r>
            <a:r>
              <a:rPr sz="1100" i="1" spc="-20" dirty="0">
                <a:latin typeface="Times New Roman"/>
                <a:cs typeface="Times New Roman"/>
              </a:rPr>
              <a:t>code </a:t>
            </a:r>
            <a:r>
              <a:rPr sz="1100" i="1" dirty="0">
                <a:latin typeface="Times New Roman"/>
                <a:cs typeface="Times New Roman"/>
              </a:rPr>
              <a:t>execution,”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“WebSocket</a:t>
            </a:r>
            <a:r>
              <a:rPr sz="1100" i="1" spc="1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performance”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yielded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200+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papers,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revealing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critical </a:t>
            </a:r>
            <a:r>
              <a:rPr sz="1100" dirty="0">
                <a:latin typeface="Times New Roman"/>
                <a:cs typeface="Times New Roman"/>
              </a:rPr>
              <a:t>patterns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gaps: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Key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findings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 algn="just">
              <a:lnSpc>
                <a:spcPct val="100000"/>
              </a:lnSpc>
              <a:buAutoNum type="arabicPeriod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Dominance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Document-Centric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Collaboration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760730" marR="8255" lvl="1" indent="-222885" algn="just">
              <a:lnSpc>
                <a:spcPct val="112700"/>
              </a:lnSpc>
              <a:spcBef>
                <a:spcPts val="65"/>
              </a:spcBef>
              <a:buFont typeface="Symbol"/>
              <a:buChar char=""/>
              <a:tabLst>
                <a:tab pos="760730" algn="l"/>
              </a:tabLst>
            </a:pPr>
            <a:r>
              <a:rPr sz="1100" b="1" dirty="0">
                <a:latin typeface="Times New Roman"/>
                <a:cs typeface="Times New Roman"/>
              </a:rPr>
              <a:t>70%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studies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focused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generic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text/document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Google </a:t>
            </a:r>
            <a:r>
              <a:rPr sz="1100" dirty="0">
                <a:latin typeface="Times New Roman"/>
                <a:cs typeface="Times New Roman"/>
              </a:rPr>
              <a:t>Docs,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Etherpad),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12%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syntax-aware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editing.</a:t>
            </a:r>
            <a:endParaRPr sz="1100">
              <a:latin typeface="Times New Roman"/>
              <a:cs typeface="Times New Roman"/>
            </a:endParaRPr>
          </a:p>
          <a:p>
            <a:pPr marL="760730" marR="6350" lvl="1" indent="-222885" algn="just">
              <a:lnSpc>
                <a:spcPct val="111800"/>
              </a:lnSpc>
              <a:spcBef>
                <a:spcPts val="80"/>
              </a:spcBef>
              <a:buFont typeface="Symbol"/>
              <a:buChar char=""/>
              <a:tabLst>
                <a:tab pos="760730" algn="l"/>
              </a:tabLst>
            </a:pPr>
            <a:r>
              <a:rPr sz="1100" b="1" dirty="0">
                <a:latin typeface="Times New Roman"/>
                <a:cs typeface="Times New Roman"/>
              </a:rPr>
              <a:t>Example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“Conflict</a:t>
            </a:r>
            <a:r>
              <a:rPr sz="1100" i="1" spc="26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Resolution</a:t>
            </a:r>
            <a:r>
              <a:rPr sz="1100" i="1" spc="27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in</a:t>
            </a:r>
            <a:r>
              <a:rPr sz="1100" i="1" spc="27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Collaborative</a:t>
            </a:r>
            <a:r>
              <a:rPr sz="1100" i="1" spc="29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Text</a:t>
            </a:r>
            <a:r>
              <a:rPr sz="1100" i="1" spc="2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Editors”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(IEEE,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2018) </a:t>
            </a:r>
            <a:r>
              <a:rPr sz="1100" dirty="0">
                <a:latin typeface="Times New Roman"/>
                <a:cs typeface="Times New Roman"/>
              </a:rPr>
              <a:t>explored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algorithms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ignored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code-specific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syntax validation.</a:t>
            </a:r>
            <a:endParaRPr sz="1100">
              <a:latin typeface="Times New Roman"/>
              <a:cs typeface="Times New Roman"/>
            </a:endParaRPr>
          </a:p>
          <a:p>
            <a:pPr marL="457200" indent="-222250" algn="just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Limited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Focus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on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Challenges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760730" marR="5715" lvl="1" indent="-222885" algn="just">
              <a:lnSpc>
                <a:spcPct val="112700"/>
              </a:lnSpc>
              <a:spcBef>
                <a:spcPts val="60"/>
              </a:spcBef>
              <a:buFont typeface="Symbol"/>
              <a:buChar char=""/>
              <a:tabLst>
                <a:tab pos="760730" algn="l"/>
              </a:tabLst>
            </a:pPr>
            <a:r>
              <a:rPr sz="1100" b="1" dirty="0">
                <a:latin typeface="Times New Roman"/>
                <a:cs typeface="Times New Roman"/>
              </a:rPr>
              <a:t>Less</a:t>
            </a:r>
            <a:r>
              <a:rPr sz="1100" b="1" spc="2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than</a:t>
            </a:r>
            <a:r>
              <a:rPr sz="1100" b="1" spc="2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15%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papers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tackled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most </a:t>
            </a:r>
            <a:r>
              <a:rPr sz="1100" spc="-10" dirty="0">
                <a:latin typeface="Times New Roman"/>
                <a:cs typeface="Times New Roman"/>
              </a:rPr>
              <a:t>emphasizing:</a:t>
            </a:r>
            <a:endParaRPr sz="1100">
              <a:latin typeface="Times New Roman"/>
              <a:cs typeface="Times New Roman"/>
            </a:endParaRPr>
          </a:p>
          <a:p>
            <a:pPr marL="1108075" marR="6350" lvl="2" indent="-221615" algn="just">
              <a:lnSpc>
                <a:spcPct val="111800"/>
              </a:lnSpc>
              <a:spcBef>
                <a:spcPts val="10"/>
              </a:spcBef>
              <a:buSzPct val="86363"/>
              <a:buFont typeface="Times New Roman"/>
              <a:buChar char="▪"/>
              <a:tabLst>
                <a:tab pos="1109345" algn="l"/>
              </a:tabLst>
            </a:pPr>
            <a:r>
              <a:rPr sz="1100" b="1" dirty="0">
                <a:latin typeface="Times New Roman"/>
                <a:cs typeface="Times New Roman"/>
              </a:rPr>
              <a:t>Conflict</a:t>
            </a:r>
            <a:r>
              <a:rPr sz="1100" b="1" spc="110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Resolution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1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Operational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Transformation</a:t>
            </a:r>
            <a:r>
              <a:rPr sz="1100" spc="4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(OT)</a:t>
            </a:r>
            <a:r>
              <a:rPr sz="1100" spc="11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CRDTs 	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Kleppmann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et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al.,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2017</a:t>
            </a:r>
            <a:r>
              <a:rPr sz="1100" spc="-10" dirty="0">
                <a:latin typeface="Times New Roman"/>
                <a:cs typeface="Times New Roman"/>
              </a:rPr>
              <a:t>).</a:t>
            </a:r>
            <a:endParaRPr sz="1100">
              <a:latin typeface="Times New Roman"/>
              <a:cs typeface="Times New Roman"/>
            </a:endParaRPr>
          </a:p>
          <a:p>
            <a:pPr marL="1108075" marR="8255" lvl="2" indent="-221615" algn="just">
              <a:lnSpc>
                <a:spcPct val="111800"/>
              </a:lnSpc>
              <a:spcBef>
                <a:spcPts val="5"/>
              </a:spcBef>
              <a:buSzPct val="86363"/>
              <a:buFont typeface="Times New Roman"/>
              <a:buChar char="▪"/>
              <a:tabLst>
                <a:tab pos="1109345" algn="l"/>
              </a:tabLst>
            </a:pPr>
            <a:r>
              <a:rPr sz="1100" b="1" dirty="0">
                <a:latin typeface="Times New Roman"/>
                <a:cs typeface="Times New Roman"/>
              </a:rPr>
              <a:t>Synchronization</a:t>
            </a:r>
            <a:r>
              <a:rPr sz="1100" b="1" spc="215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Models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2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reduction</a:t>
            </a:r>
            <a:r>
              <a:rPr sz="1100" spc="2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1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WebSocket-</a:t>
            </a:r>
            <a:r>
              <a:rPr sz="1100" spc="-10" dirty="0">
                <a:latin typeface="Times New Roman"/>
                <a:cs typeface="Times New Roman"/>
              </a:rPr>
              <a:t>based 	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Park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&amp;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Kim,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2021</a:t>
            </a:r>
            <a:r>
              <a:rPr sz="1100" spc="-10" dirty="0">
                <a:latin typeface="Times New Roman"/>
                <a:cs typeface="Times New Roman"/>
              </a:rPr>
              <a:t>).</a:t>
            </a:r>
            <a:endParaRPr sz="1100">
              <a:latin typeface="Times New Roman"/>
              <a:cs typeface="Times New Roman"/>
            </a:endParaRPr>
          </a:p>
          <a:p>
            <a:pPr marL="760730" marR="5715" lvl="1" indent="-222885" algn="just">
              <a:lnSpc>
                <a:spcPct val="111800"/>
              </a:lnSpc>
              <a:spcBef>
                <a:spcPts val="95"/>
              </a:spcBef>
              <a:buFont typeface="Symbol"/>
              <a:buChar char=""/>
              <a:tabLst>
                <a:tab pos="760730" algn="l"/>
                <a:tab pos="1612900" algn="l"/>
                <a:tab pos="2299335" algn="l"/>
                <a:tab pos="3373120" algn="l"/>
                <a:tab pos="4154170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Critical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20" dirty="0">
                <a:latin typeface="Times New Roman"/>
                <a:cs typeface="Times New Roman"/>
              </a:rPr>
              <a:t>Gap</a:t>
            </a:r>
            <a:r>
              <a:rPr sz="1100" spc="-20" dirty="0">
                <a:latin typeface="Times New Roman"/>
                <a:cs typeface="Times New Roman"/>
              </a:rPr>
              <a:t>:</a:t>
            </a:r>
            <a:r>
              <a:rPr sz="1100" dirty="0">
                <a:latin typeface="Times New Roman"/>
                <a:cs typeface="Times New Roman"/>
              </a:rPr>
              <a:t>	Only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3%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studies</a:t>
            </a:r>
            <a:r>
              <a:rPr sz="1100" dirty="0">
                <a:latin typeface="Times New Roman"/>
                <a:cs typeface="Times New Roman"/>
              </a:rPr>
              <a:t>	integrated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</a:t>
            </a:r>
            <a:r>
              <a:rPr sz="1100" b="1" spc="-20" dirty="0">
                <a:latin typeface="Times New Roman"/>
                <a:cs typeface="Times New Roman"/>
              </a:rPr>
              <a:t>time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484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4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Margaritov</a:t>
            </a:r>
            <a:r>
              <a:rPr sz="1100" i="1" spc="48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et</a:t>
            </a:r>
            <a:r>
              <a:rPr sz="1100" i="1" spc="490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Times New Roman"/>
                <a:cs typeface="Times New Roman"/>
              </a:rPr>
              <a:t>al., </a:t>
            </a:r>
            <a:r>
              <a:rPr sz="1100" i="1" spc="-10" dirty="0">
                <a:latin typeface="Times New Roman"/>
                <a:cs typeface="Times New Roman"/>
              </a:rPr>
              <a:t>2021</a:t>
            </a:r>
            <a:r>
              <a:rPr sz="1100" spc="-10" dirty="0">
                <a:latin typeface="Times New Roman"/>
                <a:cs typeface="Times New Roman"/>
              </a:rPr>
              <a:t>).</a:t>
            </a:r>
            <a:endParaRPr sz="1100">
              <a:latin typeface="Times New Roman"/>
              <a:cs typeface="Times New Roman"/>
            </a:endParaRPr>
          </a:p>
          <a:p>
            <a:pPr marL="457200" indent="-222250" algn="just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Neglect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Browser-Native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Solutions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760730" marR="6985" lvl="1" indent="-222885" algn="just">
              <a:lnSpc>
                <a:spcPct val="111800"/>
              </a:lnSpc>
              <a:spcBef>
                <a:spcPts val="85"/>
              </a:spcBef>
              <a:buFont typeface="Symbol"/>
              <a:buChar char=""/>
              <a:tabLst>
                <a:tab pos="760730" algn="l"/>
              </a:tabLst>
            </a:pPr>
            <a:r>
              <a:rPr sz="1100" b="1" dirty="0">
                <a:latin typeface="Times New Roman"/>
                <a:cs typeface="Times New Roman"/>
              </a:rPr>
              <a:t>85%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Share)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installations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cloud </a:t>
            </a:r>
            <a:r>
              <a:rPr sz="1100" dirty="0">
                <a:latin typeface="Times New Roman"/>
                <a:cs typeface="Times New Roman"/>
              </a:rPr>
              <a:t>setups,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&lt;10%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prioritized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accessibility.</a:t>
            </a:r>
            <a:endParaRPr sz="1100">
              <a:latin typeface="Times New Roman"/>
              <a:cs typeface="Times New Roman"/>
            </a:endParaRPr>
          </a:p>
          <a:p>
            <a:pPr marL="760730" marR="5080" lvl="1" indent="-222885" algn="just">
              <a:lnSpc>
                <a:spcPct val="111800"/>
              </a:lnSpc>
              <a:spcBef>
                <a:spcPts val="85"/>
              </a:spcBef>
              <a:buFont typeface="Symbol"/>
              <a:buChar char=""/>
              <a:tabLst>
                <a:tab pos="760730" algn="l"/>
              </a:tabLst>
            </a:pPr>
            <a:r>
              <a:rPr sz="1100" b="1" dirty="0">
                <a:latin typeface="Times New Roman"/>
                <a:cs typeface="Times New Roman"/>
              </a:rPr>
              <a:t>Example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“Web-Based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IDEs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for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Education”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(ACM,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2020)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Replit’s </a:t>
            </a:r>
            <a:r>
              <a:rPr sz="1100" dirty="0">
                <a:latin typeface="Times New Roman"/>
                <a:cs typeface="Times New Roman"/>
              </a:rPr>
              <a:t>limitations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security.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22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1647"/>
            <a:ext cx="5323840" cy="76720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1" dirty="0">
                <a:latin typeface="Times New Roman"/>
                <a:cs typeface="Times New Roman"/>
              </a:rPr>
              <a:t>Notable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studies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relevant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collaborative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Times New Roman"/>
              <a:cs typeface="Times New Roman"/>
            </a:endParaRPr>
          </a:p>
          <a:p>
            <a:pPr marL="234950" marR="5715" indent="-222885">
              <a:lnSpc>
                <a:spcPct val="112700"/>
              </a:lnSpc>
              <a:buFont typeface="Times New Roman"/>
              <a:buAutoNum type="arabicPeriod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“Operational</a:t>
            </a:r>
            <a:r>
              <a:rPr sz="1100" b="1" spc="2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Transformation</a:t>
            </a:r>
            <a:r>
              <a:rPr sz="1100" b="1" spc="254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2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2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Collaborative</a:t>
            </a:r>
            <a:r>
              <a:rPr sz="1100" b="1" spc="2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Systems”</a:t>
            </a:r>
            <a:r>
              <a:rPr sz="1100" b="1" spc="2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(Datta</a:t>
            </a:r>
            <a:r>
              <a:rPr sz="1100" b="1" spc="2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et</a:t>
            </a:r>
            <a:r>
              <a:rPr sz="1100" b="1" spc="24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al., </a:t>
            </a:r>
            <a:r>
              <a:rPr sz="1100" b="1" dirty="0">
                <a:latin typeface="Times New Roman"/>
                <a:cs typeface="Times New Roman"/>
              </a:rPr>
              <a:t>ACM,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2020)</a:t>
            </a:r>
            <a:endParaRPr sz="1100">
              <a:latin typeface="Times New Roman"/>
              <a:cs typeface="Times New Roman"/>
            </a:endParaRPr>
          </a:p>
          <a:p>
            <a:pPr marL="902335" marR="5715" lvl="1" indent="-222885">
              <a:lnSpc>
                <a:spcPct val="111800"/>
              </a:lnSpc>
              <a:spcBef>
                <a:spcPts val="85"/>
              </a:spcBef>
              <a:buFont typeface="Symbol"/>
              <a:buChar char=""/>
              <a:tabLst>
                <a:tab pos="902335" algn="l"/>
              </a:tabLst>
            </a:pPr>
            <a:r>
              <a:rPr sz="1100" i="1" dirty="0">
                <a:latin typeface="Times New Roman"/>
                <a:cs typeface="Times New Roman"/>
              </a:rPr>
              <a:t>Contribution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Frameworks</a:t>
            </a:r>
            <a:r>
              <a:rPr sz="1100" spc="1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3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resolving</a:t>
            </a:r>
            <a:r>
              <a:rPr sz="1100" spc="13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edit</a:t>
            </a:r>
            <a:r>
              <a:rPr sz="1100" spc="1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conflicts</a:t>
            </a:r>
            <a:r>
              <a:rPr sz="1100" spc="1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30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collaborative environments.</a:t>
            </a:r>
            <a:endParaRPr sz="110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902335" algn="l"/>
              </a:tabLst>
            </a:pPr>
            <a:r>
              <a:rPr sz="1100" i="1" dirty="0">
                <a:latin typeface="Times New Roman"/>
                <a:cs typeface="Times New Roman"/>
              </a:rPr>
              <a:t>Gap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code-specific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validation).</a:t>
            </a:r>
            <a:endParaRPr sz="1100">
              <a:latin typeface="Times New Roman"/>
              <a:cs typeface="Times New Roman"/>
            </a:endParaRPr>
          </a:p>
          <a:p>
            <a:pPr marL="234950" marR="6985" indent="-222885">
              <a:lnSpc>
                <a:spcPct val="112700"/>
              </a:lnSpc>
              <a:buFont typeface="Times New Roman"/>
              <a:buAutoNum type="arabicPeriod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“WebSocket</a:t>
            </a:r>
            <a:r>
              <a:rPr sz="1100" b="1" spc="3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Performance</a:t>
            </a:r>
            <a:r>
              <a:rPr sz="1100" b="1" spc="3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for</a:t>
            </a:r>
            <a:r>
              <a:rPr sz="1100" b="1" spc="3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3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Applications”</a:t>
            </a:r>
            <a:r>
              <a:rPr sz="1100" b="1" spc="3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(Khan</a:t>
            </a:r>
            <a:r>
              <a:rPr sz="1100" b="1" spc="3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&amp;</a:t>
            </a:r>
            <a:r>
              <a:rPr sz="1100" b="1" spc="3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Wong,</a:t>
            </a:r>
            <a:r>
              <a:rPr sz="1100" b="1" spc="3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IJWE, 2021)</a:t>
            </a:r>
            <a:endParaRPr sz="1100">
              <a:latin typeface="Times New Roman"/>
              <a:cs typeface="Times New Roman"/>
            </a:endParaRPr>
          </a:p>
          <a:p>
            <a:pPr marL="902335" marR="5715" lvl="1" indent="-222885">
              <a:lnSpc>
                <a:spcPct val="112700"/>
              </a:lnSpc>
              <a:spcBef>
                <a:spcPts val="60"/>
              </a:spcBef>
              <a:buFont typeface="Symbol"/>
              <a:buChar char=""/>
              <a:tabLst>
                <a:tab pos="902335" algn="l"/>
              </a:tabLst>
            </a:pPr>
            <a:r>
              <a:rPr sz="1100" i="1" dirty="0">
                <a:latin typeface="Times New Roman"/>
                <a:cs typeface="Times New Roman"/>
              </a:rPr>
              <a:t>Contribution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5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Benchmarked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thresholds</a:t>
            </a:r>
            <a:r>
              <a:rPr sz="1100" spc="15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(&lt;500ms)</a:t>
            </a:r>
            <a:r>
              <a:rPr sz="1100" spc="16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seamless collaboration.</a:t>
            </a:r>
            <a:endParaRPr sz="110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902335" algn="l"/>
              </a:tabLst>
            </a:pPr>
            <a:r>
              <a:rPr sz="1100" i="1" dirty="0">
                <a:latin typeface="Times New Roman"/>
                <a:cs typeface="Times New Roman"/>
              </a:rPr>
              <a:t>Gap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engines.</a:t>
            </a: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155"/>
              </a:spcBef>
              <a:buFont typeface="Times New Roman"/>
              <a:buAutoNum type="arabicPeriod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“Building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Collaborative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Editors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with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CRDTs”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(de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León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et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al.,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ACM,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2019)</a:t>
            </a:r>
            <a:endParaRPr sz="110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902335" algn="l"/>
              </a:tabLst>
            </a:pPr>
            <a:r>
              <a:rPr sz="1100" i="1" dirty="0">
                <a:latin typeface="Times New Roman"/>
                <a:cs typeface="Times New Roman"/>
              </a:rPr>
              <a:t>Contribution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CRDT-based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consistency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coding.</a:t>
            </a:r>
            <a:endParaRPr sz="110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240"/>
              </a:spcBef>
              <a:buFont typeface="Symbol"/>
              <a:buChar char=""/>
              <a:tabLst>
                <a:tab pos="902335" algn="l"/>
              </a:tabLst>
            </a:pPr>
            <a:r>
              <a:rPr sz="1100" i="1" dirty="0">
                <a:latin typeface="Times New Roman"/>
                <a:cs typeface="Times New Roman"/>
              </a:rPr>
              <a:t>Gap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Heavyweight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implementations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unsuitable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tools.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12700"/>
              </a:lnSpc>
            </a:pP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studies,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offering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theoretical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foundations,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lacked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practical,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lightweight </a:t>
            </a:r>
            <a:r>
              <a:rPr sz="1100" dirty="0">
                <a:latin typeface="Times New Roman"/>
                <a:cs typeface="Times New Roman"/>
              </a:rPr>
              <a:t>implementations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suitable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immediate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Emerging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Trends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&amp;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Citation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Impact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>
              <a:latin typeface="Times New Roman"/>
              <a:cs typeface="Times New Roman"/>
            </a:endParaRPr>
          </a:p>
          <a:p>
            <a:pPr marL="455930" marR="5715" indent="-221615" algn="just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Rise</a:t>
            </a:r>
            <a:r>
              <a:rPr sz="1100" b="1" spc="3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3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WebSocket-Based</a:t>
            </a:r>
            <a:r>
              <a:rPr sz="1100" b="1" spc="3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Tools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Citations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WebSocket-related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studies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grew 	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120%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(2018–2023),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reflecting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industry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low-latency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  <a:p>
            <a:pPr marL="455930" marR="5080" indent="-221615" algn="just">
              <a:lnSpc>
                <a:spcPct val="111800"/>
              </a:lnSpc>
              <a:spcBef>
                <a:spcPts val="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Shift</a:t>
            </a:r>
            <a:r>
              <a:rPr sz="1100" b="1" spc="160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Toward</a:t>
            </a:r>
            <a:r>
              <a:rPr sz="1100" b="1" spc="165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Modular</a:t>
            </a:r>
            <a:r>
              <a:rPr sz="1100" b="1" spc="170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Architectures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6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Post-2020,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65%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7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papers</a:t>
            </a:r>
            <a:r>
              <a:rPr sz="1100" spc="155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advocated 	</a:t>
            </a:r>
            <a:r>
              <a:rPr sz="1100" dirty="0">
                <a:latin typeface="Times New Roman"/>
                <a:cs typeface="Times New Roman"/>
              </a:rPr>
              <a:t>decoupled</a:t>
            </a:r>
            <a:r>
              <a:rPr sz="1100" spc="4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4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4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4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1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CodeMirror</a:t>
            </a:r>
            <a:r>
              <a:rPr sz="1100" spc="11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editing)</a:t>
            </a:r>
            <a:r>
              <a:rPr sz="1100" spc="484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over 	</a:t>
            </a:r>
            <a:r>
              <a:rPr sz="1100" dirty="0">
                <a:latin typeface="Times New Roman"/>
                <a:cs typeface="Times New Roman"/>
              </a:rPr>
              <a:t>monolithic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IDEs.</a:t>
            </a:r>
            <a:endParaRPr sz="1100">
              <a:latin typeface="Times New Roman"/>
              <a:cs typeface="Times New Roman"/>
            </a:endParaRPr>
          </a:p>
          <a:p>
            <a:pPr marL="456565" indent="-221615" algn="just">
              <a:lnSpc>
                <a:spcPct val="100000"/>
              </a:lnSpc>
              <a:spcBef>
                <a:spcPts val="165"/>
              </a:spcBef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Neglected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Areas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902335" marR="5715" lvl="1" indent="-222885" algn="just">
              <a:lnSpc>
                <a:spcPct val="111800"/>
              </a:lnSpc>
              <a:spcBef>
                <a:spcPts val="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b="1" dirty="0">
                <a:latin typeface="Times New Roman"/>
                <a:cs typeface="Times New Roman"/>
              </a:rPr>
              <a:t>Dark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Mode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&amp;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Accessibility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5%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studies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customization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comfort.</a:t>
            </a:r>
            <a:endParaRPr sz="1100">
              <a:latin typeface="Times New Roman"/>
              <a:cs typeface="Times New Roman"/>
            </a:endParaRPr>
          </a:p>
          <a:p>
            <a:pPr marL="902335" marR="6985" lvl="1" indent="-222885" algn="just">
              <a:lnSpc>
                <a:spcPct val="111800"/>
              </a:lnSpc>
              <a:spcBef>
                <a:spcPts val="10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b="1" dirty="0">
                <a:latin typeface="Times New Roman"/>
                <a:cs typeface="Times New Roman"/>
              </a:rPr>
              <a:t>Voice/Video</a:t>
            </a:r>
            <a:r>
              <a:rPr sz="1100" b="1" spc="409" dirty="0">
                <a:latin typeface="Times New Roman"/>
                <a:cs typeface="Times New Roman"/>
              </a:rPr>
              <a:t>   </a:t>
            </a:r>
            <a:r>
              <a:rPr sz="1100" b="1" dirty="0">
                <a:latin typeface="Times New Roman"/>
                <a:cs typeface="Times New Roman"/>
              </a:rPr>
              <a:t>Integration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&lt;2%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explored</a:t>
            </a:r>
            <a:r>
              <a:rPr sz="1100" spc="405" dirty="0">
                <a:latin typeface="Times New Roman"/>
                <a:cs typeface="Times New Roman"/>
              </a:rPr>
              <a:t>   </a:t>
            </a:r>
            <a:r>
              <a:rPr sz="1100" dirty="0">
                <a:latin typeface="Times New Roman"/>
                <a:cs typeface="Times New Roman"/>
              </a:rPr>
              <a:t>WebRTC</a:t>
            </a:r>
            <a:r>
              <a:rPr sz="1100" spc="415" dirty="0">
                <a:latin typeface="Times New Roman"/>
                <a:cs typeface="Times New Roman"/>
              </a:rPr>
              <a:t>  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5" dirty="0">
                <a:latin typeface="Times New Roman"/>
                <a:cs typeface="Times New Roman"/>
              </a:rPr>
              <a:t>   </a:t>
            </a:r>
            <a:r>
              <a:rPr sz="1100" dirty="0">
                <a:latin typeface="Times New Roman"/>
                <a:cs typeface="Times New Roman"/>
              </a:rPr>
              <a:t>in-</a:t>
            </a:r>
            <a:r>
              <a:rPr sz="1100" spc="-25" dirty="0">
                <a:latin typeface="Times New Roman"/>
                <a:cs typeface="Times New Roman"/>
              </a:rPr>
              <a:t>app </a:t>
            </a:r>
            <a:r>
              <a:rPr sz="1100" dirty="0">
                <a:latin typeface="Times New Roman"/>
                <a:cs typeface="Times New Roman"/>
              </a:rPr>
              <a:t>communication,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despite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demand.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60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Critical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Insight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12300"/>
              </a:lnSpc>
            </a:pP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foundational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studies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theories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conflict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resolution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(OT/CRDTs)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40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40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(Judge0),</a:t>
            </a:r>
            <a:r>
              <a:rPr sz="1100" spc="40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they</a:t>
            </a:r>
            <a:r>
              <a:rPr sz="1100" spc="40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often</a:t>
            </a:r>
            <a:r>
              <a:rPr sz="1100" spc="39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neglect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practical,</a:t>
            </a:r>
            <a:r>
              <a:rPr sz="1100" b="1" spc="405" dirty="0">
                <a:latin typeface="Times New Roman"/>
                <a:cs typeface="Times New Roman"/>
              </a:rPr>
              <a:t>  </a:t>
            </a:r>
            <a:r>
              <a:rPr sz="1100" b="1" dirty="0">
                <a:latin typeface="Times New Roman"/>
                <a:cs typeface="Times New Roman"/>
              </a:rPr>
              <a:t>unified</a:t>
            </a:r>
            <a:r>
              <a:rPr sz="1100" b="1" spc="400" dirty="0">
                <a:latin typeface="Times New Roman"/>
                <a:cs typeface="Times New Roman"/>
              </a:rPr>
              <a:t>  </a:t>
            </a:r>
            <a:r>
              <a:rPr sz="1100" b="1" spc="-10" dirty="0">
                <a:latin typeface="Times New Roman"/>
                <a:cs typeface="Times New Roman"/>
              </a:rPr>
              <a:t>implement- </a:t>
            </a:r>
            <a:r>
              <a:rPr sz="1100" b="1" dirty="0">
                <a:latin typeface="Times New Roman"/>
                <a:cs typeface="Times New Roman"/>
              </a:rPr>
              <a:t>tations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Codemate AI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bridges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gap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combining: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sub-500ms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sync.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40+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Browser-Native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Accessibility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installations,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cross-device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compatibility.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23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14230"/>
            <a:ext cx="5323840" cy="6988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715" indent="-6350" algn="just">
              <a:lnSpc>
                <a:spcPct val="10680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bibliometric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underscores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relevance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novelty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—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platform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lightweight,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accessible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format.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2.4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Review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Summary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5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6800"/>
              </a:lnSpc>
            </a:pPr>
            <a:r>
              <a:rPr sz="1100" dirty="0">
                <a:latin typeface="Times New Roman"/>
                <a:cs typeface="Times New Roman"/>
              </a:rPr>
              <a:t>Despite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growing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demand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434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collaborative</a:t>
            </a:r>
            <a:r>
              <a:rPr sz="1100" b="1" spc="42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code </a:t>
            </a:r>
            <a:r>
              <a:rPr sz="1100" b="1" dirty="0">
                <a:latin typeface="Times New Roman"/>
                <a:cs typeface="Times New Roman"/>
              </a:rPr>
              <a:t>editors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broad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browser-native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accessibility </a:t>
            </a:r>
            <a:r>
              <a:rPr sz="1100" dirty="0">
                <a:latin typeface="Times New Roman"/>
                <a:cs typeface="Times New Roman"/>
              </a:rPr>
              <a:t>remain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scarce.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hindered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limitations: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marR="5715" indent="-222885">
              <a:lnSpc>
                <a:spcPct val="1127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IDE</a:t>
            </a:r>
            <a:r>
              <a:rPr sz="1100" b="1" spc="4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Dependencies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Platforms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VS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</a:t>
            </a:r>
            <a:r>
              <a:rPr sz="1100" spc="4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heavyweight </a:t>
            </a:r>
            <a:r>
              <a:rPr sz="1100" dirty="0">
                <a:latin typeface="Times New Roman"/>
                <a:cs typeface="Times New Roman"/>
              </a:rPr>
              <a:t>installations,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excluding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non-technical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users.</a:t>
            </a:r>
            <a:endParaRPr sz="1100">
              <a:latin typeface="Times New Roman"/>
              <a:cs typeface="Times New Roman"/>
            </a:endParaRPr>
          </a:p>
          <a:p>
            <a:pPr marL="457200" marR="6985" indent="-222885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Scalability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Issues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Replit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struggle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(&gt;700ms)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under </a:t>
            </a:r>
            <a:r>
              <a:rPr sz="1100" dirty="0">
                <a:latin typeface="Times New Roman"/>
                <a:cs typeface="Times New Roman"/>
              </a:rPr>
              <a:t>multi-user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loads.</a:t>
            </a:r>
            <a:endParaRPr sz="1100">
              <a:latin typeface="Times New Roman"/>
              <a:cs typeface="Times New Roman"/>
            </a:endParaRPr>
          </a:p>
          <a:p>
            <a:pPr marL="457200" marR="5080" indent="-222885">
              <a:lnSpc>
                <a:spcPts val="1490"/>
              </a:lnSpc>
              <a:spcBef>
                <a:spcPts val="6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1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Restrictions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Google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Colab)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confined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single-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ecosystems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Python).</a:t>
            </a:r>
            <a:endParaRPr sz="1100">
              <a:latin typeface="Times New Roman"/>
              <a:cs typeface="Times New Roman"/>
            </a:endParaRPr>
          </a:p>
          <a:p>
            <a:pPr marL="457200" marR="6350" indent="-222885">
              <a:lnSpc>
                <a:spcPts val="1460"/>
              </a:lnSpc>
              <a:spcBef>
                <a:spcPts val="20"/>
              </a:spcBef>
              <a:buSzPct val="86363"/>
              <a:buFont typeface="Symbol"/>
              <a:buChar char=""/>
              <a:tabLst>
                <a:tab pos="457200" algn="l"/>
                <a:tab pos="1778000" algn="l"/>
                <a:tab pos="2292985" algn="l"/>
                <a:tab pos="2698750" algn="l"/>
                <a:tab pos="3356610" algn="l"/>
                <a:tab pos="3877945" algn="l"/>
                <a:tab pos="4308475" algn="l"/>
                <a:tab pos="5020310" algn="l"/>
              </a:tabLst>
            </a:pPr>
            <a:r>
              <a:rPr sz="1100" b="1" dirty="0">
                <a:latin typeface="Times New Roman"/>
                <a:cs typeface="Times New Roman"/>
              </a:rPr>
              <a:t>Security-</a:t>
            </a:r>
            <a:r>
              <a:rPr sz="1100" b="1" spc="-10" dirty="0">
                <a:latin typeface="Times New Roman"/>
                <a:cs typeface="Times New Roman"/>
              </a:rPr>
              <a:t>Execution</a:t>
            </a:r>
            <a:r>
              <a:rPr sz="1100" b="1" dirty="0">
                <a:latin typeface="Times New Roman"/>
                <a:cs typeface="Times New Roman"/>
              </a:rPr>
              <a:t>	</a:t>
            </a:r>
            <a:r>
              <a:rPr sz="1100" b="1" spc="-20" dirty="0">
                <a:latin typeface="Times New Roman"/>
                <a:cs typeface="Times New Roman"/>
              </a:rPr>
              <a:t>Gaps</a:t>
            </a:r>
            <a:r>
              <a:rPr sz="1100" spc="-20" dirty="0">
                <a:latin typeface="Times New Roman"/>
                <a:cs typeface="Times New Roman"/>
              </a:rPr>
              <a:t>: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Few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integrate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secure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0" dirty="0">
                <a:latin typeface="Times New Roman"/>
                <a:cs typeface="Times New Roman"/>
              </a:rPr>
              <a:t>code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execution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(e.g., </a:t>
            </a:r>
            <a:r>
              <a:rPr sz="1100" dirty="0">
                <a:latin typeface="Times New Roman"/>
                <a:cs typeface="Times New Roman"/>
              </a:rPr>
              <a:t>Docker/Judge0)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6800"/>
              </a:lnSpc>
            </a:pP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academic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research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prioritizes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document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Google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Docs-style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text </a:t>
            </a:r>
            <a:r>
              <a:rPr sz="1100" dirty="0">
                <a:latin typeface="Times New Roman"/>
                <a:cs typeface="Times New Roman"/>
              </a:rPr>
              <a:t>editing)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theoretical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OT/CRDTs),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leaving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practical,</a:t>
            </a:r>
            <a:r>
              <a:rPr sz="1100" b="1" spc="1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multi- </a:t>
            </a: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environments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underexplored.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Times New Roman"/>
              <a:cs typeface="Times New Roman"/>
            </a:endParaRPr>
          </a:p>
          <a:p>
            <a:pPr marL="18415" marR="6985" indent="-6350" algn="just">
              <a:lnSpc>
                <a:spcPct val="1073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bridges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gaps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synthesizing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unified platform: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marR="5715" indent="-222885">
              <a:lnSpc>
                <a:spcPct val="1127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Browser-Native</a:t>
            </a:r>
            <a:r>
              <a:rPr sz="1100" b="1" spc="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Access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React.js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Node.js,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installations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expertise.</a:t>
            </a:r>
            <a:endParaRPr sz="1100">
              <a:latin typeface="Times New Roman"/>
              <a:cs typeface="Times New Roman"/>
            </a:endParaRPr>
          </a:p>
          <a:p>
            <a:pPr marL="457200" marR="5080" indent="-222885">
              <a:lnSpc>
                <a:spcPct val="111800"/>
              </a:lnSpc>
              <a:spcBef>
                <a:spcPts val="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Low-Latency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Sync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sub-500ms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20+</a:t>
            </a:r>
            <a:r>
              <a:rPr sz="1100" spc="-10" dirty="0">
                <a:latin typeface="Times New Roman"/>
                <a:cs typeface="Times New Roman"/>
              </a:rPr>
              <a:t> concurrent users.</a:t>
            </a:r>
            <a:endParaRPr sz="1100">
              <a:latin typeface="Times New Roman"/>
              <a:cs typeface="Times New Roman"/>
            </a:endParaRPr>
          </a:p>
          <a:p>
            <a:pPr marL="457200" marR="5715" indent="-222885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2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Support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CodeMirror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(syntax)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(execution)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enable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457200" marR="6350" indent="-222885">
              <a:lnSpc>
                <a:spcPct val="1127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Secure</a:t>
            </a:r>
            <a:r>
              <a:rPr sz="1100" b="1" spc="1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Docker/Judge0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sandboxing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isolates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compromising speed.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7300"/>
              </a:lnSpc>
              <a:spcBef>
                <a:spcPts val="5"/>
              </a:spcBef>
            </a:pP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bridges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this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gap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cutting-edge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(React.js,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Node.js, </a:t>
            </a:r>
            <a:r>
              <a:rPr sz="1100" dirty="0">
                <a:latin typeface="Times New Roman"/>
                <a:cs typeface="Times New Roman"/>
              </a:rPr>
              <a:t>Socket.IO,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API)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practical,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real-world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aimed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developers,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educators, </a:t>
            </a:r>
            <a:r>
              <a:rPr sz="1100" dirty="0">
                <a:latin typeface="Times New Roman"/>
                <a:cs typeface="Times New Roman"/>
              </a:rPr>
              <a:t>interviewers,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students.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24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2135"/>
            <a:ext cx="5795010" cy="7878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dirty="0">
                <a:latin typeface="Times New Roman"/>
                <a:cs typeface="Times New Roman"/>
              </a:rPr>
              <a:t>2.5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Problem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Definition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075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rapidly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evolving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landscape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globally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software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become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 </a:t>
            </a:r>
            <a:r>
              <a:rPr sz="1100" dirty="0">
                <a:latin typeface="Times New Roman"/>
                <a:cs typeface="Times New Roman"/>
              </a:rPr>
              <a:t>essential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requirement.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However,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despite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advancements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cloud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technologies,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fall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diverse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accessible,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programming.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Problem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Statement: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100">
              <a:latin typeface="Times New Roman"/>
              <a:cs typeface="Times New Roman"/>
            </a:endParaRPr>
          </a:p>
          <a:p>
            <a:pPr marL="18415" marR="476884" indent="-6350" algn="just">
              <a:lnSpc>
                <a:spcPct val="106800"/>
              </a:lnSpc>
              <a:spcBef>
                <a:spcPts val="5"/>
              </a:spcBef>
            </a:pPr>
            <a:r>
              <a:rPr sz="1100" i="1" dirty="0">
                <a:latin typeface="Times New Roman"/>
                <a:cs typeface="Times New Roman"/>
              </a:rPr>
              <a:t>"Existing</a:t>
            </a:r>
            <a:r>
              <a:rPr sz="1100" i="1" spc="4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collaborative</a:t>
            </a:r>
            <a:r>
              <a:rPr sz="1100" i="1" spc="434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coding</a:t>
            </a:r>
            <a:r>
              <a:rPr sz="1100" i="1" spc="434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platforms</a:t>
            </a:r>
            <a:r>
              <a:rPr sz="1100" i="1" spc="4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fail</a:t>
            </a:r>
            <a:r>
              <a:rPr sz="1100" i="1" spc="434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to</a:t>
            </a:r>
            <a:r>
              <a:rPr sz="1100" i="1" spc="40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provide</a:t>
            </a:r>
            <a:r>
              <a:rPr sz="1100" i="1" spc="4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</a:t>
            </a:r>
            <a:r>
              <a:rPr sz="1100" i="1" spc="434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lightweight,</a:t>
            </a:r>
            <a:r>
              <a:rPr sz="1100" i="1" spc="4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browser-</a:t>
            </a:r>
            <a:r>
              <a:rPr sz="1100" i="1" spc="-10" dirty="0">
                <a:latin typeface="Times New Roman"/>
                <a:cs typeface="Times New Roman"/>
              </a:rPr>
              <a:t>based </a:t>
            </a:r>
            <a:r>
              <a:rPr sz="1100" i="1" dirty="0">
                <a:latin typeface="Times New Roman"/>
                <a:cs typeface="Times New Roman"/>
              </a:rPr>
              <a:t>environment</a:t>
            </a:r>
            <a:r>
              <a:rPr sz="1100" i="1" spc="20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that</a:t>
            </a:r>
            <a:r>
              <a:rPr sz="1100" i="1" spc="204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supports</a:t>
            </a:r>
            <a:r>
              <a:rPr sz="1100" i="1" spc="18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real-time</a:t>
            </a:r>
            <a:r>
              <a:rPr sz="1100" i="1" spc="18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editing,</a:t>
            </a:r>
            <a:r>
              <a:rPr sz="1100" i="1" spc="1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multi-language</a:t>
            </a:r>
            <a:r>
              <a:rPr sz="1100" i="1" spc="18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code</a:t>
            </a:r>
            <a:r>
              <a:rPr sz="1100" i="1" spc="18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compilation,</a:t>
            </a:r>
            <a:r>
              <a:rPr sz="1100" i="1" spc="19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and</a:t>
            </a:r>
            <a:r>
              <a:rPr sz="1100" i="1" spc="175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secure </a:t>
            </a:r>
            <a:r>
              <a:rPr sz="1100" i="1" dirty="0">
                <a:latin typeface="Times New Roman"/>
                <a:cs typeface="Times New Roman"/>
              </a:rPr>
              <a:t>execution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with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minimal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setup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effort."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identified: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Synchronization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delays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Limited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programming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support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platforms.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Complex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setups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(heavy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installations).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Absence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integrated,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secure,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hinder: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Remote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Teams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instant,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hurdles.</a:t>
            </a:r>
            <a:endParaRPr sz="1100">
              <a:latin typeface="Times New Roman"/>
              <a:cs typeface="Times New Roman"/>
            </a:endParaRPr>
          </a:p>
          <a:p>
            <a:pPr marL="457200" marR="478155" indent="-222885">
              <a:lnSpc>
                <a:spcPct val="1118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Educators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 Students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 live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demonstrations,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assignments,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reviews.</a:t>
            </a:r>
            <a:endParaRPr sz="1100">
              <a:latin typeface="Times New Roman"/>
              <a:cs typeface="Times New Roman"/>
            </a:endParaRPr>
          </a:p>
          <a:p>
            <a:pPr marL="457200" marR="476250" indent="-222885">
              <a:lnSpc>
                <a:spcPts val="1490"/>
              </a:lnSpc>
              <a:spcBef>
                <a:spcPts val="6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Organizations</a:t>
            </a:r>
            <a:r>
              <a:rPr sz="1100" b="1" spc="2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04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Interviewers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needing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quick,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assessments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local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setup.</a:t>
            </a:r>
            <a:endParaRPr sz="1100">
              <a:latin typeface="Times New Roman"/>
              <a:cs typeface="Times New Roman"/>
            </a:endParaRPr>
          </a:p>
          <a:p>
            <a:pPr marL="18415" marR="477520" indent="-6350" algn="just">
              <a:lnSpc>
                <a:spcPct val="107700"/>
              </a:lnSpc>
              <a:spcBef>
                <a:spcPts val="1150"/>
              </a:spcBef>
            </a:pPr>
            <a:r>
              <a:rPr sz="1100" dirty="0">
                <a:latin typeface="Times New Roman"/>
                <a:cs typeface="Times New Roman"/>
              </a:rPr>
              <a:t>Thus,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 is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compelling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addresses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these </a:t>
            </a:r>
            <a:r>
              <a:rPr sz="1100" dirty="0">
                <a:latin typeface="Times New Roman"/>
                <a:cs typeface="Times New Roman"/>
              </a:rPr>
              <a:t>pain</a:t>
            </a:r>
            <a:r>
              <a:rPr sz="1100" spc="21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points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2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integrated,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browser-native,</a:t>
            </a:r>
            <a:r>
              <a:rPr sz="1100" spc="2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multi-language,</a:t>
            </a:r>
            <a:r>
              <a:rPr sz="1100" spc="22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20" dirty="0">
                <a:latin typeface="Times New Roman"/>
                <a:cs typeface="Times New Roman"/>
              </a:rPr>
              <a:t>time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mechanisms.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2.6 Goals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/</a:t>
            </a:r>
            <a:r>
              <a:rPr sz="1250" b="1" spc="-10" dirty="0">
                <a:latin typeface="Times New Roman"/>
                <a:cs typeface="Times New Roman"/>
              </a:rPr>
              <a:t> Objectives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primary</a:t>
            </a:r>
            <a:r>
              <a:rPr sz="1150" b="1" spc="1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goals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Codemate AI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project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are: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50">
              <a:latin typeface="Times New Roman"/>
              <a:cs typeface="Times New Roman"/>
            </a:endParaRPr>
          </a:p>
          <a:p>
            <a:pPr marL="456565" indent="-221615">
              <a:lnSpc>
                <a:spcPct val="100000"/>
              </a:lnSpc>
              <a:buFont typeface="Times New Roman"/>
              <a:buAutoNum type="arabicPeriod"/>
              <a:tabLst>
                <a:tab pos="456565" algn="l"/>
              </a:tabLst>
            </a:pPr>
            <a:r>
              <a:rPr sz="1150" b="1" dirty="0">
                <a:latin typeface="Times New Roman"/>
                <a:cs typeface="Times New Roman"/>
              </a:rPr>
              <a:t>Design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and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Implement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Browser-Based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Collaborative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Code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Editor</a:t>
            </a:r>
            <a:endParaRPr sz="1150">
              <a:latin typeface="Times New Roman"/>
              <a:cs typeface="Times New Roman"/>
            </a:endParaRPr>
          </a:p>
          <a:p>
            <a:pPr marL="457200" marR="93345">
              <a:lnSpc>
                <a:spcPct val="111300"/>
              </a:lnSpc>
              <a:spcBef>
                <a:spcPts val="10"/>
              </a:spcBef>
            </a:pPr>
            <a:r>
              <a:rPr sz="1150" dirty="0">
                <a:latin typeface="Times New Roman"/>
                <a:cs typeface="Times New Roman"/>
              </a:rPr>
              <a:t>Develop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fully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web-based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platform that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users to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collaboratively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edit code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real </a:t>
            </a:r>
            <a:r>
              <a:rPr sz="1150" dirty="0">
                <a:latin typeface="Times New Roman"/>
                <a:cs typeface="Times New Roman"/>
              </a:rPr>
              <a:t>time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without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 need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additional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installations.</a:t>
            </a:r>
            <a:endParaRPr sz="1150">
              <a:latin typeface="Times New Roman"/>
              <a:cs typeface="Times New Roman"/>
            </a:endParaRPr>
          </a:p>
          <a:p>
            <a:pPr marL="456565" indent="-221615">
              <a:lnSpc>
                <a:spcPct val="100000"/>
              </a:lnSpc>
              <a:spcBef>
                <a:spcPts val="180"/>
              </a:spcBef>
              <a:buFont typeface="Times New Roman"/>
              <a:buAutoNum type="arabicPeriod" startAt="2"/>
              <a:tabLst>
                <a:tab pos="456565" algn="l"/>
              </a:tabLst>
            </a:pPr>
            <a:r>
              <a:rPr sz="1150" b="1" dirty="0">
                <a:latin typeface="Times New Roman"/>
                <a:cs typeface="Times New Roman"/>
              </a:rPr>
              <a:t>Integrate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Multi-Language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Compilation</a:t>
            </a:r>
            <a:r>
              <a:rPr sz="1150" b="1" spc="4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and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Execution</a:t>
            </a:r>
            <a:r>
              <a:rPr sz="1150" b="1" spc="4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Support</a:t>
            </a:r>
            <a:endParaRPr sz="1150">
              <a:latin typeface="Times New Roman"/>
              <a:cs typeface="Times New Roman"/>
            </a:endParaRPr>
          </a:p>
          <a:p>
            <a:pPr marL="457200" marR="436245">
              <a:lnSpc>
                <a:spcPts val="1550"/>
              </a:lnSpc>
              <a:spcBef>
                <a:spcPts val="65"/>
              </a:spcBef>
            </a:pPr>
            <a:r>
              <a:rPr sz="1150" dirty="0">
                <a:latin typeface="Times New Roman"/>
                <a:cs typeface="Times New Roman"/>
              </a:rPr>
              <a:t>Enable users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compile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execute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 across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multiple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programming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languages </a:t>
            </a:r>
            <a:r>
              <a:rPr sz="1150" dirty="0">
                <a:latin typeface="Times New Roman"/>
                <a:cs typeface="Times New Roman"/>
              </a:rPr>
              <a:t>seamlessly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by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leveraging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Judge0</a:t>
            </a:r>
            <a:r>
              <a:rPr sz="1150" b="1" spc="5" dirty="0">
                <a:latin typeface="Times New Roman"/>
                <a:cs typeface="Times New Roman"/>
              </a:rPr>
              <a:t> </a:t>
            </a:r>
            <a:r>
              <a:rPr sz="1150" b="1" spc="-20" dirty="0">
                <a:latin typeface="Times New Roman"/>
                <a:cs typeface="Times New Roman"/>
              </a:rPr>
              <a:t>API</a:t>
            </a:r>
            <a:r>
              <a:rPr sz="1150" spc="-20" dirty="0">
                <a:latin typeface="Times New Roman"/>
                <a:cs typeface="Times New Roman"/>
              </a:rPr>
              <a:t>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25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04748"/>
            <a:ext cx="5689600" cy="473075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56565" indent="-221615">
              <a:lnSpc>
                <a:spcPct val="100000"/>
              </a:lnSpc>
              <a:spcBef>
                <a:spcPts val="250"/>
              </a:spcBef>
              <a:buFont typeface="Times New Roman"/>
              <a:buAutoNum type="arabicPeriod" startAt="3"/>
              <a:tabLst>
                <a:tab pos="456565" algn="l"/>
              </a:tabLst>
            </a:pPr>
            <a:r>
              <a:rPr sz="1150" b="1" dirty="0">
                <a:latin typeface="Times New Roman"/>
                <a:cs typeface="Times New Roman"/>
              </a:rPr>
              <a:t>Minimize</a:t>
            </a:r>
            <a:r>
              <a:rPr sz="1150" b="1" spc="1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Setup</a:t>
            </a:r>
            <a:r>
              <a:rPr sz="1150" b="1" spc="2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Complexity</a:t>
            </a:r>
            <a:endParaRPr sz="1150">
              <a:latin typeface="Times New Roman"/>
              <a:cs typeface="Times New Roman"/>
            </a:endParaRPr>
          </a:p>
          <a:p>
            <a:pPr marL="457200" marR="124460">
              <a:lnSpc>
                <a:spcPts val="1550"/>
              </a:lnSpc>
              <a:spcBef>
                <a:spcPts val="65"/>
              </a:spcBef>
            </a:pPr>
            <a:r>
              <a:rPr sz="1150" dirty="0">
                <a:latin typeface="Times New Roman"/>
                <a:cs typeface="Times New Roman"/>
              </a:rPr>
              <a:t>Ensure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that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require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nothing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beyond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modern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web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browser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access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 </a:t>
            </a:r>
            <a:r>
              <a:rPr sz="1150" dirty="0">
                <a:latin typeface="Times New Roman"/>
                <a:cs typeface="Times New Roman"/>
              </a:rPr>
              <a:t>platform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effectively,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reducing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technical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barriers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entry.</a:t>
            </a:r>
            <a:endParaRPr sz="1150">
              <a:latin typeface="Times New Roman"/>
              <a:cs typeface="Times New Roman"/>
            </a:endParaRPr>
          </a:p>
          <a:p>
            <a:pPr marL="456565" indent="-221615">
              <a:lnSpc>
                <a:spcPct val="100000"/>
              </a:lnSpc>
              <a:spcBef>
                <a:spcPts val="90"/>
              </a:spcBef>
              <a:buFont typeface="Times New Roman"/>
              <a:buAutoNum type="arabicPeriod" startAt="4"/>
              <a:tabLst>
                <a:tab pos="456565" algn="l"/>
              </a:tabLst>
            </a:pPr>
            <a:r>
              <a:rPr sz="1150" b="1" dirty="0">
                <a:latin typeface="Times New Roman"/>
                <a:cs typeface="Times New Roman"/>
              </a:rPr>
              <a:t>Maintain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Low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Latency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and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High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Responsiveness</a:t>
            </a:r>
            <a:endParaRPr sz="1150">
              <a:latin typeface="Times New Roman"/>
              <a:cs typeface="Times New Roman"/>
            </a:endParaRPr>
          </a:p>
          <a:p>
            <a:pPr marL="457200" marR="5080">
              <a:lnSpc>
                <a:spcPts val="1550"/>
              </a:lnSpc>
              <a:spcBef>
                <a:spcPts val="65"/>
              </a:spcBef>
            </a:pPr>
            <a:r>
              <a:rPr sz="1150" dirty="0">
                <a:latin typeface="Times New Roman"/>
                <a:cs typeface="Times New Roman"/>
              </a:rPr>
              <a:t>Utilize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Socket.IO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efficient</a:t>
            </a:r>
            <a:r>
              <a:rPr sz="1150" spc="4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real-</a:t>
            </a:r>
            <a:r>
              <a:rPr sz="1150" dirty="0">
                <a:latin typeface="Times New Roman"/>
                <a:cs typeface="Times New Roman"/>
              </a:rPr>
              <a:t>time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synchronization,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aiming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sub-500ms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latency </a:t>
            </a:r>
            <a:r>
              <a:rPr sz="1150" dirty="0">
                <a:latin typeface="Times New Roman"/>
                <a:cs typeface="Times New Roman"/>
              </a:rPr>
              <a:t>even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across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geographically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distributed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users.</a:t>
            </a:r>
            <a:endParaRPr sz="1150">
              <a:latin typeface="Times New Roman"/>
              <a:cs typeface="Times New Roman"/>
            </a:endParaRPr>
          </a:p>
          <a:p>
            <a:pPr marL="456565" indent="-221615">
              <a:lnSpc>
                <a:spcPct val="100000"/>
              </a:lnSpc>
              <a:spcBef>
                <a:spcPts val="75"/>
              </a:spcBef>
              <a:buFont typeface="Times New Roman"/>
              <a:buAutoNum type="arabicPeriod" startAt="5"/>
              <a:tabLst>
                <a:tab pos="456565" algn="l"/>
              </a:tabLst>
            </a:pPr>
            <a:r>
              <a:rPr sz="1150" b="1" dirty="0">
                <a:latin typeface="Times New Roman"/>
                <a:cs typeface="Times New Roman"/>
              </a:rPr>
              <a:t>Provide</a:t>
            </a:r>
            <a:r>
              <a:rPr sz="1150" b="1" spc="3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Secure,</a:t>
            </a:r>
            <a:r>
              <a:rPr sz="1150" b="1" spc="2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Sandboxed</a:t>
            </a:r>
            <a:r>
              <a:rPr sz="1150" b="1" spc="4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Code</a:t>
            </a:r>
            <a:r>
              <a:rPr sz="1150" b="1" spc="50" dirty="0">
                <a:latin typeface="Times New Roman"/>
                <a:cs typeface="Times New Roman"/>
              </a:rPr>
              <a:t> </a:t>
            </a:r>
            <a:r>
              <a:rPr sz="1150" b="1" spc="-10" dirty="0">
                <a:latin typeface="Times New Roman"/>
                <a:cs typeface="Times New Roman"/>
              </a:rPr>
              <a:t>Execution</a:t>
            </a:r>
            <a:endParaRPr sz="1150">
              <a:latin typeface="Times New Roman"/>
              <a:cs typeface="Times New Roman"/>
            </a:endParaRPr>
          </a:p>
          <a:p>
            <a:pPr marL="457200" marR="61594">
              <a:lnSpc>
                <a:spcPct val="111300"/>
              </a:lnSpc>
              <a:spcBef>
                <a:spcPts val="20"/>
              </a:spcBef>
            </a:pPr>
            <a:r>
              <a:rPr sz="1150" dirty="0">
                <a:latin typeface="Times New Roman"/>
                <a:cs typeface="Times New Roman"/>
              </a:rPr>
              <a:t>Execute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user-submitted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isolated,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secure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environments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mitigate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security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risks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ensure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safe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operations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during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collaborative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sessions.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secondary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goals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Enhancing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Experience</a:t>
            </a:r>
            <a:endParaRPr sz="1100">
              <a:latin typeface="Times New Roman"/>
              <a:cs typeface="Times New Roman"/>
            </a:endParaRPr>
          </a:p>
          <a:p>
            <a:pPr marL="457200" marR="505459">
              <a:lnSpc>
                <a:spcPct val="112700"/>
              </a:lnSpc>
            </a:pPr>
            <a:r>
              <a:rPr sz="1100" dirty="0">
                <a:latin typeface="Times New Roman"/>
                <a:cs typeface="Times New Roman"/>
              </a:rPr>
              <a:t>Incorporate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user-friendly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avatars,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customizable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themes,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room-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engaging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environment.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4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Implementing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Scalable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Infrastructure</a:t>
            </a:r>
            <a:endParaRPr sz="1100">
              <a:latin typeface="Times New Roman"/>
              <a:cs typeface="Times New Roman"/>
            </a:endParaRPr>
          </a:p>
          <a:p>
            <a:pPr marL="457200" marR="447040">
              <a:lnSpc>
                <a:spcPct val="112700"/>
              </a:lnSpc>
            </a:pP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levels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concurrent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degradation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performance.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Ensuring</a:t>
            </a:r>
            <a:r>
              <a:rPr sz="1100" b="1" spc="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Cross-Platform</a:t>
            </a:r>
            <a:r>
              <a:rPr sz="1100" b="1" spc="8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Compatibility</a:t>
            </a:r>
            <a:endParaRPr sz="1100">
              <a:latin typeface="Times New Roman"/>
              <a:cs typeface="Times New Roman"/>
            </a:endParaRPr>
          </a:p>
          <a:p>
            <a:pPr marL="457200" marR="386080">
              <a:lnSpc>
                <a:spcPct val="111800"/>
              </a:lnSpc>
            </a:pPr>
            <a:r>
              <a:rPr sz="1100" dirty="0">
                <a:latin typeface="Times New Roman"/>
                <a:cs typeface="Times New Roman"/>
              </a:rPr>
              <a:t>Make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desktops,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tablets,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smartphones,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design.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371475" algn="just">
              <a:lnSpc>
                <a:spcPct val="107300"/>
              </a:lnSpc>
            </a:pPr>
            <a:r>
              <a:rPr sz="1100" dirty="0">
                <a:latin typeface="Times New Roman"/>
                <a:cs typeface="Times New Roman"/>
              </a:rPr>
              <a:t>Ultimately,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aspires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make</a:t>
            </a:r>
            <a:r>
              <a:rPr sz="1100" b="1" spc="4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collaborative</a:t>
            </a:r>
            <a:r>
              <a:rPr sz="1100" b="1" spc="4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b="1" spc="4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as</a:t>
            </a:r>
            <a:r>
              <a:rPr sz="1100" b="1" spc="3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intuitive,</a:t>
            </a:r>
            <a:r>
              <a:rPr sz="1100" b="1" spc="4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fast,</a:t>
            </a:r>
            <a:r>
              <a:rPr sz="1100" b="1" spc="405" dirty="0">
                <a:latin typeface="Times New Roman"/>
                <a:cs typeface="Times New Roman"/>
              </a:rPr>
              <a:t> </a:t>
            </a:r>
            <a:r>
              <a:rPr sz="1100" b="1" spc="-25" dirty="0">
                <a:latin typeface="Times New Roman"/>
                <a:cs typeface="Times New Roman"/>
              </a:rPr>
              <a:t>and </a:t>
            </a:r>
            <a:r>
              <a:rPr sz="1100" b="1" dirty="0">
                <a:latin typeface="Times New Roman"/>
                <a:cs typeface="Times New Roman"/>
              </a:rPr>
              <a:t>accessible</a:t>
            </a:r>
            <a:r>
              <a:rPr sz="1100" b="1" spc="2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as</a:t>
            </a:r>
            <a:r>
              <a:rPr sz="1100" b="1" spc="2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collaborative</a:t>
            </a:r>
            <a:r>
              <a:rPr sz="1100" b="1" spc="2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document</a:t>
            </a:r>
            <a:r>
              <a:rPr sz="1100" b="1" spc="2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editing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transforming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into </a:t>
            </a:r>
            <a:r>
              <a:rPr sz="1100" dirty="0">
                <a:latin typeface="Times New Roman"/>
                <a:cs typeface="Times New Roman"/>
              </a:rPr>
              <a:t>frictionless,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interactive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developers,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students,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educators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alike.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26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19777"/>
            <a:ext cx="5324475" cy="7972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72819" algn="ctr">
              <a:lnSpc>
                <a:spcPct val="100000"/>
              </a:lnSpc>
              <a:spcBef>
                <a:spcPts val="110"/>
              </a:spcBef>
            </a:pPr>
            <a:r>
              <a:rPr sz="1450" b="1" dirty="0">
                <a:latin typeface="Times New Roman"/>
                <a:cs typeface="Times New Roman"/>
              </a:rPr>
              <a:t>CHAPTER</a:t>
            </a:r>
            <a:r>
              <a:rPr sz="1450" b="1" spc="-5" dirty="0">
                <a:latin typeface="Times New Roman"/>
                <a:cs typeface="Times New Roman"/>
              </a:rPr>
              <a:t> </a:t>
            </a:r>
            <a:r>
              <a:rPr sz="1450" b="1" spc="-50" dirty="0"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  <a:p>
            <a:pPr marL="975360" algn="ctr">
              <a:lnSpc>
                <a:spcPct val="100000"/>
              </a:lnSpc>
              <a:spcBef>
                <a:spcPts val="1595"/>
              </a:spcBef>
            </a:pPr>
            <a:r>
              <a:rPr sz="1450" b="1" dirty="0">
                <a:latin typeface="Times New Roman"/>
                <a:cs typeface="Times New Roman"/>
              </a:rPr>
              <a:t>DESIGN</a:t>
            </a:r>
            <a:r>
              <a:rPr sz="1450" b="1" spc="-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FLOW</a:t>
            </a:r>
            <a:r>
              <a:rPr sz="1450" b="1" spc="-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/</a:t>
            </a:r>
            <a:r>
              <a:rPr sz="1450" b="1" spc="10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PROCESS</a:t>
            </a:r>
            <a:endParaRPr sz="1450">
              <a:latin typeface="Times New Roman"/>
              <a:cs typeface="Times New Roman"/>
            </a:endParaRPr>
          </a:p>
          <a:p>
            <a:pPr marL="252095" lvl="1" indent="-239395">
              <a:lnSpc>
                <a:spcPct val="100000"/>
              </a:lnSpc>
              <a:spcBef>
                <a:spcPts val="1614"/>
              </a:spcBef>
              <a:buAutoNum type="arabicPeriod"/>
              <a:tabLst>
                <a:tab pos="252095" algn="l"/>
              </a:tabLst>
            </a:pPr>
            <a:r>
              <a:rPr sz="1250" b="1" dirty="0">
                <a:latin typeface="Times New Roman"/>
                <a:cs typeface="Times New Roman"/>
              </a:rPr>
              <a:t>Evaluation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Selection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Specifications /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Features</a:t>
            </a:r>
            <a:endParaRPr sz="12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5"/>
              </a:spcBef>
              <a:buFont typeface="Times New Roman"/>
              <a:buAutoNum type="arabicPeriod"/>
            </a:pPr>
            <a:endParaRPr sz="12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76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20" dirty="0">
                <a:latin typeface="Times New Roman"/>
                <a:cs typeface="Times New Roman"/>
              </a:rPr>
              <a:t>time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compiler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browser-accessible,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supports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languages.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goals,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specifications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carefully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selected: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Times New Roman"/>
              <a:cs typeface="Times New Roman"/>
            </a:endParaRPr>
          </a:p>
          <a:p>
            <a:pPr marL="408940" lvl="2" indent="-221615" algn="just">
              <a:lnSpc>
                <a:spcPct val="100000"/>
              </a:lnSpc>
              <a:buSzPct val="86363"/>
              <a:buFont typeface="Symbol"/>
              <a:buChar char=""/>
              <a:tabLst>
                <a:tab pos="408940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Synchronization</a:t>
            </a:r>
            <a:endParaRPr sz="1100">
              <a:latin typeface="Times New Roman"/>
              <a:cs typeface="Times New Roman"/>
            </a:endParaRPr>
          </a:p>
          <a:p>
            <a:pPr marL="410209" marR="29209" algn="just">
              <a:lnSpc>
                <a:spcPct val="145900"/>
              </a:lnSpc>
              <a:spcBef>
                <a:spcPts val="20"/>
              </a:spcBef>
            </a:pPr>
            <a:r>
              <a:rPr sz="1100" dirty="0">
                <a:latin typeface="Times New Roman"/>
                <a:cs typeface="Times New Roman"/>
              </a:rPr>
              <a:t>Real-time,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low-latency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inst- </a:t>
            </a:r>
            <a:r>
              <a:rPr sz="1100" dirty="0">
                <a:latin typeface="Times New Roman"/>
                <a:cs typeface="Times New Roman"/>
              </a:rPr>
              <a:t>ant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reflection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keystrokes,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within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room.</a:t>
            </a:r>
            <a:endParaRPr sz="1100">
              <a:latin typeface="Times New Roman"/>
              <a:cs typeface="Times New Roman"/>
            </a:endParaRPr>
          </a:p>
          <a:p>
            <a:pPr marL="408940" lvl="2" indent="-221615" algn="just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08940" algn="l"/>
              </a:tabLst>
            </a:pP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Execution</a:t>
            </a:r>
            <a:endParaRPr sz="1100">
              <a:latin typeface="Times New Roman"/>
              <a:cs typeface="Times New Roman"/>
            </a:endParaRPr>
          </a:p>
          <a:p>
            <a:pPr marL="410209" marR="83185">
              <a:lnSpc>
                <a:spcPct val="1459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flexibility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40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langua- </a:t>
            </a:r>
            <a:r>
              <a:rPr sz="1100" dirty="0">
                <a:latin typeface="Times New Roman"/>
                <a:cs typeface="Times New Roman"/>
              </a:rPr>
              <a:t>ges,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Python,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JavaScript,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C++,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Java.</a:t>
            </a:r>
            <a:endParaRPr sz="1100">
              <a:latin typeface="Times New Roman"/>
              <a:cs typeface="Times New Roman"/>
            </a:endParaRPr>
          </a:p>
          <a:p>
            <a:pPr marL="410209" lvl="2" indent="-222885">
              <a:lnSpc>
                <a:spcPct val="100000"/>
              </a:lnSpc>
              <a:spcBef>
                <a:spcPts val="620"/>
              </a:spcBef>
              <a:buSzPct val="86363"/>
              <a:buFont typeface="Symbol"/>
              <a:buChar char=""/>
              <a:tabLst>
                <a:tab pos="410209" algn="l"/>
              </a:tabLst>
            </a:pPr>
            <a:r>
              <a:rPr sz="1100" b="1" dirty="0">
                <a:latin typeface="Times New Roman"/>
                <a:cs typeface="Times New Roman"/>
              </a:rPr>
              <a:t>Frontend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Framework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–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React.js</a:t>
            </a:r>
            <a:endParaRPr sz="1100">
              <a:latin typeface="Times New Roman"/>
              <a:cs typeface="Times New Roman"/>
            </a:endParaRPr>
          </a:p>
          <a:p>
            <a:pPr marL="410209" marR="49530" algn="just">
              <a:lnSpc>
                <a:spcPct val="146400"/>
              </a:lnSpc>
            </a:pPr>
            <a:r>
              <a:rPr sz="1100" b="1" dirty="0">
                <a:latin typeface="Times New Roman"/>
                <a:cs typeface="Times New Roman"/>
              </a:rPr>
              <a:t>React.js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chosen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component-based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efficiency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dy- </a:t>
            </a:r>
            <a:r>
              <a:rPr sz="1100" dirty="0">
                <a:latin typeface="Times New Roman"/>
                <a:cs typeface="Times New Roman"/>
              </a:rPr>
              <a:t>namic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strong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community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res- </a:t>
            </a:r>
            <a:r>
              <a:rPr sz="1100" dirty="0">
                <a:latin typeface="Times New Roman"/>
                <a:cs typeface="Times New Roman"/>
              </a:rPr>
              <a:t>ponsive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user-friendly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interface.</a:t>
            </a:r>
            <a:endParaRPr sz="1100">
              <a:latin typeface="Times New Roman"/>
              <a:cs typeface="Times New Roman"/>
            </a:endParaRPr>
          </a:p>
          <a:p>
            <a:pPr marL="408940" lvl="2" indent="-221615" algn="just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08940" algn="l"/>
              </a:tabLst>
            </a:pP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Server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–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with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Express.js</a:t>
            </a:r>
            <a:endParaRPr sz="1100">
              <a:latin typeface="Times New Roman"/>
              <a:cs typeface="Times New Roman"/>
            </a:endParaRPr>
          </a:p>
          <a:p>
            <a:pPr marL="410209" marR="46990">
              <a:lnSpc>
                <a:spcPct val="146400"/>
              </a:lnSpc>
            </a:pP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Express.js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server-side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logic,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handle </a:t>
            </a:r>
            <a:r>
              <a:rPr sz="1100" dirty="0">
                <a:latin typeface="Times New Roman"/>
                <a:cs typeface="Times New Roman"/>
              </a:rPr>
              <a:t>REST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endpoints,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establish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efficiently,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ensuring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operations.</a:t>
            </a:r>
            <a:endParaRPr sz="1100">
              <a:latin typeface="Times New Roman"/>
              <a:cs typeface="Times New Roman"/>
            </a:endParaRPr>
          </a:p>
          <a:p>
            <a:pPr marL="410209" lvl="2" indent="-222885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10209" algn="l"/>
              </a:tabLst>
            </a:pP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Editor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Integration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–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CodeMirror</a:t>
            </a:r>
            <a:endParaRPr sz="1100">
              <a:latin typeface="Times New Roman"/>
              <a:cs typeface="Times New Roman"/>
            </a:endParaRPr>
          </a:p>
          <a:p>
            <a:pPr marL="410209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CodeMirror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providing</a:t>
            </a:r>
            <a:endParaRPr sz="1100">
              <a:latin typeface="Times New Roman"/>
              <a:cs typeface="Times New Roman"/>
            </a:endParaRPr>
          </a:p>
          <a:p>
            <a:pPr marL="410209" marR="111125">
              <a:lnSpc>
                <a:spcPct val="1464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essential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auto-indentation,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custo- </a:t>
            </a:r>
            <a:r>
              <a:rPr sz="1100" dirty="0">
                <a:latin typeface="Times New Roman"/>
                <a:cs typeface="Times New Roman"/>
              </a:rPr>
              <a:t>mizable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>
              <a:latin typeface="Times New Roman"/>
              <a:cs typeface="Times New Roman"/>
            </a:endParaRPr>
          </a:p>
          <a:p>
            <a:pPr marL="410209" lvl="2" indent="-222885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10209" algn="l"/>
              </a:tabLst>
            </a:pPr>
            <a:r>
              <a:rPr sz="1100" b="1" dirty="0">
                <a:latin typeface="Times New Roman"/>
                <a:cs typeface="Times New Roman"/>
              </a:rPr>
              <a:t>Room-Based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410209" marR="36195">
              <a:lnSpc>
                <a:spcPct val="145900"/>
              </a:lnSpc>
              <a:spcBef>
                <a:spcPts val="20"/>
              </a:spcBef>
            </a:pP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facilitated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Room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ID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or </a:t>
            </a:r>
            <a:r>
              <a:rPr sz="1100" dirty="0">
                <a:latin typeface="Times New Roman"/>
                <a:cs typeface="Times New Roman"/>
              </a:rPr>
              <a:t>join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authentication,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simplifying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participation.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27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324475" cy="783907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10209" indent="-222885">
              <a:lnSpc>
                <a:spcPct val="100000"/>
              </a:lnSpc>
              <a:spcBef>
                <a:spcPts val="695"/>
              </a:spcBef>
              <a:buSzPct val="86363"/>
              <a:buFont typeface="Symbol"/>
              <a:buChar char=""/>
              <a:tabLst>
                <a:tab pos="410209" algn="l"/>
              </a:tabLst>
            </a:pP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Interface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Enhancements</a:t>
            </a:r>
            <a:endParaRPr sz="1100">
              <a:latin typeface="Times New Roman"/>
              <a:cs typeface="Times New Roman"/>
            </a:endParaRPr>
          </a:p>
          <a:p>
            <a:pPr marL="410209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avatars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dynamic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theme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sel-</a:t>
            </a:r>
            <a:endParaRPr sz="1100">
              <a:latin typeface="Times New Roman"/>
              <a:cs typeface="Times New Roman"/>
            </a:endParaRPr>
          </a:p>
          <a:p>
            <a:pPr marL="410209" marR="146685">
              <a:lnSpc>
                <a:spcPct val="145500"/>
              </a:lnSpc>
              <a:spcBef>
                <a:spcPts val="25"/>
              </a:spcBef>
            </a:pPr>
            <a:r>
              <a:rPr sz="1100" b="1" dirty="0">
                <a:latin typeface="Times New Roman"/>
                <a:cs typeface="Times New Roman"/>
              </a:rPr>
              <a:t>ection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toast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notifications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intu- </a:t>
            </a:r>
            <a:r>
              <a:rPr sz="1100" dirty="0">
                <a:latin typeface="Times New Roman"/>
                <a:cs typeface="Times New Roman"/>
              </a:rPr>
              <a:t>itive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visually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engaging.</a:t>
            </a:r>
            <a:endParaRPr sz="1100">
              <a:latin typeface="Times New Roman"/>
              <a:cs typeface="Times New Roman"/>
            </a:endParaRPr>
          </a:p>
          <a:p>
            <a:pPr marL="410209" indent="-222885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10209" algn="l"/>
              </a:tabLst>
            </a:pPr>
            <a:r>
              <a:rPr sz="1100" b="1" dirty="0">
                <a:latin typeface="Times New Roman"/>
                <a:cs typeface="Times New Roman"/>
              </a:rPr>
              <a:t>Secure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Execution</a:t>
            </a:r>
            <a:endParaRPr sz="1100">
              <a:latin typeface="Times New Roman"/>
              <a:cs typeface="Times New Roman"/>
            </a:endParaRPr>
          </a:p>
          <a:p>
            <a:pPr marL="410209" marR="17399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sandboxed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containers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isolating </a:t>
            </a:r>
            <a:r>
              <a:rPr sz="1100" dirty="0">
                <a:latin typeface="Times New Roman"/>
                <a:cs typeface="Times New Roman"/>
              </a:rPr>
              <a:t>user-submitted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infrastructure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security threats.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7600"/>
              </a:lnSpc>
            </a:pP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driven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project's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delivering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1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performance</a:t>
            </a:r>
            <a:r>
              <a:rPr sz="1100" spc="-10" dirty="0">
                <a:latin typeface="Times New Roman"/>
                <a:cs typeface="Times New Roman"/>
              </a:rPr>
              <a:t>, </a:t>
            </a: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support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ease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of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minimal</a:t>
            </a:r>
            <a:r>
              <a:rPr sz="1100" b="1" spc="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setup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requirements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Collectively,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they </a:t>
            </a:r>
            <a:r>
              <a:rPr sz="1100" dirty="0">
                <a:latin typeface="Times New Roman"/>
                <a:cs typeface="Times New Roman"/>
              </a:rPr>
              <a:t>enabled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accessible,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collaborative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range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scenarios.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3.2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Design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Constraints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7700"/>
              </a:lnSpc>
            </a:pP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shaped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decisions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Codemate AI </a:t>
            </a:r>
            <a:r>
              <a:rPr sz="1100" dirty="0">
                <a:latin typeface="Times New Roman"/>
                <a:cs typeface="Times New Roman"/>
              </a:rPr>
              <a:t>platform.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limitations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carefully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considered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optimal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user </a:t>
            </a:r>
            <a:r>
              <a:rPr sz="1100" dirty="0">
                <a:latin typeface="Times New Roman"/>
                <a:cs typeface="Times New Roman"/>
              </a:rPr>
              <a:t>experience,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robustness: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Latency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Synchronization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Challenges</a:t>
            </a:r>
            <a:endParaRPr sz="1100">
              <a:latin typeface="Times New Roman"/>
              <a:cs typeface="Times New Roman"/>
            </a:endParaRPr>
          </a:p>
          <a:p>
            <a:pPr marL="457200" marR="8572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minimizing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message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propagation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ensure </a:t>
            </a:r>
            <a:r>
              <a:rPr sz="1100" dirty="0">
                <a:latin typeface="Times New Roman"/>
                <a:cs typeface="Times New Roman"/>
              </a:rPr>
              <a:t>smooth,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instantaneous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participants.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sub-500ms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latency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noticeable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desynchronization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coding sessions.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Rate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Limits</a:t>
            </a:r>
            <a:endParaRPr sz="1100">
              <a:latin typeface="Times New Roman"/>
              <a:cs typeface="Times New Roman"/>
            </a:endParaRPr>
          </a:p>
          <a:p>
            <a:pPr marL="457200" marR="50165">
              <a:lnSpc>
                <a:spcPct val="145900"/>
              </a:lnSpc>
              <a:spcBef>
                <a:spcPts val="20"/>
              </a:spcBef>
            </a:pP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external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execution,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frequency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volume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within </a:t>
            </a:r>
            <a:r>
              <a:rPr sz="1100" dirty="0">
                <a:latin typeface="Times New Roman"/>
                <a:cs typeface="Times New Roman"/>
              </a:rPr>
              <a:t>permissible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rate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still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responsiveness.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Cross-Platform</a:t>
            </a:r>
            <a:r>
              <a:rPr sz="1100" b="1" spc="1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Compatibility</a:t>
            </a:r>
            <a:endParaRPr sz="1100">
              <a:latin typeface="Times New Roman"/>
              <a:cs typeface="Times New Roman"/>
            </a:endParaRPr>
          </a:p>
          <a:p>
            <a:pPr marL="457200" marR="38100">
              <a:lnSpc>
                <a:spcPts val="193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(desk- </a:t>
            </a:r>
            <a:r>
              <a:rPr sz="1100" dirty="0">
                <a:latin typeface="Times New Roman"/>
                <a:cs typeface="Times New Roman"/>
              </a:rPr>
              <a:t>tops,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tablets,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smartphones)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(Chrome,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Firefox,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Safari,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Edge).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Ensuring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rendering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interaction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considerations.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45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Security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Considerations</a:t>
            </a:r>
            <a:endParaRPr sz="11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Since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arbitrary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san-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28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789295" cy="783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marR="488315" algn="just">
              <a:lnSpc>
                <a:spcPct val="1455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dboxing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mechanisms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isolate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protect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infr- </a:t>
            </a:r>
            <a:r>
              <a:rPr sz="1100" dirty="0">
                <a:latin typeface="Times New Roman"/>
                <a:cs typeface="Times New Roman"/>
              </a:rPr>
              <a:t>astructure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vulnerabilities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malicious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code.</a:t>
            </a:r>
            <a:endParaRPr sz="1100">
              <a:latin typeface="Times New Roman"/>
              <a:cs typeface="Times New Roman"/>
            </a:endParaRPr>
          </a:p>
          <a:p>
            <a:pPr marL="456565" indent="-221615" algn="just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Scalability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Limitations</a:t>
            </a:r>
            <a:endParaRPr sz="1100">
              <a:latin typeface="Times New Roman"/>
              <a:cs typeface="Times New Roman"/>
            </a:endParaRPr>
          </a:p>
          <a:p>
            <a:pPr marL="457200" marR="542925" algn="just">
              <a:lnSpc>
                <a:spcPts val="193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primarily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Node.js,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effi- </a:t>
            </a:r>
            <a:r>
              <a:rPr sz="1100" dirty="0">
                <a:latin typeface="Times New Roman"/>
                <a:cs typeface="Times New Roman"/>
              </a:rPr>
              <a:t>ciently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concurrent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number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participants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wit- </a:t>
            </a:r>
            <a:r>
              <a:rPr sz="1100" dirty="0">
                <a:latin typeface="Times New Roman"/>
                <a:cs typeface="Times New Roman"/>
              </a:rPr>
              <a:t>hout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bottlenecks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crashes.</a:t>
            </a:r>
            <a:endParaRPr sz="1100">
              <a:latin typeface="Times New Roman"/>
              <a:cs typeface="Times New Roman"/>
            </a:endParaRPr>
          </a:p>
          <a:p>
            <a:pPr marL="456565" indent="-221615" algn="just">
              <a:lnSpc>
                <a:spcPct val="100000"/>
              </a:lnSpc>
              <a:spcBef>
                <a:spcPts val="450"/>
              </a:spcBef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Management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Without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Full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Authentication</a:t>
            </a:r>
            <a:endParaRPr sz="1100">
              <a:latin typeface="Times New Roman"/>
              <a:cs typeface="Times New Roman"/>
            </a:endParaRPr>
          </a:p>
          <a:p>
            <a:pPr marL="457200" marR="49212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lower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barrier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entry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avoid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signup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authentication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processes,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adopted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simplified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room-based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identification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system.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needed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username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collaborate,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challenges</a:t>
            </a:r>
            <a:r>
              <a:rPr sz="1100" spc="50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related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uniqueness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management.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470534" algn="just">
              <a:lnSpc>
                <a:spcPct val="107300"/>
              </a:lnSpc>
            </a:pP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influenced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architecture,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optimization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strategies,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ultimately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shaping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user- </a:t>
            </a:r>
            <a:r>
              <a:rPr sz="1100" dirty="0">
                <a:latin typeface="Times New Roman"/>
                <a:cs typeface="Times New Roman"/>
              </a:rPr>
              <a:t>friendly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platform.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3.3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Analysis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Features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Finalization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Subject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to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Constraints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50">
              <a:latin typeface="Times New Roman"/>
              <a:cs typeface="Times New Roman"/>
            </a:endParaRPr>
          </a:p>
          <a:p>
            <a:pPr marL="18415" marR="470534" indent="-6350" algn="just">
              <a:lnSpc>
                <a:spcPct val="1073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careful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feature, </a:t>
            </a:r>
            <a:r>
              <a:rPr sz="1100" dirty="0">
                <a:latin typeface="Times New Roman"/>
                <a:cs typeface="Times New Roman"/>
              </a:rPr>
              <a:t>balancing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ideal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real-world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constraints.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trade-offs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project’s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goals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adhering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limitations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performance,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security.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WebSocket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Protocol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via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Socket.</a:t>
            </a:r>
            <a:endParaRPr sz="1100">
              <a:latin typeface="Times New Roman"/>
              <a:cs typeface="Times New Roman"/>
            </a:endParaRPr>
          </a:p>
          <a:p>
            <a:pPr marL="457200" marR="508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I/O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finalized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protocol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robust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bidirectional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event-based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preferred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raw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implementations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reliability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automatic </a:t>
            </a:r>
            <a:r>
              <a:rPr sz="1100" dirty="0">
                <a:latin typeface="Times New Roman"/>
                <a:cs typeface="Times New Roman"/>
              </a:rPr>
              <a:t>reconnection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Node.js.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addressed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extremely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(&lt;500ms)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editing sessions.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Editor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-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CodeMirror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457200" marR="9080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CodeMirror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available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because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superior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modular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extensive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customization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options.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provided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compatibility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requirement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switching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preferences.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29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99819" y="1248697"/>
            <a:ext cx="5588635" cy="8116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marR="196850">
              <a:lnSpc>
                <a:spcPct val="1455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React.js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smooth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across platforms.</a:t>
            </a: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Framework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-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Express.js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234950" marR="5080">
              <a:lnSpc>
                <a:spcPts val="193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Express.js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chosen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framework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minimalistic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non-</a:t>
            </a:r>
            <a:r>
              <a:rPr sz="1100" spc="-10" dirty="0">
                <a:latin typeface="Times New Roman"/>
                <a:cs typeface="Times New Roman"/>
              </a:rPr>
              <a:t>blocking </a:t>
            </a:r>
            <a:r>
              <a:rPr sz="1100" dirty="0">
                <a:latin typeface="Times New Roman"/>
                <a:cs typeface="Times New Roman"/>
              </a:rPr>
              <a:t>I/O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compatibility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allowed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routing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simultaneously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WebSocket-based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20" dirty="0">
                <a:latin typeface="Times New Roman"/>
                <a:cs typeface="Times New Roman"/>
              </a:rPr>
              <a:t>time </a:t>
            </a:r>
            <a:r>
              <a:rPr sz="1100" dirty="0">
                <a:latin typeface="Times New Roman"/>
                <a:cs typeface="Times New Roman"/>
              </a:rPr>
              <a:t>communication.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decision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server-side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scalability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simplicity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overcomplicating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structure.</a:t>
            </a: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440"/>
              </a:spcBef>
              <a:buSzPct val="86363"/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Dynamic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Switching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234950" marR="116205">
              <a:lnSpc>
                <a:spcPct val="1461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order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seamlessly,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switching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mapping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CodeMirror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Judge0's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IDs.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This </a:t>
            </a:r>
            <a:r>
              <a:rPr sz="1100" dirty="0">
                <a:latin typeface="Times New Roman"/>
                <a:cs typeface="Times New Roman"/>
              </a:rPr>
              <a:t>flexible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mapping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switch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 </a:t>
            </a:r>
            <a:r>
              <a:rPr sz="1100" dirty="0">
                <a:latin typeface="Times New Roman"/>
                <a:cs typeface="Times New Roman"/>
              </a:rPr>
              <a:t>instantly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reloading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resolved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fluid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versatile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Toast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Notification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System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234950" marR="27114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React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HotToast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toast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notifications,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immediate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feedback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or </a:t>
            </a:r>
            <a:r>
              <a:rPr sz="1100" dirty="0">
                <a:latin typeface="Times New Roman"/>
                <a:cs typeface="Times New Roman"/>
              </a:rPr>
              <a:t>receiving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outputs.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notification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user </a:t>
            </a:r>
            <a:r>
              <a:rPr sz="1100" dirty="0">
                <a:latin typeface="Times New Roman"/>
                <a:cs typeface="Times New Roman"/>
              </a:rPr>
              <a:t>interactivity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overloading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usability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by </a:t>
            </a:r>
            <a:r>
              <a:rPr sz="1100" dirty="0">
                <a:latin typeface="Times New Roman"/>
                <a:cs typeface="Times New Roman"/>
              </a:rPr>
              <a:t>improving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heavy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libraries.</a:t>
            </a: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Avatar-Based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Identification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234950" marR="52705">
              <a:lnSpc>
                <a:spcPct val="146100"/>
              </a:lnSpc>
            </a:pPr>
            <a:r>
              <a:rPr sz="1100" dirty="0">
                <a:latin typeface="Times New Roman"/>
                <a:cs typeface="Times New Roman"/>
              </a:rPr>
              <a:t>Instead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full-fledged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authentication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simplified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avatar-</a:t>
            </a:r>
            <a:r>
              <a:rPr sz="1100" spc="-10" dirty="0">
                <a:latin typeface="Times New Roman"/>
                <a:cs typeface="Times New Roman"/>
              </a:rPr>
              <a:t>based </a:t>
            </a:r>
            <a:r>
              <a:rPr sz="1100" dirty="0">
                <a:latin typeface="Times New Roman"/>
                <a:cs typeface="Times New Roman"/>
              </a:rPr>
              <a:t>identification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chosen.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Collaborators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differentiated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through </a:t>
            </a:r>
            <a:r>
              <a:rPr sz="1100" dirty="0">
                <a:latin typeface="Times New Roman"/>
                <a:cs typeface="Times New Roman"/>
              </a:rPr>
              <a:t>dynamically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assigned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color-coded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avatars.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reduced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entry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barriers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satisfying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constraint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complexity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still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maintaining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intuitive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recognize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participants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sessions.</a:t>
            </a: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Frontend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Framework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Selection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(React.js):</a:t>
            </a:r>
            <a:endParaRPr sz="1100">
              <a:latin typeface="Times New Roman"/>
              <a:cs typeface="Times New Roman"/>
            </a:endParaRPr>
          </a:p>
          <a:p>
            <a:pPr marL="234950" marR="132715">
              <a:lnSpc>
                <a:spcPct val="1461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React.js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chosen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modular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consistent </a:t>
            </a:r>
            <a:r>
              <a:rPr sz="1100" dirty="0">
                <a:latin typeface="Times New Roman"/>
                <a:cs typeface="Times New Roman"/>
              </a:rPr>
              <a:t>rendering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desktops,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tablets,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smartphones.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component-based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allowed </a:t>
            </a:r>
            <a:r>
              <a:rPr sz="1100" dirty="0">
                <a:latin typeface="Times New Roman"/>
                <a:cs typeface="Times New Roman"/>
              </a:rPr>
              <a:t>quick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adaptability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cross-browser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compatibility,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Codemate AI’s </a:t>
            </a:r>
            <a:r>
              <a:rPr sz="1100" dirty="0">
                <a:latin typeface="Times New Roman"/>
                <a:cs typeface="Times New Roman"/>
              </a:rPr>
              <a:t>lightweight,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UI.</a:t>
            </a: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Server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(Node.js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with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Express.js):</a:t>
            </a:r>
            <a:endParaRPr sz="11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imes New Roman"/>
                <a:cs typeface="Times New Roman"/>
              </a:rPr>
              <a:t>Node.js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Express.js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WebSocket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30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750560" cy="78943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57200" marR="189865" algn="just">
              <a:lnSpc>
                <a:spcPct val="146400"/>
              </a:lnSpc>
              <a:spcBef>
                <a:spcPts val="80"/>
              </a:spcBef>
            </a:pPr>
            <a:r>
              <a:rPr sz="1100" dirty="0">
                <a:latin typeface="Times New Roman"/>
                <a:cs typeface="Times New Roman"/>
              </a:rPr>
              <a:t>communication.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concerns,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horizontally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smooth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500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concurrent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instance.</a:t>
            </a:r>
            <a:endParaRPr sz="1100">
              <a:latin typeface="Times New Roman"/>
              <a:cs typeface="Times New Roman"/>
            </a:endParaRPr>
          </a:p>
          <a:p>
            <a:pPr marL="456565" indent="-221615" algn="just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Interface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Features:</a:t>
            </a:r>
            <a:endParaRPr sz="1100">
              <a:latin typeface="Times New Roman"/>
              <a:cs typeface="Times New Roman"/>
            </a:endParaRPr>
          </a:p>
          <a:p>
            <a:pPr marL="457200" marR="3683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minimalist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adopted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simplicity.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avatars, </a:t>
            </a:r>
            <a:r>
              <a:rPr sz="1100" dirty="0">
                <a:latin typeface="Times New Roman"/>
                <a:cs typeface="Times New Roman"/>
              </a:rPr>
              <a:t>theme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toast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notifications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overwhelming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platform,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intuitive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Secure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(Judge0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Containers):</a:t>
            </a:r>
            <a:endParaRPr sz="11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containers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sandboxed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environments</a:t>
            </a:r>
            <a:endParaRPr sz="1100">
              <a:latin typeface="Times New Roman"/>
              <a:cs typeface="Times New Roman"/>
            </a:endParaRPr>
          </a:p>
          <a:p>
            <a:pPr marL="457200" marR="44450">
              <a:lnSpc>
                <a:spcPct val="1464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protect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overheads,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timeouts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resource </a:t>
            </a:r>
            <a:r>
              <a:rPr sz="1100" dirty="0">
                <a:latin typeface="Times New Roman"/>
                <a:cs typeface="Times New Roman"/>
              </a:rPr>
              <a:t>limits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enforced,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security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compromising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stability.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432434" algn="just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systematic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finalization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remained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highly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3.4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Design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Flow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50">
              <a:latin typeface="Times New Roman"/>
              <a:cs typeface="Times New Roman"/>
            </a:endParaRPr>
          </a:p>
          <a:p>
            <a:pPr marL="18415" marR="433070" indent="-6350" algn="just">
              <a:lnSpc>
                <a:spcPct val="1073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4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flow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carefully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structured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20" dirty="0">
                <a:latin typeface="Times New Roman"/>
                <a:cs typeface="Times New Roman"/>
              </a:rPr>
              <a:t>time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accessible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major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interactions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detailed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below: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Font typeface="Times New Roman"/>
              <a:buAutoNum type="arabicPeriod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Access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Room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Creation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457200" marR="8064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either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collaborative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existing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unique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authentication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is </a:t>
            </a:r>
            <a:r>
              <a:rPr sz="1100" dirty="0">
                <a:latin typeface="Times New Roman"/>
                <a:cs typeface="Times New Roman"/>
              </a:rPr>
              <a:t>required,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entry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barriers.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5"/>
              </a:spcBef>
              <a:buFont typeface="Times New Roman"/>
              <a:buAutoNum type="arabicPeriod" startAt="2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Frontend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Initialization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(React.js):</a:t>
            </a:r>
            <a:endParaRPr sz="1100">
              <a:latin typeface="Times New Roman"/>
              <a:cs typeface="Times New Roman"/>
            </a:endParaRPr>
          </a:p>
          <a:p>
            <a:pPr marL="457200" marR="5080">
              <a:lnSpc>
                <a:spcPts val="1939"/>
              </a:lnSpc>
              <a:spcBef>
                <a:spcPts val="145"/>
              </a:spcBef>
            </a:pPr>
            <a:r>
              <a:rPr sz="1100" dirty="0">
                <a:latin typeface="Times New Roman"/>
                <a:cs typeface="Times New Roman"/>
              </a:rPr>
              <a:t>Upon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entering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React.js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initializes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workspace.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components include:</a:t>
            </a:r>
            <a:endParaRPr sz="1100">
              <a:latin typeface="Times New Roman"/>
              <a:cs typeface="Times New Roman"/>
            </a:endParaRPr>
          </a:p>
          <a:p>
            <a:pPr marL="902335" marR="276225" lvl="1" indent="-222885">
              <a:lnSpc>
                <a:spcPts val="1930"/>
              </a:lnSpc>
              <a:spcBef>
                <a:spcPts val="75"/>
              </a:spcBef>
              <a:buFont typeface="Symbol"/>
              <a:buChar char=""/>
              <a:tabLst>
                <a:tab pos="902335" algn="l"/>
              </a:tabLst>
            </a:pP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Editor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(CodeMirror)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syntax highlighting.</a:t>
            </a:r>
            <a:endParaRPr sz="1100">
              <a:latin typeface="Times New Roman"/>
              <a:cs typeface="Times New Roman"/>
            </a:endParaRPr>
          </a:p>
          <a:p>
            <a:pPr marL="902335" marR="239395" lvl="1" indent="-222885">
              <a:lnSpc>
                <a:spcPts val="1939"/>
              </a:lnSpc>
              <a:spcBef>
                <a:spcPts val="70"/>
              </a:spcBef>
              <a:buFont typeface="Symbol"/>
              <a:buChar char=""/>
              <a:tabLst>
                <a:tab pos="902335" algn="l"/>
              </a:tabLst>
            </a:pP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Selector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dynamically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choose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code </a:t>
            </a:r>
            <a:r>
              <a:rPr sz="1100" spc="-10" dirty="0">
                <a:latin typeface="Times New Roman"/>
                <a:cs typeface="Times New Roman"/>
              </a:rPr>
              <a:t>execution.</a:t>
            </a:r>
            <a:endParaRPr sz="110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520"/>
              </a:spcBef>
              <a:buFont typeface="Symbol"/>
              <a:buChar char=""/>
              <a:tabLst>
                <a:tab pos="902335" algn="l"/>
              </a:tabLst>
            </a:pP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Avatars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indicators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representing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collaborator.</a:t>
            </a:r>
            <a:endParaRPr sz="1100">
              <a:latin typeface="Times New Roman"/>
              <a:cs typeface="Times New Roman"/>
            </a:endParaRPr>
          </a:p>
          <a:p>
            <a:pPr marL="902335" lvl="1" indent="-222250">
              <a:lnSpc>
                <a:spcPct val="100000"/>
              </a:lnSpc>
              <a:spcBef>
                <a:spcPts val="695"/>
              </a:spcBef>
              <a:buFont typeface="Symbol"/>
              <a:buChar char=""/>
              <a:tabLst>
                <a:tab pos="902335" algn="l"/>
              </a:tabLst>
            </a:pPr>
            <a:r>
              <a:rPr sz="1100" b="1" dirty="0">
                <a:latin typeface="Times New Roman"/>
                <a:cs typeface="Times New Roman"/>
              </a:rPr>
              <a:t>Theme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Selector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customizing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appearance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based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preferences.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31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99819" y="1248697"/>
            <a:ext cx="5566410" cy="811339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69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immediately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establishes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using</a:t>
            </a:r>
            <a:endParaRPr sz="11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600"/>
              </a:spcBef>
            </a:pPr>
            <a:r>
              <a:rPr sz="1100" b="1" spc="-10" dirty="0">
                <a:latin typeface="Times New Roman"/>
                <a:cs typeface="Times New Roman"/>
              </a:rPr>
              <a:t>Socket.IO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Times New Roman"/>
              <a:buAutoNum type="arabicPeriod" startAt="3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Communication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(Socket.IO):</a:t>
            </a:r>
            <a:endParaRPr sz="1100">
              <a:latin typeface="Times New Roman"/>
              <a:cs typeface="Times New Roman"/>
            </a:endParaRPr>
          </a:p>
          <a:p>
            <a:pPr marL="234950" marR="8318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keystroke,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transmitted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events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enables:</a:t>
            </a: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68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Broadcasting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participants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room.</a:t>
            </a: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69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Maintaining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(&lt;500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ideally).</a:t>
            </a:r>
            <a:endParaRPr sz="1100">
              <a:latin typeface="Times New Roman"/>
              <a:cs typeface="Times New Roman"/>
            </a:endParaRPr>
          </a:p>
          <a:p>
            <a:pPr marL="680085" marR="542290" lvl="1" indent="-222885">
              <a:lnSpc>
                <a:spcPct val="146400"/>
              </a:lnSpc>
              <a:spcBef>
                <a:spcPts val="80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Broadcasting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leaves,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compilation notifications.</a:t>
            </a: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spcBef>
                <a:spcPts val="600"/>
              </a:spcBef>
              <a:buFont typeface="Times New Roman"/>
              <a:buAutoNum type="arabicPeriod" startAt="4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Management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(Node.js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+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Express.js):</a:t>
            </a:r>
            <a:endParaRPr sz="11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Node.js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Express.js,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handles:</a:t>
            </a: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69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(connection,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disconnection,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message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broadcast).</a:t>
            </a: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69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endpoints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requests.</a:t>
            </a: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68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participants.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1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26289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horizontal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techniques.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Times New Roman"/>
              <a:buAutoNum type="arabicPeriod" startAt="5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Compilation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(Judge0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API)</a:t>
            </a:r>
            <a:endParaRPr sz="11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submits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execution:</a:t>
            </a: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68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inputs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backend.</a:t>
            </a:r>
            <a:endParaRPr sz="1100">
              <a:latin typeface="Times New Roman"/>
              <a:cs typeface="Times New Roman"/>
            </a:endParaRPr>
          </a:p>
          <a:p>
            <a:pPr marL="680085" marR="127635" lvl="1" indent="-222885">
              <a:lnSpc>
                <a:spcPct val="146400"/>
              </a:lnSpc>
              <a:spcBef>
                <a:spcPts val="8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forwards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compiles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executes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sandboxed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container.</a:t>
            </a:r>
            <a:endParaRPr sz="1100">
              <a:latin typeface="Times New Roman"/>
              <a:cs typeface="Times New Roman"/>
            </a:endParaRPr>
          </a:p>
          <a:p>
            <a:pPr marL="680085" marR="182880" lvl="1" indent="-222885">
              <a:lnSpc>
                <a:spcPct val="145500"/>
              </a:lnSpc>
              <a:spcBef>
                <a:spcPts val="9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Upon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receiving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relays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frontend, </a:t>
            </a:r>
            <a:r>
              <a:rPr sz="1100" dirty="0">
                <a:latin typeface="Times New Roman"/>
                <a:cs typeface="Times New Roman"/>
              </a:rPr>
              <a:t>where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displayed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1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26289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Timeouts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resource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limits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abuse.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100">
              <a:latin typeface="Times New Roman"/>
              <a:cs typeface="Times New Roman"/>
            </a:endParaRPr>
          </a:p>
          <a:p>
            <a:pPr marL="234950" indent="-222250">
              <a:lnSpc>
                <a:spcPct val="100000"/>
              </a:lnSpc>
              <a:buFont typeface="Times New Roman"/>
              <a:buAutoNum type="arabicPeriod" startAt="6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Notification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System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Feedback:</a:t>
            </a:r>
            <a:endParaRPr sz="11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Throughout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session:</a:t>
            </a:r>
            <a:endParaRPr sz="1100">
              <a:latin typeface="Times New Roman"/>
              <a:cs typeface="Times New Roman"/>
            </a:endParaRPr>
          </a:p>
          <a:p>
            <a:pPr marL="680085" marR="5080" lvl="1" indent="-222885">
              <a:lnSpc>
                <a:spcPct val="145900"/>
              </a:lnSpc>
              <a:spcBef>
                <a:spcPts val="90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toast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notifications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(using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HotToast)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inform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significant </a:t>
            </a:r>
            <a:r>
              <a:rPr sz="1100" dirty="0">
                <a:latin typeface="Times New Roman"/>
                <a:cs typeface="Times New Roman"/>
              </a:rPr>
              <a:t>events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successful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errors,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joining/leaving,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status updates.</a:t>
            </a: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70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awareness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disruptive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819" y="1321647"/>
            <a:ext cx="5447665" cy="15532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4950" indent="-222250">
              <a:lnSpc>
                <a:spcPct val="100000"/>
              </a:lnSpc>
              <a:spcBef>
                <a:spcPts val="120"/>
              </a:spcBef>
              <a:buAutoNum type="arabicPeriod" startAt="7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Disconnection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Resource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Cleanup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Font typeface="Times New Roman"/>
              <a:buAutoNum type="arabicPeriod" startAt="7"/>
            </a:pPr>
            <a:endParaRPr sz="1100">
              <a:latin typeface="Times New Roman"/>
              <a:cs typeface="Times New Roman"/>
            </a:endParaRPr>
          </a:p>
          <a:p>
            <a:pPr marL="22606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leave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disconnect: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room's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active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list.</a:t>
            </a: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69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Disconnection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broadcasted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users.</a:t>
            </a:r>
            <a:endParaRPr sz="1100">
              <a:latin typeface="Times New Roman"/>
              <a:cs typeface="Times New Roman"/>
            </a:endParaRPr>
          </a:p>
          <a:p>
            <a:pPr marL="680085" lvl="1" indent="-222885">
              <a:lnSpc>
                <a:spcPct val="100000"/>
              </a:lnSpc>
              <a:spcBef>
                <a:spcPts val="685"/>
              </a:spcBef>
              <a:buFont typeface="Symbol"/>
              <a:buChar char=""/>
              <a:tabLst>
                <a:tab pos="680085" algn="l"/>
              </a:tabLst>
            </a:pPr>
            <a:r>
              <a:rPr sz="1100" dirty="0">
                <a:latin typeface="Times New Roman"/>
                <a:cs typeface="Times New Roman"/>
              </a:rPr>
              <a:t>Resources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inactive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cleared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promptly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efficiency.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6" y="7902481"/>
            <a:ext cx="2250440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47300"/>
              </a:lnSpc>
              <a:spcBef>
                <a:spcPts val="95"/>
              </a:spcBef>
            </a:pPr>
            <a:r>
              <a:rPr sz="1100" i="1" dirty="0">
                <a:latin typeface="Times New Roman"/>
                <a:cs typeface="Times New Roman"/>
              </a:rPr>
              <a:t>Fig3.1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Working</a:t>
            </a:r>
            <a:r>
              <a:rPr sz="1100" i="1" spc="1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Flow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of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real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time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spc="-20" dirty="0">
                <a:latin typeface="Times New Roman"/>
                <a:cs typeface="Times New Roman"/>
              </a:rPr>
              <a:t>code </a:t>
            </a:r>
            <a:r>
              <a:rPr sz="1100" i="1" dirty="0">
                <a:latin typeface="Times New Roman"/>
                <a:cs typeface="Times New Roman"/>
              </a:rPr>
              <a:t>changes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in</a:t>
            </a:r>
            <a:r>
              <a:rPr sz="1100" i="1" spc="2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Codemate AI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074" y="3538728"/>
            <a:ext cx="3055905" cy="42123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92372" y="7908578"/>
            <a:ext cx="2258060" cy="516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 marR="5080" indent="-6350">
              <a:lnSpc>
                <a:spcPct val="146400"/>
              </a:lnSpc>
              <a:spcBef>
                <a:spcPts val="95"/>
              </a:spcBef>
            </a:pPr>
            <a:r>
              <a:rPr sz="1100" i="1" dirty="0">
                <a:latin typeface="Times New Roman"/>
                <a:cs typeface="Times New Roman"/>
              </a:rPr>
              <a:t>Fig3.2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Flow</a:t>
            </a:r>
            <a:r>
              <a:rPr sz="1100" i="1" spc="3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Chart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of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Code</a:t>
            </a:r>
            <a:r>
              <a:rPr sz="1100" i="1" spc="40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Executin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i="1" spc="-25" dirty="0">
                <a:latin typeface="Times New Roman"/>
                <a:cs typeface="Times New Roman"/>
              </a:rPr>
              <a:t>in </a:t>
            </a:r>
            <a:r>
              <a:rPr sz="1100" i="1" spc="-10" dirty="0">
                <a:latin typeface="Times New Roman"/>
                <a:cs typeface="Times New Roman"/>
              </a:rPr>
              <a:t>Codemate AI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0196" y="3538727"/>
            <a:ext cx="2097806" cy="396255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32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856" y="9078780"/>
            <a:ext cx="271145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i="1" dirty="0">
                <a:latin typeface="Times New Roman"/>
                <a:cs typeface="Times New Roman"/>
              </a:rPr>
              <a:t>Figure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3.3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System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Architecture</a:t>
            </a:r>
            <a:r>
              <a:rPr sz="1100" i="1" spc="3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Block</a:t>
            </a:r>
            <a:r>
              <a:rPr sz="1100" i="1" spc="50" dirty="0">
                <a:latin typeface="Times New Roman"/>
                <a:cs typeface="Times New Roman"/>
              </a:rPr>
              <a:t> </a:t>
            </a:r>
            <a:r>
              <a:rPr sz="1100" i="1" spc="-10" dirty="0">
                <a:latin typeface="Times New Roman"/>
                <a:cs typeface="Times New Roman"/>
              </a:rPr>
              <a:t>Diagram</a:t>
            </a:r>
            <a:endParaRPr sz="11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1342644"/>
            <a:ext cx="4725923" cy="7580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33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34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2135"/>
            <a:ext cx="5804535" cy="73818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dirty="0">
                <a:latin typeface="Times New Roman"/>
                <a:cs typeface="Times New Roman"/>
              </a:rPr>
              <a:t>3.5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Design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Selection</a:t>
            </a:r>
            <a:endParaRPr sz="1250">
              <a:latin typeface="Times New Roman"/>
              <a:cs typeface="Times New Roman"/>
            </a:endParaRPr>
          </a:p>
          <a:p>
            <a:pPr marL="18415" marR="626110" indent="-6350">
              <a:lnSpc>
                <a:spcPct val="145900"/>
              </a:lnSpc>
              <a:spcBef>
                <a:spcPts val="994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shaped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strategic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choices </a:t>
            </a:r>
            <a:r>
              <a:rPr sz="1100" dirty="0">
                <a:latin typeface="Times New Roman"/>
                <a:cs typeface="Times New Roman"/>
              </a:rPr>
              <a:t>aimed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security,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accessibility.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were: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MERN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Stack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Technologies</a:t>
            </a:r>
            <a:r>
              <a:rPr sz="1100" spc="-10" dirty="0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  <a:p>
            <a:pPr marL="457200" marR="78740">
              <a:lnSpc>
                <a:spcPct val="1459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leveraged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MERN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comprising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MongoDB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Express.js</a:t>
            </a:r>
            <a:r>
              <a:rPr sz="1100" spc="-10" dirty="0">
                <a:latin typeface="Times New Roman"/>
                <a:cs typeface="Times New Roman"/>
              </a:rPr>
              <a:t>, </a:t>
            </a:r>
            <a:r>
              <a:rPr sz="1100" b="1" dirty="0">
                <a:latin typeface="Times New Roman"/>
                <a:cs typeface="Times New Roman"/>
              </a:rPr>
              <a:t>React.js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modularity,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developer- </a:t>
            </a:r>
            <a:r>
              <a:rPr sz="1100" dirty="0">
                <a:latin typeface="Times New Roman"/>
                <a:cs typeface="Times New Roman"/>
              </a:rPr>
              <a:t>friendly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ecosystem.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Frontend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Framework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–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React.js:</a:t>
            </a:r>
            <a:endParaRPr sz="1100">
              <a:latin typeface="Times New Roman"/>
              <a:cs typeface="Times New Roman"/>
            </a:endParaRPr>
          </a:p>
          <a:p>
            <a:pPr marL="457200" marR="34290">
              <a:lnSpc>
                <a:spcPts val="193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React.js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component-based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through </a:t>
            </a:r>
            <a:r>
              <a:rPr sz="1100" dirty="0">
                <a:latin typeface="Times New Roman"/>
                <a:cs typeface="Times New Roman"/>
              </a:rPr>
              <a:t>virtual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DOM,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strong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ecosystem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modular,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maintainable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suitable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devices.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45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Framework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–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with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Express.js:</a:t>
            </a:r>
            <a:endParaRPr sz="1100">
              <a:latin typeface="Times New Roman"/>
              <a:cs typeface="Times New Roman"/>
            </a:endParaRPr>
          </a:p>
          <a:p>
            <a:pPr marL="457200" marR="508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Node.js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combined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Express.js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event-driven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efficiently.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Express’s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minimalist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rapid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features.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–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Integration:</a:t>
            </a:r>
            <a:endParaRPr sz="1100">
              <a:latin typeface="Times New Roman"/>
              <a:cs typeface="Times New Roman"/>
            </a:endParaRPr>
          </a:p>
          <a:p>
            <a:pPr marL="457200" marR="10223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isolated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40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languages.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avoided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complexity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managing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thus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security.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Hosting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Deployment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–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Vercel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(Frontend)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Render.com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(Backend):</a:t>
            </a:r>
            <a:endParaRPr sz="1100">
              <a:latin typeface="Times New Roman"/>
              <a:cs typeface="Times New Roman"/>
            </a:endParaRPr>
          </a:p>
          <a:p>
            <a:pPr marL="457200" marR="204470">
              <a:lnSpc>
                <a:spcPct val="1459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Vercel,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leveraging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CDN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global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caching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fast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times.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hosted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Render.com,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WebSocket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automatic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deployment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repository.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Future-Ready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–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Docker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Containerization:</a:t>
            </a:r>
            <a:endParaRPr sz="1100">
              <a:latin typeface="Times New Roman"/>
              <a:cs typeface="Times New Roman"/>
            </a:endParaRPr>
          </a:p>
          <a:p>
            <a:pPr marL="457200" marR="208915">
              <a:lnSpc>
                <a:spcPts val="193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Although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enhancements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Docker </a:t>
            </a:r>
            <a:r>
              <a:rPr sz="1100" dirty="0">
                <a:latin typeface="Times New Roman"/>
                <a:cs typeface="Times New Roman"/>
              </a:rPr>
              <a:t>containerization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smoother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migration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towards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microservice-based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needed.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35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795645" cy="79533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8415" marR="584200" indent="-6350">
              <a:lnSpc>
                <a:spcPct val="146400"/>
              </a:lnSpc>
              <a:spcBef>
                <a:spcPts val="80"/>
              </a:spcBef>
            </a:pP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collectively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project’s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objectives: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lightweight,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browser-based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use,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flexible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range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3.6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Implementation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Plan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/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Methodology</a:t>
            </a:r>
            <a:endParaRPr sz="1250">
              <a:latin typeface="Times New Roman"/>
              <a:cs typeface="Times New Roman"/>
            </a:endParaRPr>
          </a:p>
          <a:p>
            <a:pPr marL="18415" marR="477520" indent="-6350" algn="just">
              <a:lnSpc>
                <a:spcPct val="146400"/>
              </a:lnSpc>
              <a:spcBef>
                <a:spcPts val="96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project</a:t>
            </a:r>
            <a:r>
              <a:rPr sz="1100" b="1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adopted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modular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phased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development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methodology</a:t>
            </a:r>
            <a:r>
              <a:rPr sz="1100" b="1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ensure </a:t>
            </a:r>
            <a:r>
              <a:rPr sz="1100" dirty="0">
                <a:latin typeface="Times New Roman"/>
                <a:cs typeface="Times New Roman"/>
              </a:rPr>
              <a:t>structured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progress,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maintainable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code,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continuous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throughout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 </a:t>
            </a:r>
            <a:r>
              <a:rPr sz="1100" dirty="0">
                <a:latin typeface="Times New Roman"/>
                <a:cs typeface="Times New Roman"/>
              </a:rPr>
              <a:t>lifecycle.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allowed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distinct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areas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development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thoroughly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tested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optimized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moving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next.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methodology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helped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complexities,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minimizing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aligning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product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expectations.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plan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divided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phases:</a:t>
            </a:r>
            <a:endParaRPr sz="1100">
              <a:latin typeface="Times New Roman"/>
              <a:cs typeface="Times New Roman"/>
            </a:endParaRPr>
          </a:p>
          <a:p>
            <a:pPr marL="456565" indent="-221615" algn="just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Phase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1: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Requirement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Gathering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Architecture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Design</a:t>
            </a:r>
            <a:endParaRPr sz="1100">
              <a:latin typeface="Times New Roman"/>
              <a:cs typeface="Times New Roman"/>
            </a:endParaRPr>
          </a:p>
          <a:p>
            <a:pPr marL="457200" marR="52069">
              <a:lnSpc>
                <a:spcPct val="1462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first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understanding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requirements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constraints,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educators,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developers.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thorough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analysis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expectations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necessary </a:t>
            </a:r>
            <a:r>
              <a:rPr sz="1100" dirty="0">
                <a:latin typeface="Times New Roman"/>
                <a:cs typeface="Times New Roman"/>
              </a:rPr>
              <a:t>features,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security.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Based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findings,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chosen,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React.js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Node.js</a:t>
            </a:r>
            <a:r>
              <a:rPr sz="1100" spc="-10" dirty="0">
                <a:latin typeface="Times New Roman"/>
                <a:cs typeface="Times New Roman"/>
              </a:rPr>
              <a:t>, </a:t>
            </a:r>
            <a:r>
              <a:rPr sz="1100" b="1" dirty="0">
                <a:latin typeface="Times New Roman"/>
                <a:cs typeface="Times New Roman"/>
              </a:rPr>
              <a:t>Express.js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CodeMirror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support.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primary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real-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40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457200" marR="5080">
              <a:lnSpc>
                <a:spcPct val="1461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Security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concerns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isolated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environments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submissions.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prioritized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accommodate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growth,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considerations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Initial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wireframes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set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choices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drive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entire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project.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Phase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2: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Frontend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Development</a:t>
            </a:r>
            <a:endParaRPr sz="1100">
              <a:latin typeface="Times New Roman"/>
              <a:cs typeface="Times New Roman"/>
            </a:endParaRPr>
          </a:p>
          <a:p>
            <a:pPr marL="457200" marR="19050">
              <a:lnSpc>
                <a:spcPts val="193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frontend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React.js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chosen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its </a:t>
            </a:r>
            <a:r>
              <a:rPr sz="1100" dirty="0">
                <a:latin typeface="Times New Roman"/>
                <a:cs typeface="Times New Roman"/>
              </a:rPr>
              <a:t>modular,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component-based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facilitated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rendering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dynamic </a:t>
            </a:r>
            <a:r>
              <a:rPr sz="1100" dirty="0">
                <a:latin typeface="Times New Roman"/>
                <a:cs typeface="Times New Roman"/>
              </a:rPr>
              <a:t>updates.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CodeMirror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central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aspect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phase,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essential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syntax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highlighting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auto-indentation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dynamic </a:t>
            </a: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switching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experience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suite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was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36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802630" cy="7307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57200" marR="17780">
              <a:lnSpc>
                <a:spcPct val="146200"/>
              </a:lnSpc>
              <a:spcBef>
                <a:spcPts val="85"/>
              </a:spcBef>
            </a:pPr>
            <a:r>
              <a:rPr sz="1100" dirty="0">
                <a:latin typeface="Times New Roman"/>
                <a:cs typeface="Times New Roman"/>
              </a:rPr>
              <a:t>added,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room-based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session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management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coding </a:t>
            </a:r>
            <a:r>
              <a:rPr sz="1100" dirty="0">
                <a:latin typeface="Times New Roman"/>
                <a:cs typeface="Times New Roman"/>
              </a:rPr>
              <a:t>sessions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unique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avatars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identification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collaborators.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incorporated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dynamic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themes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giving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ability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switch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light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dark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modes,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toast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notification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system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feedback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like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exits.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responsiveness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mind,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compatibility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(desktops,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tablets,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smartphones)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(Chrome,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Firefox,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Safari,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Edge).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Phase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3: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Development</a:t>
            </a:r>
            <a:endParaRPr sz="11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third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Express.js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logic,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user</a:t>
            </a:r>
            <a:endParaRPr sz="1100">
              <a:latin typeface="Times New Roman"/>
              <a:cs typeface="Times New Roman"/>
            </a:endParaRPr>
          </a:p>
          <a:p>
            <a:pPr marL="457200" marR="36195">
              <a:lnSpc>
                <a:spcPct val="1462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management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creation.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synchronization,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low-latency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incorporated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provide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isolated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logic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included </a:t>
            </a:r>
            <a:r>
              <a:rPr sz="1100" dirty="0">
                <a:latin typeface="Times New Roman"/>
                <a:cs typeface="Times New Roman"/>
              </a:rPr>
              <a:t>event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routing.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resource </a:t>
            </a:r>
            <a:r>
              <a:rPr sz="1100" dirty="0">
                <a:latin typeface="Times New Roman"/>
                <a:cs typeface="Times New Roman"/>
              </a:rPr>
              <a:t>limitations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prevent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overloading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high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traffic.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Phase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4: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Testing,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Optimization,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Deployment,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Finalization</a:t>
            </a:r>
            <a:endParaRPr sz="1100">
              <a:latin typeface="Times New Roman"/>
              <a:cs typeface="Times New Roman"/>
            </a:endParaRPr>
          </a:p>
          <a:p>
            <a:pPr marL="457200" marR="9906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rigorous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(code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syncing,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compilation </a:t>
            </a:r>
            <a:r>
              <a:rPr sz="1100" dirty="0">
                <a:latin typeface="Times New Roman"/>
                <a:cs typeface="Times New Roman"/>
              </a:rPr>
              <a:t>workflows),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cross-browser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UI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consistency,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resilience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handle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disconnections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gracefully,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assess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under </a:t>
            </a:r>
            <a:r>
              <a:rPr sz="1100" dirty="0">
                <a:latin typeface="Times New Roman"/>
                <a:cs typeface="Times New Roman"/>
              </a:rPr>
              <a:t>concurrent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conditions.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After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optimization,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Vercel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global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CDN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acceleration,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hosted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Render.com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ensure </a:t>
            </a:r>
            <a:r>
              <a:rPr sz="1100" dirty="0">
                <a:latin typeface="Times New Roman"/>
                <a:cs typeface="Times New Roman"/>
              </a:rPr>
              <a:t>scalable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steps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involved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documentation,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user </a:t>
            </a:r>
            <a:r>
              <a:rPr sz="1100" dirty="0">
                <a:latin typeface="Times New Roman"/>
                <a:cs typeface="Times New Roman"/>
              </a:rPr>
              <a:t>manuals,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preparing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final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submission.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46200"/>
              </a:lnSpc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structured,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iterative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methodology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incremental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progress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stage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thoroughly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moving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next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approach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facilitated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high-quality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development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flexibility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address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challenges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arose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continuous </a:t>
            </a:r>
            <a:r>
              <a:rPr sz="1100" dirty="0">
                <a:latin typeface="Times New Roman"/>
                <a:cs typeface="Times New Roman"/>
              </a:rPr>
              <a:t>validation,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platform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user- </a:t>
            </a:r>
            <a:r>
              <a:rPr sz="1100" dirty="0">
                <a:latin typeface="Times New Roman"/>
                <a:cs typeface="Times New Roman"/>
              </a:rPr>
              <a:t>friendly,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simplicity,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security,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37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2135"/>
            <a:ext cx="159321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b="1" dirty="0">
                <a:latin typeface="Times New Roman"/>
                <a:cs typeface="Times New Roman"/>
              </a:rPr>
              <a:t>3.7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Code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 the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Project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6" y="1698075"/>
            <a:ext cx="269176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1" dirty="0">
                <a:latin typeface="Times New Roman"/>
                <a:cs typeface="Times New Roman"/>
              </a:rPr>
              <a:t>a)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for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Home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Page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Login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Interface: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316" y="2043333"/>
            <a:ext cx="1980564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React,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useState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'react';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7316" y="2346610"/>
            <a:ext cx="184277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v4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as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uuidV4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2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'uuid';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7316" y="2646838"/>
            <a:ext cx="179133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toast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'react-hot-</a:t>
            </a:r>
            <a:r>
              <a:rPr sz="900" b="1" spc="-10" dirty="0">
                <a:latin typeface="Times New Roman"/>
                <a:cs typeface="Times New Roman"/>
              </a:rPr>
              <a:t>toast';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316" y="2948590"/>
            <a:ext cx="244221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useNavigate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'react-router-</a:t>
            </a:r>
            <a:r>
              <a:rPr sz="900" b="1" spc="-20" dirty="0">
                <a:latin typeface="Times New Roman"/>
                <a:cs typeface="Times New Roman"/>
              </a:rPr>
              <a:t>dom';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7316" y="3248817"/>
            <a:ext cx="105791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Home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()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7082" y="3552094"/>
            <a:ext cx="158877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navigate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useNavigate();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7082" y="3853846"/>
            <a:ext cx="210312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[roomId,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setRoomId]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useState('');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7082" y="4154074"/>
            <a:ext cx="231203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[username,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setUsername]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useState('');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7082" y="4455826"/>
            <a:ext cx="163830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createNewRoom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(e)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677" y="4756054"/>
            <a:ext cx="97853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10" dirty="0">
                <a:latin typeface="Times New Roman"/>
                <a:cs typeface="Times New Roman"/>
              </a:rPr>
              <a:t>e.preventDefault();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5677" y="5059330"/>
            <a:ext cx="102806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id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uuidV4();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5677" y="5359558"/>
            <a:ext cx="78867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10" dirty="0">
                <a:latin typeface="Times New Roman"/>
                <a:cs typeface="Times New Roman"/>
              </a:rPr>
              <a:t>setRoomId(id);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5677" y="5661310"/>
            <a:ext cx="185864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toast.success('Created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a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new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room');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24223" y="5661310"/>
            <a:ext cx="11112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25" dirty="0">
                <a:latin typeface="Times New Roman"/>
                <a:cs typeface="Times New Roman"/>
              </a:rPr>
              <a:t>};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7082" y="5963062"/>
            <a:ext cx="125476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joinRoom</a:t>
            </a:r>
            <a:r>
              <a:rPr sz="900" b="1" spc="1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()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5677" y="6264814"/>
            <a:ext cx="133794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if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(!roomId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||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!username)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55444" y="6566565"/>
            <a:ext cx="250126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toast.error('ROOM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ID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&amp;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username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is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required');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5444" y="6866794"/>
            <a:ext cx="55372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return;</a:t>
            </a:r>
            <a:r>
              <a:rPr sz="900" b="1" spc="260" dirty="0">
                <a:latin typeface="Times New Roman"/>
                <a:cs typeface="Times New Roman"/>
              </a:rPr>
              <a:t>  </a:t>
            </a:r>
            <a:r>
              <a:rPr sz="900" b="1" spc="-50" dirty="0">
                <a:latin typeface="Times New Roman"/>
                <a:cs typeface="Times New Roman"/>
              </a:rPr>
              <a:t>}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5677" y="7168546"/>
            <a:ext cx="55054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//</a:t>
            </a:r>
            <a:r>
              <a:rPr sz="900" b="1" spc="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Redirect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5677" y="7470298"/>
            <a:ext cx="148780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navigate(/editor/${roomId},</a:t>
            </a:r>
            <a:r>
              <a:rPr sz="900" b="1" spc="19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5444" y="7772049"/>
            <a:ext cx="37401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state: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4039" y="8073802"/>
            <a:ext cx="54419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10" dirty="0">
                <a:latin typeface="Times New Roman"/>
                <a:cs typeface="Times New Roman"/>
              </a:rPr>
              <a:t>username,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55444" y="8374029"/>
            <a:ext cx="34163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},</a:t>
            </a:r>
            <a:r>
              <a:rPr sz="900" b="1" spc="240" dirty="0">
                <a:latin typeface="Times New Roman"/>
                <a:cs typeface="Times New Roman"/>
              </a:rPr>
              <a:t>  </a:t>
            </a:r>
            <a:r>
              <a:rPr sz="900" b="1" spc="-25" dirty="0">
                <a:latin typeface="Times New Roman"/>
                <a:cs typeface="Times New Roman"/>
              </a:rPr>
              <a:t>});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7082" y="8675782"/>
            <a:ext cx="11112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25" dirty="0">
                <a:latin typeface="Times New Roman"/>
                <a:cs typeface="Times New Roman"/>
              </a:rPr>
              <a:t>};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6613" y="8977534"/>
            <a:ext cx="1717039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handleInputEnter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(e)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10733" y="1700433"/>
            <a:ext cx="120142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if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(e.code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===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'Enter')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170500" y="2002186"/>
            <a:ext cx="80200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joinRoom();</a:t>
            </a:r>
            <a:r>
              <a:rPr sz="900" b="1" spc="275" dirty="0">
                <a:latin typeface="Times New Roman"/>
                <a:cs typeface="Times New Roman"/>
              </a:rPr>
              <a:t>  </a:t>
            </a:r>
            <a:r>
              <a:rPr sz="900" b="1" spc="-50" dirty="0">
                <a:latin typeface="Times New Roman"/>
                <a:cs typeface="Times New Roman"/>
              </a:rPr>
              <a:t>}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52139" y="2302414"/>
            <a:ext cx="11112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25" dirty="0">
                <a:latin typeface="Times New Roman"/>
                <a:cs typeface="Times New Roman"/>
              </a:rPr>
              <a:t>};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52139" y="2604166"/>
            <a:ext cx="41910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return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(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10733" y="2905917"/>
            <a:ext cx="204787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&lt;div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className="homePageWrapper"&gt;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70500" y="3207669"/>
            <a:ext cx="1780539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&lt;div</a:t>
            </a:r>
            <a:r>
              <a:rPr sz="900" b="1" spc="2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className="formWrapper"&gt;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92372" y="3448881"/>
            <a:ext cx="2653665" cy="42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36220">
              <a:lnSpc>
                <a:spcPct val="146700"/>
              </a:lnSpc>
              <a:spcBef>
                <a:spcPts val="95"/>
              </a:spcBef>
            </a:pPr>
            <a:r>
              <a:rPr sz="900" b="1" dirty="0">
                <a:latin typeface="Times New Roman"/>
                <a:cs typeface="Times New Roman"/>
              </a:rPr>
              <a:t>&lt;img</a:t>
            </a:r>
            <a:r>
              <a:rPr sz="900" b="1" spc="1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className="homePageLogo"</a:t>
            </a:r>
            <a:r>
              <a:rPr sz="900" b="1" spc="12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src="/code- </a:t>
            </a:r>
            <a:r>
              <a:rPr sz="900" b="1" dirty="0">
                <a:latin typeface="Times New Roman"/>
                <a:cs typeface="Times New Roman"/>
              </a:rPr>
              <a:t>sync.png"</a:t>
            </a:r>
            <a:r>
              <a:rPr sz="900" b="1" spc="12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="code-sync-logo"</a:t>
            </a:r>
            <a:r>
              <a:rPr sz="900" b="1" spc="105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/&gt;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92372" y="3953326"/>
            <a:ext cx="2595245" cy="42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36220">
              <a:lnSpc>
                <a:spcPct val="146700"/>
              </a:lnSpc>
              <a:spcBef>
                <a:spcPts val="95"/>
              </a:spcBef>
            </a:pPr>
            <a:r>
              <a:rPr sz="900" b="1" dirty="0">
                <a:latin typeface="Times New Roman"/>
                <a:cs typeface="Times New Roman"/>
              </a:rPr>
              <a:t>&lt;h4</a:t>
            </a:r>
            <a:r>
              <a:rPr sz="900" b="1" spc="1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className="mainLabel"&gt;Paste</a:t>
            </a:r>
            <a:r>
              <a:rPr sz="900" b="1" spc="12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invitation </a:t>
            </a:r>
            <a:r>
              <a:rPr sz="900" b="1" dirty="0">
                <a:latin typeface="Times New Roman"/>
                <a:cs typeface="Times New Roman"/>
              </a:rPr>
              <a:t>ROOM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ID&lt;/h4&gt;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29095" y="4516786"/>
            <a:ext cx="1669414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&lt;div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className="inputGroup"&gt;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92372" y="4756474"/>
            <a:ext cx="2504440" cy="431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5275">
              <a:lnSpc>
                <a:spcPct val="147800"/>
              </a:lnSpc>
              <a:spcBef>
                <a:spcPts val="95"/>
              </a:spcBef>
            </a:pPr>
            <a:r>
              <a:rPr sz="900" b="1" dirty="0">
                <a:latin typeface="Times New Roman"/>
                <a:cs typeface="Times New Roman"/>
              </a:rPr>
              <a:t>&lt;input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type="text"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className="inputBox" </a:t>
            </a:r>
            <a:r>
              <a:rPr sz="900" b="1" dirty="0">
                <a:latin typeface="Times New Roman"/>
                <a:cs typeface="Times New Roman"/>
              </a:rPr>
              <a:t>placeholder="ROOM</a:t>
            </a:r>
            <a:r>
              <a:rPr sz="900" b="1" spc="155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ID"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46285" y="5321458"/>
            <a:ext cx="232156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onChange={(e)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setRoomId(e.target.value)}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992372" y="5564192"/>
            <a:ext cx="1697355" cy="42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3695">
              <a:lnSpc>
                <a:spcPct val="146700"/>
              </a:lnSpc>
              <a:spcBef>
                <a:spcPts val="95"/>
              </a:spcBef>
            </a:pPr>
            <a:r>
              <a:rPr sz="900" b="1" spc="-10" dirty="0">
                <a:latin typeface="Times New Roman"/>
                <a:cs typeface="Times New Roman"/>
              </a:rPr>
              <a:t>value={roomId} </a:t>
            </a:r>
            <a:r>
              <a:rPr sz="900" b="1" spc="10" dirty="0">
                <a:latin typeface="Times New Roman"/>
                <a:cs typeface="Times New Roman"/>
              </a:rPr>
              <a:t>onKeyUp={handleInputEnter}</a:t>
            </a:r>
            <a:r>
              <a:rPr sz="900" b="1" spc="-15" dirty="0">
                <a:latin typeface="Times New Roman"/>
                <a:cs typeface="Times New Roman"/>
              </a:rPr>
              <a:t> </a:t>
            </a:r>
            <a:r>
              <a:rPr sz="900" b="1" spc="-35" dirty="0">
                <a:latin typeface="Times New Roman"/>
                <a:cs typeface="Times New Roman"/>
              </a:rPr>
              <a:t>/&gt;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92372" y="6065590"/>
            <a:ext cx="2504440" cy="431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5275">
              <a:lnSpc>
                <a:spcPct val="147800"/>
              </a:lnSpc>
              <a:spcBef>
                <a:spcPts val="95"/>
              </a:spcBef>
            </a:pPr>
            <a:r>
              <a:rPr sz="900" b="1" dirty="0">
                <a:latin typeface="Times New Roman"/>
                <a:cs typeface="Times New Roman"/>
              </a:rPr>
              <a:t>&lt;input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type="text"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className="inputBox" placeholder="USERNAME"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992372" y="6570033"/>
            <a:ext cx="1474470" cy="431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3695">
              <a:lnSpc>
                <a:spcPct val="147800"/>
              </a:lnSpc>
              <a:spcBef>
                <a:spcPts val="95"/>
              </a:spcBef>
            </a:pPr>
            <a:r>
              <a:rPr sz="900" b="1" dirty="0">
                <a:latin typeface="Times New Roman"/>
                <a:cs typeface="Times New Roman"/>
              </a:rPr>
              <a:t>onChange={(e)</a:t>
            </a:r>
            <a:r>
              <a:rPr sz="900" b="1" spc="11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=&gt;</a:t>
            </a:r>
            <a:r>
              <a:rPr sz="900" b="1" spc="-10" dirty="0">
                <a:latin typeface="Times New Roman"/>
                <a:cs typeface="Times New Roman"/>
              </a:rPr>
              <a:t> setUsername(e.target.value)}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92372" y="7076002"/>
            <a:ext cx="1697355" cy="42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3695">
              <a:lnSpc>
                <a:spcPct val="146700"/>
              </a:lnSpc>
              <a:spcBef>
                <a:spcPts val="95"/>
              </a:spcBef>
            </a:pPr>
            <a:r>
              <a:rPr sz="900" b="1" spc="-10" dirty="0">
                <a:latin typeface="Times New Roman"/>
                <a:cs typeface="Times New Roman"/>
              </a:rPr>
              <a:t>value={username} </a:t>
            </a:r>
            <a:r>
              <a:rPr sz="900" b="1" spc="10" dirty="0">
                <a:latin typeface="Times New Roman"/>
                <a:cs typeface="Times New Roman"/>
              </a:rPr>
              <a:t>onKeyUp={handleInputEnter}</a:t>
            </a:r>
            <a:r>
              <a:rPr sz="900" b="1" spc="-15" dirty="0">
                <a:latin typeface="Times New Roman"/>
                <a:cs typeface="Times New Roman"/>
              </a:rPr>
              <a:t> </a:t>
            </a:r>
            <a:r>
              <a:rPr sz="900" b="1" spc="-35" dirty="0">
                <a:latin typeface="Times New Roman"/>
                <a:cs typeface="Times New Roman"/>
              </a:rPr>
              <a:t>/&gt;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92372" y="7580446"/>
            <a:ext cx="2051685" cy="42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5275">
              <a:lnSpc>
                <a:spcPct val="146700"/>
              </a:lnSpc>
              <a:spcBef>
                <a:spcPts val="95"/>
              </a:spcBef>
            </a:pPr>
            <a:r>
              <a:rPr sz="900" b="1" dirty="0">
                <a:latin typeface="Times New Roman"/>
                <a:cs typeface="Times New Roman"/>
              </a:rPr>
              <a:t>&lt;button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className="btn</a:t>
            </a:r>
            <a:r>
              <a:rPr sz="900" b="1" spc="10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joinBtn" </a:t>
            </a:r>
            <a:r>
              <a:rPr sz="900" b="1" dirty="0">
                <a:latin typeface="Times New Roman"/>
                <a:cs typeface="Times New Roman"/>
              </a:rPr>
              <a:t>onClick={joinRoom}&gt;</a:t>
            </a:r>
            <a:r>
              <a:rPr sz="900" b="1" spc="10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Join</a:t>
            </a:r>
            <a:r>
              <a:rPr sz="900" b="1" spc="12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&lt;/button&gt;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992372" y="8078793"/>
            <a:ext cx="2606675" cy="434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5275">
              <a:lnSpc>
                <a:spcPct val="148900"/>
              </a:lnSpc>
              <a:spcBef>
                <a:spcPts val="95"/>
              </a:spcBef>
            </a:pPr>
            <a:r>
              <a:rPr sz="900" b="1" dirty="0">
                <a:latin typeface="Times New Roman"/>
                <a:cs typeface="Times New Roman"/>
              </a:rPr>
              <a:t>&lt;span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className="createInfo"&gt;</a:t>
            </a:r>
            <a:r>
              <a:rPr sz="900" b="1" spc="3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If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you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don't </a:t>
            </a:r>
            <a:r>
              <a:rPr sz="900" b="1" dirty="0">
                <a:latin typeface="Times New Roman"/>
                <a:cs typeface="Times New Roman"/>
              </a:rPr>
              <a:t>have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an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invite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then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create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&amp;nbsp;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92372" y="8583238"/>
            <a:ext cx="2346960" cy="734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54965">
              <a:lnSpc>
                <a:spcPct val="148900"/>
              </a:lnSpc>
              <a:spcBef>
                <a:spcPts val="95"/>
              </a:spcBef>
            </a:pPr>
            <a:r>
              <a:rPr sz="900" b="1" dirty="0">
                <a:latin typeface="Times New Roman"/>
                <a:cs typeface="Times New Roman"/>
              </a:rPr>
              <a:t>&lt;a</a:t>
            </a:r>
            <a:r>
              <a:rPr sz="900" b="1" spc="12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onClick={createNewRoom}</a:t>
            </a:r>
            <a:r>
              <a:rPr sz="900" b="1" spc="11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href="" </a:t>
            </a:r>
            <a:r>
              <a:rPr sz="900" b="1" dirty="0">
                <a:latin typeface="Times New Roman"/>
                <a:cs typeface="Times New Roman"/>
              </a:rPr>
              <a:t>className="createNewBtn"</a:t>
            </a:r>
            <a:r>
              <a:rPr sz="900" b="1" spc="9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&gt;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new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room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&lt;/a&gt;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00">
              <a:latin typeface="Times New Roman"/>
              <a:cs typeface="Times New Roman"/>
            </a:endParaRPr>
          </a:p>
          <a:p>
            <a:pPr marL="307975">
              <a:lnSpc>
                <a:spcPct val="100000"/>
              </a:lnSpc>
              <a:spcBef>
                <a:spcPts val="5"/>
              </a:spcBef>
              <a:tabLst>
                <a:tab pos="974090" algn="l"/>
              </a:tabLst>
            </a:pPr>
            <a:r>
              <a:rPr sz="900" b="1" spc="-10" dirty="0">
                <a:latin typeface="Times New Roman"/>
                <a:cs typeface="Times New Roman"/>
              </a:rPr>
              <a:t>&lt;/span&gt;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-10" dirty="0">
                <a:latin typeface="Times New Roman"/>
                <a:cs typeface="Times New Roman"/>
              </a:rPr>
              <a:t>&lt;/div&gt;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38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55444" y="1324005"/>
            <a:ext cx="1796414" cy="4851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0540" algn="l"/>
              </a:tabLst>
            </a:pPr>
            <a:r>
              <a:rPr sz="900" b="1" spc="-10" dirty="0">
                <a:latin typeface="Times New Roman"/>
                <a:cs typeface="Times New Roman"/>
              </a:rPr>
              <a:t>&lt;/div&gt;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-10" dirty="0">
                <a:latin typeface="Times New Roman"/>
                <a:cs typeface="Times New Roman"/>
              </a:rPr>
              <a:t>&lt;footer&gt;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90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</a:pPr>
            <a:r>
              <a:rPr sz="900" b="1" dirty="0">
                <a:latin typeface="Times New Roman"/>
                <a:cs typeface="Times New Roman"/>
              </a:rPr>
              <a:t>&lt;h4&gt;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Built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with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Segoe UI Symbol"/>
                <a:cs typeface="Segoe UI Symbol"/>
              </a:rPr>
              <a:t>❤</a:t>
            </a:r>
            <a:r>
              <a:rPr sz="900" b="1" dirty="0">
                <a:latin typeface="Times New Roman"/>
                <a:cs typeface="Times New Roman"/>
              </a:rPr>
              <a:t>&amp;nbsp;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by{"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"}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6" y="1898974"/>
            <a:ext cx="2669540" cy="630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95275">
              <a:lnSpc>
                <a:spcPct val="147200"/>
              </a:lnSpc>
              <a:spcBef>
                <a:spcPts val="90"/>
              </a:spcBef>
            </a:pPr>
            <a:r>
              <a:rPr sz="900" b="1" spc="-25" dirty="0">
                <a:latin typeface="Times New Roman"/>
                <a:cs typeface="Times New Roman"/>
              </a:rPr>
              <a:t>&lt;a</a:t>
            </a:r>
            <a:r>
              <a:rPr sz="900" b="1" spc="-10" dirty="0">
                <a:latin typeface="Times New Roman"/>
                <a:cs typeface="Times New Roman"/>
              </a:rPr>
              <a:t> href="https://github.com/Rishabh_Dev_Mishra"&gt;Ri </a:t>
            </a:r>
            <a:r>
              <a:rPr sz="900" b="1" dirty="0">
                <a:latin typeface="Times New Roman"/>
                <a:cs typeface="Times New Roman"/>
              </a:rPr>
              <a:t>shabh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&amp;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Chirag&lt;/a&gt;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&lt;/h4&gt;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444" y="2665126"/>
            <a:ext cx="106553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&lt;/footer&gt;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&lt;/div&gt;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);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};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5444" y="2966877"/>
            <a:ext cx="110045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export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default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Home;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7316" y="3496934"/>
            <a:ext cx="2511425" cy="911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7630">
              <a:lnSpc>
                <a:spcPct val="146700"/>
              </a:lnSpc>
              <a:spcBef>
                <a:spcPts val="95"/>
              </a:spcBef>
            </a:pPr>
            <a:r>
              <a:rPr sz="1050" b="1" dirty="0">
                <a:latin typeface="Times New Roman"/>
                <a:cs typeface="Times New Roman"/>
              </a:rPr>
              <a:t>b)</a:t>
            </a:r>
            <a:r>
              <a:rPr sz="1050" b="1" spc="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Editor</a:t>
            </a:r>
            <a:r>
              <a:rPr sz="1050" b="1" spc="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page</a:t>
            </a:r>
            <a:r>
              <a:rPr sz="1050" b="1" spc="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where</a:t>
            </a:r>
            <a:r>
              <a:rPr sz="1050" b="1" spc="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code</a:t>
            </a:r>
            <a:r>
              <a:rPr sz="1050" b="1" spc="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will</a:t>
            </a:r>
            <a:r>
              <a:rPr sz="1050" b="1" spc="4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be </a:t>
            </a:r>
            <a:r>
              <a:rPr sz="1050" b="1" spc="-10" dirty="0">
                <a:latin typeface="Times New Roman"/>
                <a:cs typeface="Times New Roman"/>
              </a:rPr>
              <a:t>written:</a:t>
            </a:r>
            <a:endParaRPr sz="1050">
              <a:latin typeface="Times New Roman"/>
              <a:cs typeface="Times New Roman"/>
            </a:endParaRPr>
          </a:p>
          <a:p>
            <a:pPr marL="12700" marR="5080">
              <a:lnSpc>
                <a:spcPct val="148900"/>
              </a:lnSpc>
              <a:spcBef>
                <a:spcPts val="65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React,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useState,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useRef,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useEffect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from </a:t>
            </a:r>
            <a:r>
              <a:rPr sz="900" b="1" spc="-10" dirty="0">
                <a:latin typeface="Times New Roman"/>
                <a:cs typeface="Times New Roman"/>
              </a:rPr>
              <a:t>"react";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316" y="4542694"/>
            <a:ext cx="185483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toast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"react-hot-</a:t>
            </a:r>
            <a:r>
              <a:rPr sz="900" b="1" spc="-10" dirty="0">
                <a:latin typeface="Times New Roman"/>
                <a:cs typeface="Times New Roman"/>
              </a:rPr>
              <a:t>toast";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7316" y="4788058"/>
            <a:ext cx="188150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axios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"axios";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ACTIONS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"../Actions";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316" y="5277262"/>
            <a:ext cx="221234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Client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"../components/Client";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7316" y="5521102"/>
            <a:ext cx="225298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Editor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"../components/Editor";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7316" y="5764942"/>
            <a:ext cx="2282190" cy="5562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initSocket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"../socket";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ct val="105600"/>
              </a:lnSpc>
              <a:spcBef>
                <a:spcPts val="795"/>
              </a:spcBef>
            </a:pPr>
            <a:r>
              <a:rPr sz="900" b="1" dirty="0">
                <a:latin typeface="Times New Roman"/>
                <a:cs typeface="Times New Roman"/>
              </a:rPr>
              <a:t>import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useLocation,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useNavigate,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Navigate, </a:t>
            </a:r>
            <a:r>
              <a:rPr sz="900" b="1" dirty="0">
                <a:latin typeface="Times New Roman"/>
                <a:cs typeface="Times New Roman"/>
              </a:rPr>
              <a:t>useParams</a:t>
            </a:r>
            <a:r>
              <a:rPr sz="900" b="1" spc="9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from</a:t>
            </a:r>
            <a:r>
              <a:rPr sz="900" b="1" spc="8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"react-router-</a:t>
            </a:r>
            <a:r>
              <a:rPr sz="900" b="1" spc="-20" dirty="0">
                <a:latin typeface="Times New Roman"/>
                <a:cs typeface="Times New Roman"/>
              </a:rPr>
              <a:t>dom";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7316" y="6400450"/>
            <a:ext cx="2230120" cy="312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EditorPage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()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socketRef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=</a:t>
            </a:r>
            <a:r>
              <a:rPr sz="900" b="1" spc="-10" dirty="0">
                <a:latin typeface="Times New Roman"/>
                <a:cs typeface="Times New Roman"/>
              </a:rPr>
              <a:t> useRef(null);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5677" y="6792117"/>
            <a:ext cx="143065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codeRef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useRef("");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5677" y="7034433"/>
            <a:ext cx="1635125" cy="4114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location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useLocation();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roomId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useParams();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5677" y="7525162"/>
            <a:ext cx="1923414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reactNavigator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useNavigate();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5677" y="7769002"/>
            <a:ext cx="199834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[clients,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setClients]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useState([]);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95677" y="8014365"/>
            <a:ext cx="250698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[output,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setOutput]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useState("");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[language,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setLanguage]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useState("cpp");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7316" y="8503570"/>
            <a:ext cx="2603500" cy="5562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18110">
              <a:lnSpc>
                <a:spcPct val="1056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[userInput,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setUserInput]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useState("");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//</a:t>
            </a:r>
            <a:r>
              <a:rPr sz="900" b="1" dirty="0">
                <a:latin typeface="Times New Roman"/>
                <a:cs typeface="Times New Roman"/>
              </a:rPr>
              <a:t> State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to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store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input</a:t>
            </a:r>
            <a:endParaRPr sz="900">
              <a:latin typeface="Times New Roman"/>
              <a:cs typeface="Times New Roman"/>
            </a:endParaRPr>
          </a:p>
          <a:p>
            <a:pPr marL="130810">
              <a:lnSpc>
                <a:spcPct val="100000"/>
              </a:lnSpc>
              <a:spcBef>
                <a:spcPts val="855"/>
              </a:spcBef>
            </a:pPr>
            <a:r>
              <a:rPr sz="900" b="1" dirty="0">
                <a:latin typeface="Times New Roman"/>
                <a:cs typeface="Times New Roman"/>
              </a:rPr>
              <a:t>useEffect(()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1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init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2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async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()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1229" y="9139077"/>
            <a:ext cx="1967864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socketRef.current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await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initSocket();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92372" y="1324005"/>
            <a:ext cx="260096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6395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socketRef.current.on("connect_error",</a:t>
            </a:r>
            <a:r>
              <a:rPr sz="900" b="1" spc="290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(err)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handleErrors(err));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92372" y="1714150"/>
            <a:ext cx="261556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6395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socketRef.current.on("connect_failed",</a:t>
            </a:r>
            <a:r>
              <a:rPr sz="900" b="1" spc="29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(err)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handleErrors(err));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92372" y="2104293"/>
            <a:ext cx="1985645" cy="4591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354965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function</a:t>
            </a:r>
            <a:r>
              <a:rPr sz="900" b="1" spc="8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handleErrors(e)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r>
              <a:rPr sz="900" b="1" dirty="0">
                <a:latin typeface="Times New Roman"/>
                <a:cs typeface="Times New Roman"/>
              </a:rPr>
              <a:t> toast.error("Socket</a:t>
            </a:r>
            <a:r>
              <a:rPr sz="900" b="1" spc="114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connection</a:t>
            </a:r>
            <a:r>
              <a:rPr sz="900" b="1" spc="12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failed. </a:t>
            </a:r>
            <a:r>
              <a:rPr sz="900" b="1" dirty="0">
                <a:latin typeface="Times New Roman"/>
                <a:cs typeface="Times New Roman"/>
              </a:rPr>
              <a:t>Redirecting...");</a:t>
            </a:r>
            <a:r>
              <a:rPr sz="900" b="1" spc="1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reactNavigator("/");</a:t>
            </a:r>
            <a:r>
              <a:rPr sz="900" b="1" spc="14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}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92372" y="2640742"/>
            <a:ext cx="2513330" cy="312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353695">
              <a:lnSpc>
                <a:spcPct val="106700"/>
              </a:lnSpc>
              <a:spcBef>
                <a:spcPts val="50"/>
              </a:spcBef>
            </a:pPr>
            <a:r>
              <a:rPr sz="900" b="1" spc="10" dirty="0">
                <a:latin typeface="Times New Roman"/>
                <a:cs typeface="Times New Roman"/>
              </a:rPr>
              <a:t>socketRef.current.emit(ACTIONS.JOIN,</a:t>
            </a:r>
            <a:r>
              <a:rPr sz="900" b="1" spc="-5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r>
              <a:rPr sz="900" b="1" dirty="0">
                <a:latin typeface="Times New Roman"/>
                <a:cs typeface="Times New Roman"/>
              </a:rPr>
              <a:t> roomId,</a:t>
            </a:r>
            <a:r>
              <a:rPr sz="900" b="1" spc="114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username:</a:t>
            </a:r>
            <a:r>
              <a:rPr sz="900" b="1" spc="11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location.state?.username,</a:t>
            </a:r>
            <a:r>
              <a:rPr sz="900" b="1" spc="12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});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92372" y="3030886"/>
            <a:ext cx="2637790" cy="9467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24130" indent="353695">
              <a:lnSpc>
                <a:spcPct val="106700"/>
              </a:lnSpc>
              <a:spcBef>
                <a:spcPts val="50"/>
              </a:spcBef>
            </a:pPr>
            <a:r>
              <a:rPr sz="900" b="1" spc="10" dirty="0">
                <a:latin typeface="Times New Roman"/>
                <a:cs typeface="Times New Roman"/>
              </a:rPr>
              <a:t>socketRef.current.on(ACTIONS.JOINED,</a:t>
            </a:r>
            <a:r>
              <a:rPr sz="900" b="1" spc="-55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({</a:t>
            </a:r>
            <a:r>
              <a:rPr sz="900" b="1" dirty="0">
                <a:latin typeface="Times New Roman"/>
                <a:cs typeface="Times New Roman"/>
              </a:rPr>
              <a:t> clients,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username,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socketId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})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  <a:spcBef>
                <a:spcPts val="840"/>
              </a:spcBef>
            </a:pPr>
            <a:r>
              <a:rPr sz="900" b="1" dirty="0">
                <a:latin typeface="Times New Roman"/>
                <a:cs typeface="Times New Roman"/>
              </a:rPr>
              <a:t>if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(username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!==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location.state?.username)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toast.success(${username}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joined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the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room.);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}</a:t>
            </a:r>
            <a:endParaRPr sz="9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  <a:spcBef>
                <a:spcPts val="840"/>
              </a:spcBef>
            </a:pPr>
            <a:r>
              <a:rPr sz="900" b="1" spc="-10" dirty="0">
                <a:latin typeface="Times New Roman"/>
                <a:cs typeface="Times New Roman"/>
              </a:rPr>
              <a:t>setClients(clients);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92372" y="4194118"/>
            <a:ext cx="2599690" cy="321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95"/>
              </a:spcBef>
            </a:pPr>
            <a:r>
              <a:rPr sz="900" b="1" spc="10" dirty="0">
                <a:latin typeface="Times New Roman"/>
                <a:cs typeface="Times New Roman"/>
              </a:rPr>
              <a:t>socketRef.current.emit(ACTIONS.SYNC_CODE,</a:t>
            </a:r>
            <a:r>
              <a:rPr sz="900" b="1" spc="-50" dirty="0">
                <a:latin typeface="Times New Roman"/>
                <a:cs typeface="Times New Roman"/>
              </a:rPr>
              <a:t> {</a:t>
            </a:r>
            <a:r>
              <a:rPr sz="900" b="1" dirty="0">
                <a:latin typeface="Times New Roman"/>
                <a:cs typeface="Times New Roman"/>
              </a:rPr>
              <a:t> code: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codeRef.current,</a:t>
            </a:r>
            <a:r>
              <a:rPr sz="900" b="1" spc="8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socketId,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64647" y="4591462"/>
            <a:ext cx="30099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});</a:t>
            </a:r>
            <a:r>
              <a:rPr sz="900" b="1" spc="1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});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92372" y="4983130"/>
            <a:ext cx="2620645" cy="55626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50"/>
              </a:spcBef>
            </a:pPr>
            <a:r>
              <a:rPr sz="900" b="1" spc="-10" dirty="0">
                <a:latin typeface="Times New Roman"/>
                <a:cs typeface="Times New Roman"/>
              </a:rPr>
              <a:t>socketRef.current.on(ACTIONS.CODE_CHANGE,</a:t>
            </a:r>
            <a:r>
              <a:rPr sz="900" b="1" spc="50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({</a:t>
            </a:r>
            <a:r>
              <a:rPr sz="900" b="1" spc="2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code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})</a:t>
            </a:r>
            <a:r>
              <a:rPr sz="900" b="1" spc="1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  <a:spcBef>
                <a:spcPts val="840"/>
              </a:spcBef>
            </a:pPr>
            <a:r>
              <a:rPr sz="900" b="1" dirty="0">
                <a:latin typeface="Times New Roman"/>
                <a:cs typeface="Times New Roman"/>
              </a:rPr>
              <a:t>codeRef.current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code;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});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92372" y="5763417"/>
            <a:ext cx="2653665" cy="457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55"/>
              </a:spcBef>
            </a:pPr>
            <a:r>
              <a:rPr sz="900" b="1" spc="-10" dirty="0">
                <a:latin typeface="Times New Roman"/>
                <a:cs typeface="Times New Roman"/>
              </a:rPr>
              <a:t>socketRef.current.on(ACTIONS.DISCONNECTED,</a:t>
            </a:r>
            <a:r>
              <a:rPr sz="900" b="1" spc="50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({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socketId,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username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})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r>
              <a:rPr sz="900" b="1" dirty="0">
                <a:latin typeface="Times New Roman"/>
                <a:cs typeface="Times New Roman"/>
              </a:rPr>
              <a:t> toast.success(${username}</a:t>
            </a:r>
            <a:r>
              <a:rPr sz="900" b="1" spc="9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left</a:t>
            </a:r>
            <a:r>
              <a:rPr sz="900" b="1" spc="9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the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room.);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92372" y="6299865"/>
            <a:ext cx="2579370" cy="311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471805">
              <a:lnSpc>
                <a:spcPct val="1056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setClients((prev)</a:t>
            </a:r>
            <a:r>
              <a:rPr sz="900" b="1" spc="9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8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prev.filter((client)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=&gt;</a:t>
            </a:r>
            <a:r>
              <a:rPr sz="900" b="1" dirty="0">
                <a:latin typeface="Times New Roman"/>
                <a:cs typeface="Times New Roman"/>
              </a:rPr>
              <a:t> client.socketId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!==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socketId));</a:t>
            </a:r>
            <a:r>
              <a:rPr sz="900" b="1" spc="8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});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};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29095" y="6690010"/>
            <a:ext cx="30988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10" dirty="0">
                <a:latin typeface="Times New Roman"/>
                <a:cs typeface="Times New Roman"/>
              </a:rPr>
              <a:t>init();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92372" y="6933849"/>
            <a:ext cx="1596390" cy="5562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892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return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()</a:t>
            </a:r>
            <a:r>
              <a:rPr sz="900" b="1" spc="1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  <a:p>
            <a:pPr marL="12700" marR="5080" indent="354965">
              <a:lnSpc>
                <a:spcPct val="105600"/>
              </a:lnSpc>
              <a:spcBef>
                <a:spcPts val="795"/>
              </a:spcBef>
            </a:pPr>
            <a:r>
              <a:rPr sz="900" b="1" dirty="0">
                <a:latin typeface="Times New Roman"/>
                <a:cs typeface="Times New Roman"/>
              </a:rPr>
              <a:t>if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(socketRef.current)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r>
              <a:rPr sz="900" b="1" spc="-10" dirty="0">
                <a:latin typeface="Times New Roman"/>
                <a:cs typeface="Times New Roman"/>
              </a:rPr>
              <a:t> socketRef.current.disconnect();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64647" y="7569358"/>
            <a:ext cx="221170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10" dirty="0">
                <a:latin typeface="Times New Roman"/>
                <a:cs typeface="Times New Roman"/>
              </a:rPr>
              <a:t>socketRef.current.off(ACTIONS.JOINED);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92372" y="7959502"/>
            <a:ext cx="2677160" cy="3124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10" dirty="0">
                <a:latin typeface="Times New Roman"/>
                <a:cs typeface="Times New Roman"/>
              </a:rPr>
              <a:t>socketRef.current.off(ACTIONS.DISCONNECTED)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00" b="1" spc="-50" dirty="0">
                <a:latin typeface="Times New Roman"/>
                <a:cs typeface="Times New Roman"/>
              </a:rPr>
              <a:t>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92372" y="8495949"/>
            <a:ext cx="2684145" cy="4114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10" dirty="0">
                <a:latin typeface="Times New Roman"/>
                <a:cs typeface="Times New Roman"/>
              </a:rPr>
              <a:t>socketRef.current.off(ACTIONS.CODE_CHANGE);</a:t>
            </a:r>
            <a:endParaRPr sz="9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  <a:spcBef>
                <a:spcPts val="855"/>
              </a:spcBef>
            </a:pPr>
            <a:r>
              <a:rPr sz="900" b="1" dirty="0">
                <a:latin typeface="Times New Roman"/>
                <a:cs typeface="Times New Roman"/>
              </a:rPr>
              <a:t>} };</a:t>
            </a:r>
            <a:r>
              <a:rPr sz="900" b="1" spc="250" dirty="0">
                <a:latin typeface="Times New Roman"/>
                <a:cs typeface="Times New Roman"/>
              </a:rPr>
              <a:t>  </a:t>
            </a:r>
            <a:r>
              <a:rPr sz="900" b="1" dirty="0">
                <a:latin typeface="Times New Roman"/>
                <a:cs typeface="Times New Roman"/>
              </a:rPr>
              <a:t>},</a:t>
            </a:r>
            <a:r>
              <a:rPr sz="900" b="1" spc="15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[]);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10733" y="8985154"/>
            <a:ext cx="170053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executeCode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async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()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6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39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14039" y="1324005"/>
            <a:ext cx="85280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options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1229" y="1569370"/>
            <a:ext cx="93726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method: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"POST",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316" y="1813210"/>
            <a:ext cx="1650364" cy="312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354965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url:</a:t>
            </a:r>
            <a:r>
              <a:rPr sz="900" b="1" spc="2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"https://judge0- ce.p.rapidapi.com/submissions",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7316" y="2203354"/>
            <a:ext cx="2449195" cy="55626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354965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params: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base64_encoded: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"false",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wait: </a:t>
            </a:r>
            <a:r>
              <a:rPr sz="900" b="1" dirty="0">
                <a:latin typeface="Times New Roman"/>
                <a:cs typeface="Times New Roman"/>
              </a:rPr>
              <a:t>"true"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},</a:t>
            </a:r>
            <a:endParaRPr sz="900">
              <a:latin typeface="Times New Roman"/>
              <a:cs typeface="Times New Roman"/>
            </a:endParaRPr>
          </a:p>
          <a:p>
            <a:pPr marL="367665">
              <a:lnSpc>
                <a:spcPct val="100000"/>
              </a:lnSpc>
              <a:spcBef>
                <a:spcPts val="840"/>
              </a:spcBef>
            </a:pPr>
            <a:r>
              <a:rPr sz="900" b="1" dirty="0">
                <a:latin typeface="Times New Roman"/>
                <a:cs typeface="Times New Roman"/>
              </a:rPr>
              <a:t>headers: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9591" y="2838862"/>
            <a:ext cx="180975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"content-type":</a:t>
            </a:r>
            <a:r>
              <a:rPr sz="900" b="1" spc="10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"application/json",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316" y="3082702"/>
            <a:ext cx="2664460" cy="4572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471805">
              <a:lnSpc>
                <a:spcPct val="106100"/>
              </a:lnSpc>
              <a:spcBef>
                <a:spcPts val="55"/>
              </a:spcBef>
            </a:pPr>
            <a:r>
              <a:rPr sz="900" b="1" dirty="0">
                <a:latin typeface="Times New Roman"/>
                <a:cs typeface="Times New Roman"/>
              </a:rPr>
              <a:t>"X-RapidAPI-</a:t>
            </a:r>
            <a:r>
              <a:rPr sz="900" b="1" spc="-20" dirty="0">
                <a:latin typeface="Times New Roman"/>
                <a:cs typeface="Times New Roman"/>
              </a:rPr>
              <a:t>Key": </a:t>
            </a:r>
            <a:r>
              <a:rPr sz="900" b="1" spc="-10" dirty="0">
                <a:latin typeface="Times New Roman"/>
                <a:cs typeface="Times New Roman"/>
              </a:rPr>
              <a:t>"849c6b413bmshe4226e25e12af8dp1b55b0jsn613c9c f0e560",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7316" y="3619150"/>
            <a:ext cx="2044700" cy="312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471805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"X-RapidAPI-Host":</a:t>
            </a:r>
            <a:r>
              <a:rPr sz="900" b="1" spc="1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"judge0- </a:t>
            </a:r>
            <a:r>
              <a:rPr sz="900" b="1" dirty="0">
                <a:latin typeface="Times New Roman"/>
                <a:cs typeface="Times New Roman"/>
              </a:rPr>
              <a:t>ce.p.rapidapi.com",</a:t>
            </a:r>
            <a:r>
              <a:rPr sz="900" b="1" spc="17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},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316" y="4009294"/>
            <a:ext cx="2676525" cy="3124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7665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data: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language_id: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language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===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"cpp"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?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54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00" b="1" dirty="0">
                <a:latin typeface="Times New Roman"/>
                <a:cs typeface="Times New Roman"/>
              </a:rPr>
              <a:t>: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63,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source_code: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codeRef.current,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9591" y="4400962"/>
            <a:ext cx="219011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stdin: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userInput,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//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Pass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the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input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here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7316" y="4545742"/>
            <a:ext cx="21590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},</a:t>
            </a:r>
            <a:r>
              <a:rPr sz="900" b="1" spc="2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};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7316" y="4791106"/>
            <a:ext cx="1950085" cy="6019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236220">
              <a:lnSpc>
                <a:spcPct val="1059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try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2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const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response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await </a:t>
            </a:r>
            <a:r>
              <a:rPr sz="900" b="1" spc="-10" dirty="0">
                <a:latin typeface="Times New Roman"/>
                <a:cs typeface="Times New Roman"/>
              </a:rPr>
              <a:t>axios.request(options); </a:t>
            </a:r>
            <a:r>
              <a:rPr sz="900" b="1" dirty="0">
                <a:latin typeface="Times New Roman"/>
                <a:cs typeface="Times New Roman"/>
              </a:rPr>
              <a:t>setOutput(response.data.stdout</a:t>
            </a:r>
            <a:r>
              <a:rPr sz="900" b="1" spc="22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||</a:t>
            </a:r>
            <a:r>
              <a:rPr sz="900" b="1" dirty="0">
                <a:latin typeface="Times New Roman"/>
                <a:cs typeface="Times New Roman"/>
              </a:rPr>
              <a:t> response.data.stderr);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catch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(error)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1229" y="5470810"/>
            <a:ext cx="190690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setOutput("Error</a:t>
            </a:r>
            <a:r>
              <a:rPr sz="900" b="1" spc="8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executing</a:t>
            </a:r>
            <a:r>
              <a:rPr sz="900" b="1" spc="10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code");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}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5677" y="5716174"/>
            <a:ext cx="1580515" cy="4114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25" dirty="0">
                <a:latin typeface="Times New Roman"/>
                <a:cs typeface="Times New Roman"/>
              </a:rPr>
              <a:t>};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900" b="1" dirty="0">
                <a:latin typeface="Times New Roman"/>
                <a:cs typeface="Times New Roman"/>
              </a:rPr>
              <a:t>async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function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copyRoomId()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4039" y="6205378"/>
            <a:ext cx="25146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try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1229" y="6450742"/>
            <a:ext cx="233680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await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navigator.clipboard.writeText(roomId);</a:t>
            </a:r>
            <a:endParaRPr sz="9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840"/>
              </a:spcBef>
            </a:pPr>
            <a:r>
              <a:rPr sz="900" b="1" dirty="0">
                <a:latin typeface="Times New Roman"/>
                <a:cs typeface="Times New Roman"/>
              </a:rPr>
              <a:t>toast.success("Room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ID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copied!");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4039" y="6939946"/>
            <a:ext cx="70548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}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catch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(err)</a:t>
            </a:r>
            <a:r>
              <a:rPr sz="900" b="1" spc="2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2401" y="7185310"/>
            <a:ext cx="233172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72665" algn="l"/>
              </a:tabLst>
            </a:pPr>
            <a:r>
              <a:rPr sz="900" b="1" dirty="0">
                <a:latin typeface="Times New Roman"/>
                <a:cs typeface="Times New Roman"/>
              </a:rPr>
              <a:t>toast.error("Could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not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copy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Room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ID");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}</a:t>
            </a:r>
            <a:r>
              <a:rPr sz="900" b="1" dirty="0">
                <a:latin typeface="Times New Roman"/>
                <a:cs typeface="Times New Roman"/>
              </a:rPr>
              <a:t>	</a:t>
            </a:r>
            <a:r>
              <a:rPr sz="900" b="1" spc="-50" dirty="0">
                <a:latin typeface="Times New Roman"/>
                <a:cs typeface="Times New Roman"/>
              </a:rPr>
              <a:t>}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5677" y="7429149"/>
            <a:ext cx="2411730" cy="8991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function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leaveRoom()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{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reactNavigator("/");</a:t>
            </a:r>
            <a:r>
              <a:rPr sz="900" b="1" spc="335" dirty="0">
                <a:latin typeface="Times New Roman"/>
                <a:cs typeface="Times New Roman"/>
              </a:rPr>
              <a:t>  </a:t>
            </a:r>
            <a:r>
              <a:rPr sz="900" b="1" spc="-50" dirty="0">
                <a:latin typeface="Times New Roman"/>
                <a:cs typeface="Times New Roman"/>
              </a:rPr>
              <a:t>}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900" b="1" dirty="0">
                <a:latin typeface="Times New Roman"/>
                <a:cs typeface="Times New Roman"/>
              </a:rPr>
              <a:t>if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(!location.state)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  <a:p>
            <a:pPr marL="12700" marR="403225" indent="118110">
              <a:lnSpc>
                <a:spcPct val="177800"/>
              </a:lnSpc>
            </a:pPr>
            <a:r>
              <a:rPr sz="900" b="1" dirty="0">
                <a:latin typeface="Times New Roman"/>
                <a:cs typeface="Times New Roman"/>
              </a:rPr>
              <a:t>return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&lt;Navigate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to="/"</a:t>
            </a:r>
            <a:r>
              <a:rPr sz="900" b="1" spc="2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/&gt;;</a:t>
            </a:r>
            <a:r>
              <a:rPr sz="900" b="1" spc="300" dirty="0">
                <a:latin typeface="Times New Roman"/>
                <a:cs typeface="Times New Roman"/>
              </a:rPr>
              <a:t>  </a:t>
            </a:r>
            <a:r>
              <a:rPr sz="900" b="1" spc="-50" dirty="0">
                <a:latin typeface="Times New Roman"/>
                <a:cs typeface="Times New Roman"/>
              </a:rPr>
              <a:t>}</a:t>
            </a:r>
            <a:r>
              <a:rPr sz="900" b="1" spc="50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return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(&lt;div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className="mainWrap"&gt;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7316" y="8407558"/>
            <a:ext cx="2329180" cy="5562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67665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&lt;div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className="aside"&gt;</a:t>
            </a:r>
            <a:endParaRPr sz="900">
              <a:latin typeface="Times New Roman"/>
              <a:cs typeface="Times New Roman"/>
            </a:endParaRPr>
          </a:p>
          <a:p>
            <a:pPr marL="12700" marR="5080" indent="471805">
              <a:lnSpc>
                <a:spcPct val="106700"/>
              </a:lnSpc>
              <a:spcBef>
                <a:spcPts val="770"/>
              </a:spcBef>
            </a:pPr>
            <a:r>
              <a:rPr sz="900" b="1" dirty="0">
                <a:latin typeface="Times New Roman"/>
                <a:cs typeface="Times New Roman"/>
              </a:rPr>
              <a:t>&lt;div</a:t>
            </a:r>
            <a:r>
              <a:rPr sz="900" b="1" spc="10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className="asideInner"&gt;</a:t>
            </a:r>
            <a:r>
              <a:rPr sz="900" b="1" spc="114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&lt;div </a:t>
            </a:r>
            <a:r>
              <a:rPr sz="900" b="1" spc="-10" dirty="0">
                <a:latin typeface="Times New Roman"/>
                <a:cs typeface="Times New Roman"/>
              </a:rPr>
              <a:t>className="logo"&gt;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92372" y="1324005"/>
            <a:ext cx="2266315" cy="311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705485">
              <a:lnSpc>
                <a:spcPct val="1056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&lt;img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className="logoImage" </a:t>
            </a:r>
            <a:r>
              <a:rPr sz="900" b="1" dirty="0">
                <a:latin typeface="Times New Roman"/>
                <a:cs typeface="Times New Roman"/>
              </a:rPr>
              <a:t>src="/code-sync.png"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alt="logo"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/&gt;</a:t>
            </a:r>
            <a:r>
              <a:rPr sz="900" b="1" spc="185" dirty="0">
                <a:latin typeface="Times New Roman"/>
                <a:cs typeface="Times New Roman"/>
              </a:rPr>
              <a:t>  </a:t>
            </a:r>
            <a:r>
              <a:rPr sz="900" b="1" spc="-10" dirty="0">
                <a:latin typeface="Times New Roman"/>
                <a:cs typeface="Times New Roman"/>
              </a:rPr>
              <a:t>&lt;/div&gt;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92372" y="1714150"/>
            <a:ext cx="1950085" cy="311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588010">
              <a:lnSpc>
                <a:spcPct val="1056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&lt;h3&gt;Connected&lt;/h3&gt;</a:t>
            </a:r>
            <a:r>
              <a:rPr sz="900" b="1" spc="160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&lt;div </a:t>
            </a:r>
            <a:r>
              <a:rPr sz="900" b="1" spc="-10" dirty="0">
                <a:latin typeface="Times New Roman"/>
                <a:cs typeface="Times New Roman"/>
              </a:rPr>
              <a:t>className="clientsList"&gt;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92372" y="2104293"/>
            <a:ext cx="2686050" cy="4591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705485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{clients.map((client)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(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&lt;Client </a:t>
            </a:r>
            <a:r>
              <a:rPr sz="900" b="1" dirty="0">
                <a:latin typeface="Times New Roman"/>
                <a:cs typeface="Times New Roman"/>
              </a:rPr>
              <a:t>key={client.socketId}</a:t>
            </a:r>
            <a:r>
              <a:rPr sz="900" b="1" spc="18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username={client.username}</a:t>
            </a:r>
            <a:r>
              <a:rPr sz="900" b="1" spc="215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/&gt;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00" b="1" dirty="0">
                <a:latin typeface="Times New Roman"/>
                <a:cs typeface="Times New Roman"/>
              </a:rPr>
              <a:t>))}</a:t>
            </a:r>
            <a:r>
              <a:rPr sz="900" b="1" spc="1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&lt;/div&gt;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92372" y="2640742"/>
            <a:ext cx="2620645" cy="312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471805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&lt;/div&gt;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&lt;button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className="btn</a:t>
            </a:r>
            <a:r>
              <a:rPr sz="900" b="1" spc="7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copyBtn" </a:t>
            </a:r>
            <a:r>
              <a:rPr sz="900" b="1" dirty="0">
                <a:latin typeface="Times New Roman"/>
                <a:cs typeface="Times New Roman"/>
              </a:rPr>
              <a:t>onClick={copyRoomId}&gt;</a:t>
            </a:r>
            <a:r>
              <a:rPr sz="900" b="1" spc="10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Copy</a:t>
            </a:r>
            <a:r>
              <a:rPr sz="900" b="1" spc="10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ROOM</a:t>
            </a:r>
            <a:r>
              <a:rPr sz="900" b="1" spc="9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ID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64647" y="3030886"/>
            <a:ext cx="52324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spc="-10" dirty="0">
                <a:latin typeface="Times New Roman"/>
                <a:cs typeface="Times New Roman"/>
              </a:rPr>
              <a:t>&lt;/button&gt;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92372" y="3276250"/>
            <a:ext cx="2286000" cy="311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471805">
              <a:lnSpc>
                <a:spcPct val="1056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&lt;button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className="btn</a:t>
            </a:r>
            <a:r>
              <a:rPr sz="900" b="1" spc="8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leaveBtn" </a:t>
            </a:r>
            <a:r>
              <a:rPr sz="900" b="1" dirty="0">
                <a:latin typeface="Times New Roman"/>
                <a:cs typeface="Times New Roman"/>
              </a:rPr>
              <a:t>onClick={leaveRoom}&gt;</a:t>
            </a:r>
            <a:r>
              <a:rPr sz="900" b="1" spc="114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Leave</a:t>
            </a:r>
            <a:r>
              <a:rPr sz="900" b="1" spc="12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&lt;/button&gt;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47457" y="3666394"/>
            <a:ext cx="204533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&lt;/div&gt;</a:t>
            </a:r>
            <a:r>
              <a:rPr sz="900" b="1" spc="28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&lt;div</a:t>
            </a:r>
            <a:r>
              <a:rPr sz="900" b="1" spc="1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className="editorWrap"&gt;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92372" y="3911758"/>
            <a:ext cx="2399665" cy="311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471805">
              <a:lnSpc>
                <a:spcPct val="1056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&lt;Editor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socketRef={socketRef} </a:t>
            </a:r>
            <a:r>
              <a:rPr sz="900" b="1" dirty="0">
                <a:latin typeface="Times New Roman"/>
                <a:cs typeface="Times New Roman"/>
              </a:rPr>
              <a:t>roomId={roomId}</a:t>
            </a:r>
            <a:r>
              <a:rPr sz="900" b="1" spc="1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onCodeChange={(code)</a:t>
            </a:r>
            <a:r>
              <a:rPr sz="900" b="1" spc="11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120" dirty="0">
                <a:latin typeface="Times New Roman"/>
                <a:cs typeface="Times New Roman"/>
              </a:rPr>
              <a:t> </a:t>
            </a:r>
            <a:r>
              <a:rPr sz="900" b="1" spc="-50" dirty="0">
                <a:latin typeface="Times New Roman"/>
                <a:cs typeface="Times New Roman"/>
              </a:rPr>
              <a:t>{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97855" y="4301902"/>
            <a:ext cx="1479550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codeRef.current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code;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}}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/&gt;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92372" y="4545742"/>
            <a:ext cx="2472690" cy="5562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&lt;span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className="bottomSection"&gt;</a:t>
            </a:r>
            <a:endParaRPr sz="900">
              <a:latin typeface="Times New Roman"/>
              <a:cs typeface="Times New Roman"/>
            </a:endParaRPr>
          </a:p>
          <a:p>
            <a:pPr marL="12700" marR="5080" indent="588010">
              <a:lnSpc>
                <a:spcPct val="105600"/>
              </a:lnSpc>
              <a:spcBef>
                <a:spcPts val="795"/>
              </a:spcBef>
            </a:pPr>
            <a:r>
              <a:rPr sz="900" b="1" dirty="0">
                <a:latin typeface="Times New Roman"/>
                <a:cs typeface="Times New Roman"/>
              </a:rPr>
              <a:t>&lt;select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className="languageSelect" </a:t>
            </a:r>
            <a:r>
              <a:rPr sz="900" b="1" dirty="0">
                <a:latin typeface="Times New Roman"/>
                <a:cs typeface="Times New Roman"/>
              </a:rPr>
              <a:t>onChange={(e)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=&gt;</a:t>
            </a:r>
            <a:r>
              <a:rPr sz="900" b="1" spc="6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setLanguage(e.target.value)}&gt;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92372" y="5181250"/>
            <a:ext cx="2566035" cy="5562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1755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&lt;option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value="cpp"&gt;C++&lt;/option&gt;</a:t>
            </a:r>
            <a:endParaRPr sz="900">
              <a:latin typeface="Times New Roman"/>
              <a:cs typeface="Times New Roman"/>
            </a:endParaRPr>
          </a:p>
          <a:p>
            <a:pPr marL="12700" marR="483234" indent="705485">
              <a:lnSpc>
                <a:spcPct val="106700"/>
              </a:lnSpc>
              <a:spcBef>
                <a:spcPts val="770"/>
              </a:spcBef>
            </a:pPr>
            <a:r>
              <a:rPr sz="900" b="1" spc="-10" dirty="0">
                <a:latin typeface="Times New Roman"/>
                <a:cs typeface="Times New Roman"/>
              </a:rPr>
              <a:t>&lt;option value="javascript"&gt;JavaScript&lt;/option&gt;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92372" y="5815233"/>
            <a:ext cx="2372360" cy="4572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588010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&lt;/select&gt;</a:t>
            </a:r>
            <a:r>
              <a:rPr sz="900" b="1" spc="30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&lt;button</a:t>
            </a:r>
            <a:r>
              <a:rPr sz="900" b="1" spc="6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className="btn </a:t>
            </a:r>
            <a:r>
              <a:rPr sz="900" b="1" dirty="0">
                <a:latin typeface="Times New Roman"/>
                <a:cs typeface="Times New Roman"/>
              </a:rPr>
              <a:t>runBtn"</a:t>
            </a:r>
            <a:r>
              <a:rPr sz="900" b="1" spc="8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onClick={executeCode}&gt;</a:t>
            </a:r>
            <a:r>
              <a:rPr sz="900" b="1" spc="38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Run</a:t>
            </a:r>
            <a:r>
              <a:rPr sz="900" b="1" spc="75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Code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&lt;/button&gt;</a:t>
            </a:r>
            <a:r>
              <a:rPr sz="900" b="1" spc="8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&lt;/span&gt;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92372" y="6351682"/>
            <a:ext cx="1911985" cy="312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471805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{/*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User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Input</a:t>
            </a:r>
            <a:r>
              <a:rPr sz="900" b="1" spc="2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Field</a:t>
            </a:r>
            <a:r>
              <a:rPr sz="900" b="1" spc="4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*/}</a:t>
            </a:r>
            <a:r>
              <a:rPr sz="900" b="1" spc="35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&lt;div </a:t>
            </a:r>
            <a:r>
              <a:rPr sz="900" b="1" spc="-10" dirty="0">
                <a:latin typeface="Times New Roman"/>
                <a:cs typeface="Times New Roman"/>
              </a:rPr>
              <a:t>className="inputSection"&gt;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92372" y="6741825"/>
            <a:ext cx="1949450" cy="3124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588010">
              <a:lnSpc>
                <a:spcPct val="106700"/>
              </a:lnSpc>
              <a:spcBef>
                <a:spcPts val="50"/>
              </a:spcBef>
            </a:pPr>
            <a:r>
              <a:rPr sz="900" b="1" dirty="0">
                <a:latin typeface="Times New Roman"/>
                <a:cs typeface="Times New Roman"/>
              </a:rPr>
              <a:t>&lt;h3&gt;Input&lt;/h3&gt;</a:t>
            </a:r>
            <a:r>
              <a:rPr sz="900" b="1" spc="12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&lt;textarea </a:t>
            </a:r>
            <a:r>
              <a:rPr sz="900" b="1" dirty="0">
                <a:latin typeface="Times New Roman"/>
                <a:cs typeface="Times New Roman"/>
              </a:rPr>
              <a:t>className="inputArea"</a:t>
            </a:r>
            <a:r>
              <a:rPr sz="900" b="1" spc="20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rows="4"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92372" y="7133494"/>
            <a:ext cx="2437765" cy="4559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705485">
              <a:lnSpc>
                <a:spcPct val="1056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placeholder="Enter</a:t>
            </a:r>
            <a:r>
              <a:rPr sz="900" b="1" spc="9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input</a:t>
            </a:r>
            <a:r>
              <a:rPr sz="900" b="1" spc="9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here..." </a:t>
            </a:r>
            <a:r>
              <a:rPr sz="900" b="1" dirty="0">
                <a:latin typeface="Times New Roman"/>
                <a:cs typeface="Times New Roman"/>
              </a:rPr>
              <a:t>value={userInput}</a:t>
            </a:r>
            <a:r>
              <a:rPr sz="900" b="1" spc="1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onChange={(e)</a:t>
            </a:r>
            <a:r>
              <a:rPr sz="900" b="1" spc="120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=&gt;</a:t>
            </a:r>
            <a:r>
              <a:rPr sz="900" b="1" dirty="0">
                <a:latin typeface="Times New Roman"/>
                <a:cs typeface="Times New Roman"/>
              </a:rPr>
              <a:t> setUserInput(e.target.value)}</a:t>
            </a:r>
            <a:r>
              <a:rPr sz="900" b="1" spc="114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/&gt;</a:t>
            </a:r>
            <a:r>
              <a:rPr sz="900" b="1" spc="13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&lt;/div&gt;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92372" y="7668417"/>
            <a:ext cx="1841500" cy="311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471805">
              <a:lnSpc>
                <a:spcPct val="105600"/>
              </a:lnSpc>
              <a:spcBef>
                <a:spcPts val="60"/>
              </a:spcBef>
            </a:pPr>
            <a:r>
              <a:rPr sz="900" b="1" dirty="0">
                <a:latin typeface="Times New Roman"/>
                <a:cs typeface="Times New Roman"/>
              </a:rPr>
              <a:t>{/*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Output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Section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*/}</a:t>
            </a:r>
            <a:r>
              <a:rPr sz="900" b="1" spc="30" dirty="0">
                <a:latin typeface="Times New Roman"/>
                <a:cs typeface="Times New Roman"/>
              </a:rPr>
              <a:t> </a:t>
            </a:r>
            <a:r>
              <a:rPr sz="900" b="1" spc="-20" dirty="0">
                <a:latin typeface="Times New Roman"/>
                <a:cs typeface="Times New Roman"/>
              </a:rPr>
              <a:t>&lt;div </a:t>
            </a:r>
            <a:r>
              <a:rPr sz="900" b="1" spc="-10" dirty="0">
                <a:latin typeface="Times New Roman"/>
                <a:cs typeface="Times New Roman"/>
              </a:rPr>
              <a:t>className="outputWindow"&gt;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80665" y="8058562"/>
            <a:ext cx="2032635" cy="166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b="1" dirty="0">
                <a:latin typeface="Times New Roman"/>
                <a:cs typeface="Times New Roman"/>
              </a:rPr>
              <a:t>&lt;h3&gt;Output&lt;/h3&gt;</a:t>
            </a:r>
            <a:r>
              <a:rPr sz="900" b="1" spc="14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&lt;pre&gt;{output}&lt;/pre&gt;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92372" y="8303926"/>
            <a:ext cx="1864995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84505">
              <a:lnSpc>
                <a:spcPct val="100000"/>
              </a:lnSpc>
              <a:spcBef>
                <a:spcPts val="120"/>
              </a:spcBef>
              <a:tabLst>
                <a:tab pos="1658620" algn="l"/>
              </a:tabLst>
            </a:pPr>
            <a:r>
              <a:rPr sz="900" b="1" dirty="0">
                <a:latin typeface="Times New Roman"/>
                <a:cs typeface="Times New Roman"/>
              </a:rPr>
              <a:t>&lt;/div&gt;</a:t>
            </a:r>
            <a:r>
              <a:rPr sz="900" b="1" spc="45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&lt;/div&gt;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&lt;/div&gt;</a:t>
            </a:r>
            <a:r>
              <a:rPr sz="900" b="1" dirty="0">
                <a:latin typeface="Times New Roman"/>
                <a:cs typeface="Times New Roman"/>
              </a:rPr>
              <a:t>	);</a:t>
            </a:r>
            <a:r>
              <a:rPr sz="900" b="1" spc="15" dirty="0">
                <a:latin typeface="Times New Roman"/>
                <a:cs typeface="Times New Roman"/>
              </a:rPr>
              <a:t> </a:t>
            </a:r>
            <a:r>
              <a:rPr sz="900" b="1" spc="-25" dirty="0">
                <a:latin typeface="Times New Roman"/>
                <a:cs typeface="Times New Roman"/>
              </a:rPr>
              <a:t>};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900" b="1" dirty="0">
                <a:latin typeface="Times New Roman"/>
                <a:cs typeface="Times New Roman"/>
              </a:rPr>
              <a:t>export</a:t>
            </a:r>
            <a:r>
              <a:rPr sz="900" b="1" spc="50" dirty="0">
                <a:latin typeface="Times New Roman"/>
                <a:cs typeface="Times New Roman"/>
              </a:rPr>
              <a:t> </a:t>
            </a:r>
            <a:r>
              <a:rPr sz="900" b="1" dirty="0">
                <a:latin typeface="Times New Roman"/>
                <a:cs typeface="Times New Roman"/>
              </a:rPr>
              <a:t>default</a:t>
            </a:r>
            <a:r>
              <a:rPr sz="900" b="1" spc="55" dirty="0">
                <a:latin typeface="Times New Roman"/>
                <a:cs typeface="Times New Roman"/>
              </a:rPr>
              <a:t> </a:t>
            </a:r>
            <a:r>
              <a:rPr sz="900" b="1" spc="-10" dirty="0">
                <a:latin typeface="Times New Roman"/>
                <a:cs typeface="Times New Roman"/>
              </a:rPr>
              <a:t>EditorPage;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539" y="1345691"/>
            <a:ext cx="5774435" cy="15407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539" y="3133344"/>
            <a:ext cx="5785103" cy="477164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40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41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19777"/>
            <a:ext cx="5323840" cy="78517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62560" algn="ctr">
              <a:lnSpc>
                <a:spcPct val="100000"/>
              </a:lnSpc>
              <a:spcBef>
                <a:spcPts val="110"/>
              </a:spcBef>
            </a:pPr>
            <a:r>
              <a:rPr sz="1450" b="1" dirty="0">
                <a:latin typeface="Times New Roman"/>
                <a:cs typeface="Times New Roman"/>
              </a:rPr>
              <a:t>CHAPTER</a:t>
            </a:r>
            <a:r>
              <a:rPr sz="1450" b="1" spc="-5" dirty="0">
                <a:latin typeface="Times New Roman"/>
                <a:cs typeface="Times New Roman"/>
              </a:rPr>
              <a:t> </a:t>
            </a:r>
            <a:r>
              <a:rPr sz="1450" b="1" spc="-50" dirty="0"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  <a:p>
            <a:pPr marL="165735" algn="ctr">
              <a:lnSpc>
                <a:spcPct val="100000"/>
              </a:lnSpc>
              <a:spcBef>
                <a:spcPts val="70"/>
              </a:spcBef>
            </a:pPr>
            <a:r>
              <a:rPr sz="1450" b="1" dirty="0">
                <a:latin typeface="Times New Roman"/>
                <a:cs typeface="Times New Roman"/>
              </a:rPr>
              <a:t>RESULTS</a:t>
            </a:r>
            <a:r>
              <a:rPr sz="1450" b="1" spc="10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ANALYSIS</a:t>
            </a:r>
            <a:r>
              <a:rPr sz="1450" b="1" spc="-15" dirty="0">
                <a:latin typeface="Times New Roman"/>
                <a:cs typeface="Times New Roman"/>
              </a:rPr>
              <a:t> </a:t>
            </a:r>
            <a:r>
              <a:rPr sz="1450" b="1" dirty="0">
                <a:latin typeface="Times New Roman"/>
                <a:cs typeface="Times New Roman"/>
              </a:rPr>
              <a:t>AND</a:t>
            </a:r>
            <a:r>
              <a:rPr sz="1450" b="1" spc="-15" dirty="0">
                <a:latin typeface="Times New Roman"/>
                <a:cs typeface="Times New Roman"/>
              </a:rPr>
              <a:t> </a:t>
            </a:r>
            <a:r>
              <a:rPr sz="1450" b="1" spc="-10" dirty="0">
                <a:latin typeface="Times New Roman"/>
                <a:cs typeface="Times New Roman"/>
              </a:rPr>
              <a:t>VALIDATION</a:t>
            </a:r>
            <a:endParaRPr sz="1450">
              <a:latin typeface="Times New Roman"/>
              <a:cs typeface="Times New Roman"/>
            </a:endParaRPr>
          </a:p>
          <a:p>
            <a:pPr marL="252095" lvl="1" indent="-239395">
              <a:lnSpc>
                <a:spcPct val="100000"/>
              </a:lnSpc>
              <a:spcBef>
                <a:spcPts val="1664"/>
              </a:spcBef>
              <a:buAutoNum type="arabicPeriod"/>
              <a:tabLst>
                <a:tab pos="252095" algn="l"/>
              </a:tabLst>
            </a:pPr>
            <a:r>
              <a:rPr sz="1250" b="1" dirty="0">
                <a:latin typeface="Times New Roman"/>
                <a:cs typeface="Times New Roman"/>
              </a:rPr>
              <a:t>Implementation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4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Solution</a:t>
            </a:r>
            <a:endParaRPr sz="125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Font typeface="Times New Roman"/>
              <a:buAutoNum type="arabicPeriod"/>
            </a:pPr>
            <a:endParaRPr sz="125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068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full-stack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capabilities.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implementation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divided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into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smooth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involved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Test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Setup:</a:t>
            </a:r>
            <a:endParaRPr sz="1100">
              <a:latin typeface="Times New Roman"/>
              <a:cs typeface="Times New Roman"/>
            </a:endParaRPr>
          </a:p>
          <a:p>
            <a:pPr marL="455930" marR="5715" lvl="2" indent="-221615" algn="just">
              <a:lnSpc>
                <a:spcPct val="145900"/>
              </a:lnSpc>
              <a:spcBef>
                <a:spcPts val="11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Frontend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Framework: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 React.js,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chosen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dynamic 	</a:t>
            </a:r>
            <a:r>
              <a:rPr sz="1100" dirty="0">
                <a:latin typeface="Times New Roman"/>
                <a:cs typeface="Times New Roman"/>
              </a:rPr>
              <a:t>rendering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capabilities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responsiveness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devices.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React's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component-</a:t>
            </a:r>
            <a:r>
              <a:rPr sz="1100" spc="-10" dirty="0">
                <a:latin typeface="Times New Roman"/>
                <a:cs typeface="Times New Roman"/>
              </a:rPr>
              <a:t>based 	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interface.</a:t>
            </a:r>
            <a:endParaRPr sz="1100">
              <a:latin typeface="Times New Roman"/>
              <a:cs typeface="Times New Roman"/>
            </a:endParaRPr>
          </a:p>
          <a:p>
            <a:pPr marL="455930" marR="5715" lvl="2" indent="-221615" algn="just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1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Editor:</a:t>
            </a:r>
            <a:r>
              <a:rPr sz="1100" b="1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CodeMirror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efficient,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feature-rich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code 	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languages,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highlighting,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	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editing.</a:t>
            </a:r>
            <a:endParaRPr sz="1100">
              <a:latin typeface="Times New Roman"/>
              <a:cs typeface="Times New Roman"/>
            </a:endParaRPr>
          </a:p>
          <a:p>
            <a:pPr marL="455930" marR="5080" lvl="2" indent="-221615" algn="just">
              <a:lnSpc>
                <a:spcPct val="1461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2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Platform:</a:t>
            </a:r>
            <a:r>
              <a:rPr sz="1100" b="1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developed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Node.js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Express.js, 	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HTTP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requests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WebSocket 	</a:t>
            </a:r>
            <a:r>
              <a:rPr sz="1100" dirty="0">
                <a:latin typeface="Times New Roman"/>
                <a:cs typeface="Times New Roman"/>
              </a:rPr>
              <a:t>connections. Socket.IO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 real-time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 edits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	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users.</a:t>
            </a:r>
            <a:endParaRPr sz="1100">
              <a:latin typeface="Times New Roman"/>
              <a:cs typeface="Times New Roman"/>
            </a:endParaRPr>
          </a:p>
          <a:p>
            <a:pPr marL="455930" marR="5715" lvl="2" indent="-221615" algn="just">
              <a:lnSpc>
                <a:spcPct val="145900"/>
              </a:lnSpc>
              <a:spcBef>
                <a:spcPts val="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2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2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Engine:</a:t>
            </a:r>
            <a:r>
              <a:rPr sz="1100" b="1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code 	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40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ensuring 	</a:t>
            </a:r>
            <a:r>
              <a:rPr sz="1100" dirty="0">
                <a:latin typeface="Times New Roman"/>
                <a:cs typeface="Times New Roman"/>
              </a:rPr>
              <a:t>isolated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user's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submission.</a:t>
            </a:r>
            <a:endParaRPr sz="1100">
              <a:latin typeface="Times New Roman"/>
              <a:cs typeface="Times New Roman"/>
            </a:endParaRPr>
          </a:p>
          <a:p>
            <a:pPr marL="456565" lvl="2" indent="-221615" algn="just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Deployment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Platforms:</a:t>
            </a:r>
            <a:endParaRPr sz="1100">
              <a:latin typeface="Times New Roman"/>
              <a:cs typeface="Times New Roman"/>
            </a:endParaRPr>
          </a:p>
          <a:p>
            <a:pPr marL="902335" marR="6350" lvl="3" indent="-222885" algn="just">
              <a:lnSpc>
                <a:spcPct val="146400"/>
              </a:lnSpc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deployed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Vercel,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benefiting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CDN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caching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global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distribution.</a:t>
            </a:r>
            <a:endParaRPr sz="1100">
              <a:latin typeface="Times New Roman"/>
              <a:cs typeface="Times New Roman"/>
            </a:endParaRPr>
          </a:p>
          <a:p>
            <a:pPr marL="902335" marR="5715" lvl="3" indent="-222885" algn="just">
              <a:lnSpc>
                <a:spcPct val="145900"/>
              </a:lnSpc>
              <a:spcBef>
                <a:spcPts val="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hosted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Render.com,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chosen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frontend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backend.</a:t>
            </a:r>
            <a:endParaRPr sz="1100">
              <a:latin typeface="Times New Roman"/>
              <a:cs typeface="Times New Roman"/>
            </a:endParaRPr>
          </a:p>
          <a:p>
            <a:pPr marL="456565" lvl="2" indent="-221615" algn="just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Testing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Tools:</a:t>
            </a:r>
            <a:endParaRPr sz="1100">
              <a:latin typeface="Times New Roman"/>
              <a:cs typeface="Times New Roman"/>
            </a:endParaRPr>
          </a:p>
          <a:p>
            <a:pPr marL="902335" marR="6985" lvl="3" indent="-222885" algn="just">
              <a:lnSpc>
                <a:spcPct val="146400"/>
              </a:lnSpc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multi-user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conducted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verify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collaborative </a:t>
            </a:r>
            <a:r>
              <a:rPr sz="1100" dirty="0">
                <a:latin typeface="Times New Roman"/>
                <a:cs typeface="Times New Roman"/>
              </a:rPr>
              <a:t>features,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42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325110" cy="810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2335" marR="5715" indent="-222885" algn="just">
              <a:lnSpc>
                <a:spcPct val="145500"/>
              </a:lnSpc>
              <a:spcBef>
                <a:spcPts val="95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simulation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carried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Artillery.io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platform’s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concurrent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scenarios.</a:t>
            </a:r>
            <a:endParaRPr sz="1100">
              <a:latin typeface="Times New Roman"/>
              <a:cs typeface="Times New Roman"/>
            </a:endParaRPr>
          </a:p>
          <a:p>
            <a:pPr marL="902335" marR="8890" indent="-222885" algn="just">
              <a:lnSpc>
                <a:spcPct val="145500"/>
              </a:lnSpc>
              <a:spcBef>
                <a:spcPts val="20"/>
              </a:spcBef>
              <a:buSzPct val="86363"/>
              <a:buFont typeface="Courier New"/>
              <a:buChar char="o"/>
              <a:tabLst>
                <a:tab pos="902335" algn="l"/>
              </a:tabLst>
            </a:pP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measurements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smooth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  <a:p>
            <a:pPr marL="18415" marR="6350" indent="-6350" algn="just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allowed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seamless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responsiveness,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security,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across </a:t>
            </a:r>
            <a:r>
              <a:rPr sz="1100" dirty="0">
                <a:latin typeface="Times New Roman"/>
                <a:cs typeface="Times New Roman"/>
              </a:rPr>
              <a:t>geographically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4.2</a:t>
            </a:r>
            <a:r>
              <a:rPr sz="1250" b="1" spc="-1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Results: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Real-Time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Synchronization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Performance</a:t>
            </a:r>
            <a:endParaRPr sz="1250">
              <a:latin typeface="Times New Roman"/>
              <a:cs typeface="Times New Roman"/>
            </a:endParaRPr>
          </a:p>
          <a:p>
            <a:pPr marL="18415" marR="6350" indent="-6350" algn="just">
              <a:lnSpc>
                <a:spcPct val="146400"/>
              </a:lnSpc>
              <a:spcBef>
                <a:spcPts val="6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critical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aspect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 ensured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 could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simultaneously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without </a:t>
            </a:r>
            <a:r>
              <a:rPr sz="1100" dirty="0">
                <a:latin typeface="Times New Roman"/>
                <a:cs typeface="Times New Roman"/>
              </a:rPr>
              <a:t>significant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several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conducted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varying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conditions:</a:t>
            </a:r>
            <a:endParaRPr sz="1100">
              <a:latin typeface="Times New Roman"/>
              <a:cs typeface="Times New Roman"/>
            </a:endParaRPr>
          </a:p>
          <a:p>
            <a:pPr marL="455930" marR="6350" indent="-221615" algn="just">
              <a:lnSpc>
                <a:spcPct val="1461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Latency</a:t>
            </a:r>
            <a:r>
              <a:rPr sz="1100" b="1" spc="1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Measurements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tested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network 	</a:t>
            </a:r>
            <a:r>
              <a:rPr sz="1100" dirty="0">
                <a:latin typeface="Times New Roman"/>
                <a:cs typeface="Times New Roman"/>
              </a:rPr>
              <a:t>conditions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measure 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average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 between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made 	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4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4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200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milliseconds,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3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fluid 	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experience.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consistently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moderate 	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which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essential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accuracy.</a:t>
            </a:r>
            <a:endParaRPr sz="1100">
              <a:latin typeface="Times New Roman"/>
              <a:cs typeface="Times New Roman"/>
            </a:endParaRPr>
          </a:p>
          <a:p>
            <a:pPr marL="455930" marR="5080" indent="-221615" algn="just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Concurrency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Testing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conducted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editing 	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rooms.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able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50 	</a:t>
            </a:r>
            <a:r>
              <a:rPr sz="1100" dirty="0">
                <a:latin typeface="Times New Roman"/>
                <a:cs typeface="Times New Roman"/>
              </a:rPr>
              <a:t>concurrent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single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noticeable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degradation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synchronization 	</a:t>
            </a:r>
            <a:r>
              <a:rPr sz="1100" dirty="0">
                <a:latin typeface="Times New Roman"/>
                <a:cs typeface="Times New Roman"/>
              </a:rPr>
              <a:t>performance.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validated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platform,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that 	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maintained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teams.</a:t>
            </a:r>
            <a:endParaRPr sz="1100">
              <a:latin typeface="Times New Roman"/>
              <a:cs typeface="Times New Roman"/>
            </a:endParaRPr>
          </a:p>
          <a:p>
            <a:pPr marL="455930" indent="-221615" algn="just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5930" algn="l"/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Synchronization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Accuracy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introducing</a:t>
            </a:r>
            <a:endParaRPr sz="1100">
              <a:latin typeface="Times New Roman"/>
              <a:cs typeface="Times New Roman"/>
            </a:endParaRPr>
          </a:p>
          <a:p>
            <a:pPr marL="457200" marR="6985" algn="just">
              <a:lnSpc>
                <a:spcPct val="1461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intentional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packet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loss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simulate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real-world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scenarios.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system’s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b="1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properly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queued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applied </a:t>
            </a:r>
            <a:r>
              <a:rPr sz="1100" dirty="0">
                <a:latin typeface="Times New Roman"/>
                <a:cs typeface="Times New Roman"/>
              </a:rPr>
              <a:t>once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connection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restored,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causing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desynchronization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lost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data.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reported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smooth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instability.</a:t>
            </a:r>
            <a:endParaRPr sz="1100">
              <a:latin typeface="Times New Roman"/>
              <a:cs typeface="Times New Roman"/>
            </a:endParaRPr>
          </a:p>
          <a:p>
            <a:pPr marL="455930" marR="6350" indent="-221615" algn="just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Cross-Platform</a:t>
            </a:r>
            <a:r>
              <a:rPr sz="1100" b="1" spc="3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Performance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tested 	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browsers.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found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be 	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desktops,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tablets,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smartphones,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differences 	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performance.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ensured</a:t>
            </a:r>
            <a:r>
              <a:rPr sz="1100" spc="3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collaborate 	</a:t>
            </a:r>
            <a:r>
              <a:rPr sz="1100" dirty="0">
                <a:latin typeface="Times New Roman"/>
                <a:cs typeface="Times New Roman"/>
              </a:rPr>
              <a:t>seamlessly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issues.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43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812790" cy="19532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27329" marR="5080" indent="-6350" algn="just">
              <a:lnSpc>
                <a:spcPct val="146400"/>
              </a:lnSpc>
              <a:spcBef>
                <a:spcPts val="80"/>
              </a:spcBef>
            </a:pPr>
            <a:r>
              <a:rPr sz="1100" dirty="0">
                <a:latin typeface="Times New Roman"/>
                <a:cs typeface="Times New Roman"/>
              </a:rPr>
              <a:t>Overall,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capabilities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reliable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experience,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latency,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accuracy,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across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conditions.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Synchronization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Delay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Measurements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100">
              <a:latin typeface="Times New Roman"/>
              <a:cs typeface="Times New Roman"/>
            </a:endParaRPr>
          </a:p>
          <a:p>
            <a:pPr marL="18415" marR="494030" indent="-6350" algn="just">
              <a:lnSpc>
                <a:spcPct val="1068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effectiveness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measuring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synchronization </a:t>
            </a:r>
            <a:r>
              <a:rPr sz="1100" dirty="0">
                <a:latin typeface="Times New Roman"/>
                <a:cs typeface="Times New Roman"/>
              </a:rPr>
              <a:t>delay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—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made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reflected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another </a:t>
            </a:r>
            <a:r>
              <a:rPr sz="1100" dirty="0">
                <a:latin typeface="Times New Roman"/>
                <a:cs typeface="Times New Roman"/>
              </a:rPr>
              <a:t>user's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editor.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0015" y="3378708"/>
          <a:ext cx="5861685" cy="749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040">
                <a:tc gridSpan="2"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2955925" algn="l"/>
                        </a:tabLst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100" b="1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	Average</a:t>
                      </a:r>
                      <a:r>
                        <a:rPr sz="110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Sync</a:t>
                      </a:r>
                      <a:r>
                        <a:rPr sz="1100" b="1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Delay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(ms)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solidFill>
                      <a:srgbClr val="A5A5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1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users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C8C8C8"/>
                      </a:solidFill>
                      <a:prstDash val="solid"/>
                    </a:lnL>
                    <a:lnR w="6350">
                      <a:solidFill>
                        <a:srgbClr val="C8C8C8"/>
                      </a:solidFill>
                      <a:prstDash val="solid"/>
                    </a:lnR>
                    <a:lnB w="6350">
                      <a:solidFill>
                        <a:srgbClr val="C8C8C8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45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C8C8C8"/>
                      </a:solidFill>
                      <a:prstDash val="solid"/>
                    </a:lnL>
                    <a:lnR w="6350">
                      <a:solidFill>
                        <a:srgbClr val="C8C8C8"/>
                      </a:solidFill>
                      <a:prstDash val="solid"/>
                    </a:lnR>
                    <a:lnB w="6350">
                      <a:solidFill>
                        <a:srgbClr val="C8C8C8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1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users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C8C8C8"/>
                      </a:solidFill>
                      <a:prstDash val="solid"/>
                    </a:lnL>
                    <a:lnR w="6350">
                      <a:solidFill>
                        <a:srgbClr val="C8C8C8"/>
                      </a:solidFill>
                      <a:prstDash val="solid"/>
                    </a:lnR>
                    <a:lnT w="6350">
                      <a:solidFill>
                        <a:srgbClr val="C8C8C8"/>
                      </a:solidFill>
                      <a:prstDash val="solid"/>
                    </a:lnT>
                    <a:lnB w="6350">
                      <a:solidFill>
                        <a:srgbClr val="C8C8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80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C8C8C8"/>
                      </a:solidFill>
                      <a:prstDash val="solid"/>
                    </a:lnL>
                    <a:lnR w="6350">
                      <a:solidFill>
                        <a:srgbClr val="C8C8C8"/>
                      </a:solidFill>
                      <a:prstDash val="solid"/>
                    </a:lnR>
                    <a:lnT w="6350">
                      <a:solidFill>
                        <a:srgbClr val="C8C8C8"/>
                      </a:solidFill>
                      <a:prstDash val="solid"/>
                    </a:lnT>
                    <a:lnB w="6350">
                      <a:solidFill>
                        <a:srgbClr val="C8C8C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1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users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C8C8C8"/>
                      </a:solidFill>
                      <a:prstDash val="solid"/>
                    </a:lnL>
                    <a:lnR w="6350">
                      <a:solidFill>
                        <a:srgbClr val="C8C8C8"/>
                      </a:solidFill>
                      <a:prstDash val="solid"/>
                    </a:lnR>
                    <a:lnT w="6350">
                      <a:solidFill>
                        <a:srgbClr val="C8C8C8"/>
                      </a:solidFill>
                      <a:prstDash val="solid"/>
                    </a:lnT>
                    <a:lnB w="6350">
                      <a:solidFill>
                        <a:srgbClr val="C8C8C8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130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C8C8C8"/>
                      </a:solidFill>
                      <a:prstDash val="solid"/>
                    </a:lnL>
                    <a:lnR w="6350">
                      <a:solidFill>
                        <a:srgbClr val="C8C8C8"/>
                      </a:solidFill>
                      <a:prstDash val="solid"/>
                    </a:lnR>
                    <a:lnT w="6350">
                      <a:solidFill>
                        <a:srgbClr val="C8C8C8"/>
                      </a:solidFill>
                      <a:prstDash val="solid"/>
                    </a:lnT>
                    <a:lnB w="6350">
                      <a:solidFill>
                        <a:srgbClr val="C8C8C8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77316" y="4285827"/>
            <a:ext cx="5812790" cy="4867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8778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Table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4.1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Measurements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100">
              <a:latin typeface="Times New Roman"/>
              <a:cs typeface="Times New Roman"/>
            </a:endParaRPr>
          </a:p>
          <a:p>
            <a:pPr marL="220979">
              <a:lnSpc>
                <a:spcPct val="100000"/>
              </a:lnSpc>
            </a:pPr>
            <a:r>
              <a:rPr sz="1100" b="1" spc="-10" dirty="0">
                <a:latin typeface="Times New Roman"/>
                <a:cs typeface="Times New Roman"/>
              </a:rPr>
              <a:t>Observations:</a:t>
            </a:r>
            <a:endParaRPr sz="1100">
              <a:latin typeface="Times New Roman"/>
              <a:cs typeface="Times New Roman"/>
            </a:endParaRPr>
          </a:p>
          <a:p>
            <a:pPr marL="457200" marR="5080" indent="-222885">
              <a:lnSpc>
                <a:spcPct val="146400"/>
              </a:lnSpc>
              <a:spcBef>
                <a:spcPts val="109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Excellent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performance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observed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10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concurrent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minimal </a:t>
            </a:r>
            <a:r>
              <a:rPr sz="1100" dirty="0">
                <a:latin typeface="Times New Roman"/>
                <a:cs typeface="Times New Roman"/>
              </a:rPr>
              <a:t>lag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(less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150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ms).</a:t>
            </a:r>
            <a:endParaRPr sz="1100">
              <a:latin typeface="Times New Roman"/>
              <a:cs typeface="Times New Roman"/>
            </a:endParaRPr>
          </a:p>
          <a:p>
            <a:pPr marL="457200" marR="5080" indent="-222885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Beyond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15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users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began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increase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noticeably,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suggesting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need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horizontal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(e.g.,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pub/sub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integration).</a:t>
            </a:r>
            <a:endParaRPr sz="1100">
              <a:latin typeface="Times New Roman"/>
              <a:cs typeface="Times New Roman"/>
            </a:endParaRPr>
          </a:p>
          <a:p>
            <a:pPr marL="457200" marR="5080" indent="-222885">
              <a:lnSpc>
                <a:spcPts val="1939"/>
              </a:lnSpc>
              <a:spcBef>
                <a:spcPts val="15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Minor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fluctuations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(±10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ms)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observed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variability,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overall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system </a:t>
            </a:r>
            <a:r>
              <a:rPr sz="1100" dirty="0">
                <a:latin typeface="Times New Roman"/>
                <a:cs typeface="Times New Roman"/>
              </a:rPr>
              <a:t>maintained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consistency.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4.3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Results: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Code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Execution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Response</a:t>
            </a:r>
            <a:r>
              <a:rPr sz="1250" b="1" spc="30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Times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50">
              <a:latin typeface="Times New Roman"/>
              <a:cs typeface="Times New Roman"/>
            </a:endParaRPr>
          </a:p>
          <a:p>
            <a:pPr marL="18415" marR="494030" indent="-6350" algn="just">
              <a:lnSpc>
                <a:spcPct val="1076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another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crucial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aspect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quickly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setting.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evaluate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factors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considered,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compilation,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display:</a:t>
            </a:r>
            <a:endParaRPr sz="1100">
              <a:latin typeface="Times New Roman"/>
              <a:cs typeface="Times New Roman"/>
            </a:endParaRPr>
          </a:p>
          <a:p>
            <a:pPr marL="234950" marR="494665" indent="-222885" algn="just">
              <a:lnSpc>
                <a:spcPct val="145900"/>
              </a:lnSpc>
              <a:spcBef>
                <a:spcPts val="945"/>
              </a:spcBef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Compilation</a:t>
            </a:r>
            <a:r>
              <a:rPr sz="1100" b="1" spc="1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Time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Average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around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500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milliseconds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smaller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snippets,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highest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recorded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2-3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seconds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complex programs.</a:t>
            </a:r>
            <a:endParaRPr sz="1100">
              <a:latin typeface="Times New Roman"/>
              <a:cs typeface="Times New Roman"/>
            </a:endParaRPr>
          </a:p>
          <a:p>
            <a:pPr marL="234950" marR="494030" indent="-222885" algn="just">
              <a:lnSpc>
                <a:spcPct val="146400"/>
              </a:lnSpc>
              <a:spcBef>
                <a:spcPts val="80"/>
              </a:spcBef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2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Time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Simple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500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milliseconds,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resource- </a:t>
            </a:r>
            <a:r>
              <a:rPr sz="1100" dirty="0">
                <a:latin typeface="Times New Roman"/>
                <a:cs typeface="Times New Roman"/>
              </a:rPr>
              <a:t>intensive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ones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took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3-4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seconds.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44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56317"/>
            <a:ext cx="5323840" cy="3271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marR="6350" indent="-222885">
              <a:lnSpc>
                <a:spcPct val="146400"/>
              </a:lnSpc>
              <a:spcBef>
                <a:spcPts val="95"/>
              </a:spcBef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1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b="1" spc="1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Performance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Average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about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700 </a:t>
            </a:r>
            <a:r>
              <a:rPr sz="1100" dirty="0">
                <a:latin typeface="Times New Roman"/>
                <a:cs typeface="Times New Roman"/>
              </a:rPr>
              <a:t>milliseconds,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during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peak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maximum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1.5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seconds.</a:t>
            </a:r>
            <a:endParaRPr sz="1100">
              <a:latin typeface="Times New Roman"/>
              <a:cs typeface="Times New Roman"/>
            </a:endParaRPr>
          </a:p>
          <a:p>
            <a:pPr marL="234950" marR="7620" indent="-222885">
              <a:lnSpc>
                <a:spcPct val="147300"/>
              </a:lnSpc>
              <a:spcBef>
                <a:spcPts val="60"/>
              </a:spcBef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Concurrency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Handling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 platform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30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simultaneous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submissions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delay.</a:t>
            </a:r>
            <a:endParaRPr sz="1100">
              <a:latin typeface="Times New Roman"/>
              <a:cs typeface="Times New Roman"/>
            </a:endParaRPr>
          </a:p>
          <a:p>
            <a:pPr marL="234950" marR="5080" indent="-222885">
              <a:lnSpc>
                <a:spcPct val="146400"/>
              </a:lnSpc>
              <a:spcBef>
                <a:spcPts val="70"/>
              </a:spcBef>
              <a:buFont typeface="Symbol"/>
              <a:buChar char=""/>
              <a:tabLst>
                <a:tab pos="234950" algn="l"/>
              </a:tabLst>
            </a:pPr>
            <a:r>
              <a:rPr sz="1100" b="1" dirty="0">
                <a:latin typeface="Times New Roman"/>
                <a:cs typeface="Times New Roman"/>
              </a:rPr>
              <a:t>Cross-Browser</a:t>
            </a:r>
            <a:r>
              <a:rPr sz="1100" b="1" spc="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Device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Performance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across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46100"/>
              </a:lnSpc>
            </a:pPr>
            <a:r>
              <a:rPr sz="1100" dirty="0">
                <a:latin typeface="Times New Roman"/>
                <a:cs typeface="Times New Roman"/>
              </a:rPr>
              <a:t>Overall,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response </a:t>
            </a:r>
            <a:r>
              <a:rPr sz="1100" dirty="0">
                <a:latin typeface="Times New Roman"/>
                <a:cs typeface="Times New Roman"/>
              </a:rPr>
              <a:t>times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variety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 programming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languages.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These </a:t>
            </a:r>
            <a:r>
              <a:rPr sz="1100" spc="-10" dirty="0">
                <a:latin typeface="Times New Roman"/>
                <a:cs typeface="Times New Roman"/>
              </a:rPr>
              <a:t>results </a:t>
            </a:r>
            <a:r>
              <a:rPr sz="1100" dirty="0">
                <a:latin typeface="Times New Roman"/>
                <a:cs typeface="Times New Roman"/>
              </a:rPr>
              <a:t>confirm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minimal </a:t>
            </a:r>
            <a:r>
              <a:rPr sz="1100" dirty="0">
                <a:latin typeface="Times New Roman"/>
                <a:cs typeface="Times New Roman"/>
              </a:rPr>
              <a:t>delays,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teamwork.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100">
              <a:latin typeface="Times New Roman"/>
              <a:cs typeface="Times New Roman"/>
            </a:endParaRPr>
          </a:p>
          <a:p>
            <a:pPr marL="18415" marR="5715" indent="-6350" algn="just">
              <a:lnSpc>
                <a:spcPct val="107300"/>
              </a:lnSpc>
            </a:pP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API,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submission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measured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0015" y="4704588"/>
          <a:ext cx="5861685" cy="1119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1770">
                <a:tc gridSpan="2">
                  <a:txBody>
                    <a:bodyPr/>
                    <a:lstStyle/>
                    <a:p>
                      <a:pPr marL="66675">
                        <a:lnSpc>
                          <a:spcPts val="1310"/>
                        </a:lnSpc>
                        <a:tabLst>
                          <a:tab pos="2955925" algn="l"/>
                        </a:tabLst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Programming</a:t>
                      </a:r>
                      <a:r>
                        <a:rPr sz="1100" b="1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	Average</a:t>
                      </a:r>
                      <a:r>
                        <a:rPr sz="1100" b="1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Compilation</a:t>
                      </a:r>
                      <a:r>
                        <a:rPr sz="110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100" b="1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(ms)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B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Python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B w="6350">
                      <a:solidFill>
                        <a:srgbClr val="FFD86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820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B w="6350">
                      <a:solidFill>
                        <a:srgbClr val="FFD86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JavaScript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T w="6350">
                      <a:solidFill>
                        <a:srgbClr val="FFD866"/>
                      </a:solidFill>
                      <a:prstDash val="solid"/>
                    </a:lnT>
                    <a:lnB w="6350">
                      <a:solidFill>
                        <a:srgbClr val="FFD8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650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T w="6350">
                      <a:solidFill>
                        <a:srgbClr val="FFD866"/>
                      </a:solidFill>
                      <a:prstDash val="solid"/>
                    </a:lnT>
                    <a:lnB w="6350">
                      <a:solidFill>
                        <a:srgbClr val="FFD8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C++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T w="6350">
                      <a:solidFill>
                        <a:srgbClr val="FFD866"/>
                      </a:solidFill>
                      <a:prstDash val="solid"/>
                    </a:lnT>
                    <a:lnB w="6350">
                      <a:solidFill>
                        <a:srgbClr val="FFD86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1200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T w="6350">
                      <a:solidFill>
                        <a:srgbClr val="FFD866"/>
                      </a:solidFill>
                      <a:prstDash val="solid"/>
                    </a:lnT>
                    <a:lnB w="6350">
                      <a:solidFill>
                        <a:srgbClr val="FFD86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66675">
                        <a:lnSpc>
                          <a:spcPts val="1310"/>
                        </a:lnSpc>
                      </a:pP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Java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T w="6350">
                      <a:solidFill>
                        <a:srgbClr val="FFD866"/>
                      </a:solidFill>
                      <a:prstDash val="solid"/>
                    </a:lnT>
                    <a:lnB w="6350">
                      <a:solidFill>
                        <a:srgbClr val="FFD8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1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1500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T w="6350">
                      <a:solidFill>
                        <a:srgbClr val="FFD866"/>
                      </a:solidFill>
                      <a:prstDash val="solid"/>
                    </a:lnT>
                    <a:lnB w="6350">
                      <a:solidFill>
                        <a:srgbClr val="FFD86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C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T w="6350">
                      <a:solidFill>
                        <a:srgbClr val="FFD866"/>
                      </a:solidFill>
                      <a:prstDash val="solid"/>
                    </a:lnT>
                    <a:lnB w="6350">
                      <a:solidFill>
                        <a:srgbClr val="FFD86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1300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ms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D866"/>
                      </a:solidFill>
                      <a:prstDash val="solid"/>
                    </a:lnL>
                    <a:lnR w="6350">
                      <a:solidFill>
                        <a:srgbClr val="FFD866"/>
                      </a:solidFill>
                      <a:prstDash val="solid"/>
                    </a:lnR>
                    <a:lnT w="6350">
                      <a:solidFill>
                        <a:srgbClr val="FFD866"/>
                      </a:solidFill>
                      <a:prstDash val="solid"/>
                    </a:lnT>
                    <a:lnB w="6350">
                      <a:solidFill>
                        <a:srgbClr val="FFD866"/>
                      </a:solidFill>
                      <a:prstDash val="soli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77316" y="5983563"/>
            <a:ext cx="5615940" cy="3035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285115" algn="ctr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Table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4.2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Times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Times New Roman"/>
                <a:cs typeface="Times New Roman"/>
              </a:rPr>
              <a:t>Observations: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JavaScript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fastest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closely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Python</a:t>
            </a:r>
            <a:r>
              <a:rPr sz="1100" spc="-1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457200" marR="503555" indent="-222885">
              <a:lnSpc>
                <a:spcPts val="1939"/>
              </a:lnSpc>
              <a:spcBef>
                <a:spcPts val="16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Compiled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languages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C++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Java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exhibited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times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due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overhead.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439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Judge0's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sandboxing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effectively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isolated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executed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user-submitted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minimal</a:t>
            </a:r>
            <a:endParaRPr sz="11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delays,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security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sacrificing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performance.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4.4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Summary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Findings</a:t>
            </a:r>
            <a:endParaRPr sz="1250">
              <a:latin typeface="Times New Roman"/>
              <a:cs typeface="Times New Roman"/>
            </a:endParaRPr>
          </a:p>
          <a:p>
            <a:pPr marL="12700" marR="297815">
              <a:lnSpc>
                <a:spcPct val="146400"/>
              </a:lnSpc>
              <a:spcBef>
                <a:spcPts val="975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testing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validation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phase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insights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platform's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capabilities: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7316" y="1248697"/>
            <a:ext cx="5324475" cy="480568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455930" marR="6985" indent="-221615" algn="just">
              <a:lnSpc>
                <a:spcPct val="146400"/>
              </a:lnSpc>
              <a:spcBef>
                <a:spcPts val="8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Editing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low-latency,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near-instantaneous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updates, 	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smooth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delay 	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users.</a:t>
            </a:r>
            <a:endParaRPr sz="1100">
              <a:latin typeface="Times New Roman"/>
              <a:cs typeface="Times New Roman"/>
            </a:endParaRPr>
          </a:p>
          <a:p>
            <a:pPr marL="455930" marR="6350" indent="-221615" algn="just">
              <a:lnSpc>
                <a:spcPts val="1930"/>
              </a:lnSpc>
              <a:spcBef>
                <a:spcPts val="16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Support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 successfully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supported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many 	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via 	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API.</a:t>
            </a:r>
            <a:endParaRPr sz="1100">
              <a:latin typeface="Times New Roman"/>
              <a:cs typeface="Times New Roman"/>
            </a:endParaRPr>
          </a:p>
          <a:p>
            <a:pPr marL="455930" indent="-221615" algn="just">
              <a:lnSpc>
                <a:spcPct val="100000"/>
              </a:lnSpc>
              <a:spcBef>
                <a:spcPts val="450"/>
              </a:spcBef>
              <a:buSzPct val="86363"/>
              <a:buFont typeface="Symbol"/>
              <a:buChar char=""/>
              <a:tabLst>
                <a:tab pos="455930" algn="l"/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Cross-Platform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Accessibility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functional</a:t>
            </a:r>
            <a:endParaRPr sz="1100">
              <a:latin typeface="Times New Roman"/>
              <a:cs typeface="Times New Roman"/>
            </a:endParaRPr>
          </a:p>
          <a:p>
            <a:pPr marL="457200" marR="5715" algn="just">
              <a:lnSpc>
                <a:spcPct val="1455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-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devices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(PCs,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tablets,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smartphones)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browsers,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offering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consistent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experience.</a:t>
            </a:r>
            <a:endParaRPr sz="1100">
              <a:latin typeface="Times New Roman"/>
              <a:cs typeface="Times New Roman"/>
            </a:endParaRPr>
          </a:p>
          <a:p>
            <a:pPr marL="455930" marR="5080" indent="-221615" algn="just">
              <a:lnSpc>
                <a:spcPct val="145900"/>
              </a:lnSpc>
              <a:spcBef>
                <a:spcPts val="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Scalability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Potential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mid-sized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groups,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but 	</a:t>
            </a:r>
            <a:r>
              <a:rPr sz="1100" dirty="0">
                <a:latin typeface="Times New Roman"/>
                <a:cs typeface="Times New Roman"/>
              </a:rPr>
              <a:t>horizontal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strategies,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Redis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caching,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recommended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user 	</a:t>
            </a:r>
            <a:r>
              <a:rPr sz="1100" dirty="0">
                <a:latin typeface="Times New Roman"/>
                <a:cs typeface="Times New Roman"/>
              </a:rPr>
              <a:t>bases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concurrency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degradation.</a:t>
            </a:r>
            <a:endParaRPr sz="1100">
              <a:latin typeface="Times New Roman"/>
              <a:cs typeface="Times New Roman"/>
            </a:endParaRPr>
          </a:p>
          <a:p>
            <a:pPr marL="455930" marR="5715" indent="-221615" algn="just">
              <a:lnSpc>
                <a:spcPct val="145900"/>
              </a:lnSpc>
              <a:spcBef>
                <a:spcPts val="2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Security</a:t>
            </a:r>
            <a:r>
              <a:rPr sz="1100" b="1" spc="1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10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Stability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Sandbox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	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contributed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stable,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collaborative 	</a:t>
            </a:r>
            <a:r>
              <a:rPr sz="1100" dirty="0">
                <a:latin typeface="Times New Roman"/>
                <a:cs typeface="Times New Roman"/>
              </a:rPr>
              <a:t>environment,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minimizing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risk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malicious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Overall,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successfully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fulfilled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goal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scalable,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secure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well-suited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remote-first,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distributed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teams.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4.5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Output/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Results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of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the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Codemate AI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Platform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539" y="6309360"/>
            <a:ext cx="5782055" cy="30434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45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1539" y="1345691"/>
            <a:ext cx="5772911" cy="34975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539" y="5114544"/>
            <a:ext cx="5774435" cy="382981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46</a:t>
            </a:fld>
            <a:endParaRPr spc="-2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47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14157"/>
            <a:ext cx="5689600" cy="7971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31620" marR="1405890" indent="918844">
              <a:lnSpc>
                <a:spcPct val="156800"/>
              </a:lnSpc>
              <a:spcBef>
                <a:spcPts val="95"/>
              </a:spcBef>
            </a:pPr>
            <a:r>
              <a:rPr sz="1250" b="1" dirty="0">
                <a:latin typeface="Times New Roman"/>
                <a:cs typeface="Times New Roman"/>
              </a:rPr>
              <a:t>CHAPTER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spc="-50" dirty="0">
                <a:latin typeface="Times New Roman"/>
                <a:cs typeface="Times New Roman"/>
              </a:rPr>
              <a:t>5 </a:t>
            </a:r>
            <a:r>
              <a:rPr sz="1250" b="1" dirty="0">
                <a:latin typeface="Times New Roman"/>
                <a:cs typeface="Times New Roman"/>
              </a:rPr>
              <a:t>CONCLUSION</a:t>
            </a:r>
            <a:r>
              <a:rPr sz="1250" b="1" spc="4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4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FUTURE</a:t>
            </a:r>
            <a:r>
              <a:rPr sz="1250" b="1" spc="40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WORK</a:t>
            </a:r>
            <a:endParaRPr sz="1250">
              <a:latin typeface="Times New Roman"/>
              <a:cs typeface="Times New Roman"/>
            </a:endParaRPr>
          </a:p>
          <a:p>
            <a:pPr marL="252095" lvl="1" indent="-239395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252095" algn="l"/>
              </a:tabLst>
            </a:pPr>
            <a:r>
              <a:rPr sz="1250" b="1" spc="-10" dirty="0">
                <a:latin typeface="Times New Roman"/>
                <a:cs typeface="Times New Roman"/>
              </a:rPr>
              <a:t>Conclusion</a:t>
            </a:r>
            <a:endParaRPr sz="1250">
              <a:latin typeface="Times New Roman"/>
              <a:cs typeface="Times New Roman"/>
            </a:endParaRPr>
          </a:p>
          <a:p>
            <a:pPr marL="18415" marR="371475" indent="-6350" algn="just">
              <a:lnSpc>
                <a:spcPct val="146400"/>
              </a:lnSpc>
              <a:spcBef>
                <a:spcPts val="98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successfully addressed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growing need for a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collaborative,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lightweight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platform.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leveraging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full-stack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b="1" dirty="0">
                <a:latin typeface="Times New Roman"/>
                <a:cs typeface="Times New Roman"/>
              </a:rPr>
              <a:t>React.js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Express.js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enabled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synchronization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real-time.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Judge0</a:t>
            </a:r>
            <a:r>
              <a:rPr sz="1100" b="1" spc="1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API</a:t>
            </a:r>
            <a:r>
              <a:rPr sz="1100" b="1" spc="1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allowed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 robust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beginners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professionals.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imes New Roman"/>
              <a:cs typeface="Times New Roman"/>
            </a:endParaRPr>
          </a:p>
          <a:p>
            <a:pPr marL="18415" marR="371475" indent="-6350" algn="just">
              <a:lnSpc>
                <a:spcPct val="146100"/>
              </a:lnSpc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accessible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devices,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collaborate</a:t>
            </a:r>
            <a:r>
              <a:rPr sz="1100" spc="3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efficiently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anywhere.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security </a:t>
            </a:r>
            <a:r>
              <a:rPr sz="1100" dirty="0">
                <a:latin typeface="Times New Roman"/>
                <a:cs typeface="Times New Roman"/>
              </a:rPr>
              <a:t>measures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implemented,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including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sandboxed</a:t>
            </a:r>
            <a:r>
              <a:rPr sz="1100" spc="2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40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structured</a:t>
            </a:r>
            <a:r>
              <a:rPr sz="1100" spc="240" dirty="0">
                <a:latin typeface="Times New Roman"/>
                <a:cs typeface="Times New Roman"/>
              </a:rPr>
              <a:t>  </a:t>
            </a:r>
            <a:r>
              <a:rPr sz="1100" spc="-10" dirty="0">
                <a:latin typeface="Times New Roman"/>
                <a:cs typeface="Times New Roman"/>
              </a:rPr>
              <a:t>WebSocket </a:t>
            </a:r>
            <a:r>
              <a:rPr sz="1100" dirty="0">
                <a:latin typeface="Times New Roman"/>
                <a:cs typeface="Times New Roman"/>
              </a:rPr>
              <a:t>communication,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safe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exploits.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Times New Roman"/>
              <a:cs typeface="Times New Roman"/>
            </a:endParaRPr>
          </a:p>
          <a:p>
            <a:pPr marL="18415" marR="371475" indent="-6350" algn="just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showed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great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performance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small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mid-sized</a:t>
            </a:r>
            <a:r>
              <a:rPr sz="1100" spc="2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teams,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improvements,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Redis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caching,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accommodate </a:t>
            </a:r>
            <a:r>
              <a:rPr sz="1100" dirty="0">
                <a:latin typeface="Times New Roman"/>
                <a:cs typeface="Times New Roman"/>
              </a:rPr>
              <a:t>larger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groups.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optimization,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-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 become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reliable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25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coding,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catering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teams,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educators,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developers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globe.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imes New Roman"/>
              <a:cs typeface="Times New Roman"/>
            </a:endParaRPr>
          </a:p>
          <a:p>
            <a:pPr marL="18415" marR="372110" indent="-6350" algn="just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technologies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React.js,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Node.js,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Socket.IO,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CodeMirror,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Judge0 </a:t>
            </a:r>
            <a:r>
              <a:rPr sz="1100" dirty="0">
                <a:latin typeface="Times New Roman"/>
                <a:cs typeface="Times New Roman"/>
              </a:rPr>
              <a:t>API,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successfully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achieved: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synchronization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among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users,</a:t>
            </a:r>
            <a:endParaRPr sz="110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compilation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execution</a:t>
            </a:r>
            <a:r>
              <a:rPr sz="1100" spc="-10" dirty="0"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Minimal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setup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overhead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only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browser,</a:t>
            </a:r>
            <a:endParaRPr sz="1100">
              <a:latin typeface="Times New Roman"/>
              <a:cs typeface="Times New Roman"/>
            </a:endParaRPr>
          </a:p>
          <a:p>
            <a:pPr marL="457200" lvl="2" indent="-222250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Cross-platform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compatibility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desktops,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tablets,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devices.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71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findings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marR="5080" lvl="2" indent="-222885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achieved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sub-150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standard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(up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users).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48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812790" cy="7761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marR="551180" indent="-222885">
              <a:lnSpc>
                <a:spcPct val="145500"/>
              </a:lnSpc>
              <a:spcBef>
                <a:spcPts val="9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Secure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multi-language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was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Judge0's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sandboxed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compilation environment.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User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experience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consistent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major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browsers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(Chrome,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Firefox,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Edge,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Safari).</a:t>
            </a:r>
            <a:endParaRPr sz="1100">
              <a:latin typeface="Times New Roman"/>
              <a:cs typeface="Times New Roman"/>
            </a:endParaRPr>
          </a:p>
          <a:p>
            <a:pPr marL="457200" marR="332105" indent="-222885">
              <a:lnSpc>
                <a:spcPts val="1930"/>
              </a:lnSpc>
              <a:spcBef>
                <a:spcPts val="15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Frontend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scalability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were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validated,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concurrent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 </a:t>
            </a:r>
            <a:r>
              <a:rPr sz="1100" dirty="0">
                <a:latin typeface="Times New Roman"/>
                <a:cs typeface="Times New Roman"/>
              </a:rPr>
              <a:t>room-based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architecture.</a:t>
            </a:r>
            <a:endParaRPr sz="1100">
              <a:latin typeface="Times New Roman"/>
              <a:cs typeface="Times New Roman"/>
            </a:endParaRPr>
          </a:p>
          <a:p>
            <a:pPr marL="12700" marR="583565">
              <a:lnSpc>
                <a:spcPct val="146400"/>
              </a:lnSpc>
              <a:spcBef>
                <a:spcPts val="120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demonstrated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feasible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robust,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accessible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experience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without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heavy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setups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complex </a:t>
            </a:r>
            <a:r>
              <a:rPr sz="1100" dirty="0">
                <a:latin typeface="Times New Roman"/>
                <a:cs typeface="Times New Roman"/>
              </a:rPr>
              <a:t>installations.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Additionally,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practical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across: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Online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education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platforms,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Technical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interview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platforms,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software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development,</a:t>
            </a:r>
            <a:endParaRPr sz="1100">
              <a:latin typeface="Times New Roman"/>
              <a:cs typeface="Times New Roman"/>
            </a:endParaRPr>
          </a:p>
          <a:p>
            <a:pPr marL="457200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workshops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hackathons.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1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46400"/>
              </a:lnSpc>
            </a:pP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conclusion</a:t>
            </a:r>
            <a:r>
              <a:rPr sz="1100" dirty="0">
                <a:latin typeface="Times New Roman"/>
                <a:cs typeface="Times New Roman"/>
              </a:rPr>
              <a:t>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evolve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into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comprehensive,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feature-rich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accommodating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needs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advanced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debugging,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mobile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support,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AI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integration.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remote-first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empower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developers,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educators,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innovators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seamlessly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geographic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boundaries,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pushing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boundaries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20" dirty="0">
                <a:latin typeface="Times New Roman"/>
                <a:cs typeface="Times New Roman"/>
              </a:rPr>
              <a:t>time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50" b="1" dirty="0">
                <a:latin typeface="Times New Roman"/>
                <a:cs typeface="Times New Roman"/>
              </a:rPr>
              <a:t>5.2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Future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Work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50">
              <a:latin typeface="Times New Roman"/>
              <a:cs typeface="Times New Roman"/>
            </a:endParaRPr>
          </a:p>
          <a:p>
            <a:pPr marL="18415" marR="5715" indent="-6350" algn="just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While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meets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core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objectives,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there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numerous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potential </a:t>
            </a:r>
            <a:r>
              <a:rPr sz="1100" dirty="0">
                <a:latin typeface="Times New Roman"/>
                <a:cs typeface="Times New Roman"/>
              </a:rPr>
              <a:t>enhancements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significantly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elevate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its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experience: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100">
              <a:latin typeface="Times New Roman"/>
              <a:cs typeface="Times New Roman"/>
            </a:endParaRPr>
          </a:p>
          <a:p>
            <a:pPr marL="321945" marR="5080" indent="-222885" algn="just">
              <a:lnSpc>
                <a:spcPct val="146400"/>
              </a:lnSpc>
              <a:buAutoNum type="arabicPeriod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Authentication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Authorization</a:t>
            </a:r>
            <a:r>
              <a:rPr sz="1100" b="1" spc="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System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Integrating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authentication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OAuth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JWT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features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persistent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profiles,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saved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workspaces,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fine-grained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access </a:t>
            </a:r>
            <a:r>
              <a:rPr sz="1100" dirty="0">
                <a:latin typeface="Times New Roman"/>
                <a:cs typeface="Times New Roman"/>
              </a:rPr>
              <a:t>control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sessions.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Font typeface="Times New Roman"/>
              <a:buAutoNum type="arabicPeriod"/>
            </a:pPr>
            <a:endParaRPr sz="1100">
              <a:latin typeface="Times New Roman"/>
              <a:cs typeface="Times New Roman"/>
            </a:endParaRPr>
          </a:p>
          <a:p>
            <a:pPr marL="321945" marR="5715" indent="-222885" algn="just">
              <a:lnSpc>
                <a:spcPct val="146400"/>
              </a:lnSpc>
              <a:buAutoNum type="arabicPeriod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Document</a:t>
            </a:r>
            <a:r>
              <a:rPr sz="1100" b="1" spc="2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History</a:t>
            </a:r>
            <a:r>
              <a:rPr sz="1100" b="1" spc="30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Version</a:t>
            </a:r>
            <a:r>
              <a:rPr sz="1100" b="1" spc="29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Control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Introducing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2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history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tracking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undo/redo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functionality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easily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changes.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Integration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Git/GitHub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management,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further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streamlining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49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812790" cy="80448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21945" marR="5080" indent="-222885" algn="just">
              <a:lnSpc>
                <a:spcPct val="146400"/>
              </a:lnSpc>
              <a:spcBef>
                <a:spcPts val="80"/>
              </a:spcBef>
              <a:buAutoNum type="arabicPeriod" startAt="3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Voice</a:t>
            </a:r>
            <a:r>
              <a:rPr sz="1100" b="1" spc="30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3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Video</a:t>
            </a:r>
            <a:r>
              <a:rPr sz="1100" b="1" spc="3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Integration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Adding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built-in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voice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video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calls</a:t>
            </a:r>
            <a:r>
              <a:rPr sz="1100" spc="3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collaboration </a:t>
            </a:r>
            <a:r>
              <a:rPr sz="1100" dirty="0">
                <a:latin typeface="Times New Roman"/>
                <a:cs typeface="Times New Roman"/>
              </a:rPr>
              <a:t>sessions,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potentially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leveraging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WebRTC,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4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enhance</a:t>
            </a:r>
            <a:r>
              <a:rPr sz="1100" spc="4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4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between</a:t>
            </a:r>
            <a:r>
              <a:rPr sz="1100" spc="4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users, </a:t>
            </a:r>
            <a:r>
              <a:rPr sz="1100" dirty="0">
                <a:latin typeface="Times New Roman"/>
                <a:cs typeface="Times New Roman"/>
              </a:rPr>
              <a:t>providing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all-in-one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solution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coding.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321945" marR="5715" indent="-222885" algn="just">
              <a:lnSpc>
                <a:spcPct val="145900"/>
              </a:lnSpc>
              <a:spcBef>
                <a:spcPts val="5"/>
              </a:spcBef>
              <a:buAutoNum type="arabicPeriod" startAt="3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Load</a:t>
            </a:r>
            <a:r>
              <a:rPr sz="1100" b="1" spc="-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Testing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-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Horizontal</a:t>
            </a:r>
            <a:r>
              <a:rPr sz="1100" b="1" spc="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Scaling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Future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iterations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should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focus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 optimizing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backend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load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balancing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Redis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pub/sub</a:t>
            </a:r>
            <a:r>
              <a:rPr sz="1100" spc="3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improved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scalability,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3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3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accommodate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larger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100+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concurrent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321945" marR="5080" indent="-222885" algn="just">
              <a:lnSpc>
                <a:spcPct val="146400"/>
              </a:lnSpc>
              <a:spcBef>
                <a:spcPts val="5"/>
              </a:spcBef>
              <a:buAutoNum type="arabicPeriod" startAt="3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Offline</a:t>
            </a:r>
            <a:r>
              <a:rPr sz="1100" b="1" spc="28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b="1" spc="254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Mode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Developing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offline-first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continue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 without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internet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connectivity,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 changes synchronized automatically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once </a:t>
            </a:r>
            <a:r>
              <a:rPr sz="1100" spc="-25" dirty="0">
                <a:latin typeface="Times New Roman"/>
                <a:cs typeface="Times New Roman"/>
              </a:rPr>
              <a:t>the </a:t>
            </a:r>
            <a:r>
              <a:rPr sz="1100" dirty="0">
                <a:latin typeface="Times New Roman"/>
                <a:cs typeface="Times New Roman"/>
              </a:rPr>
              <a:t>connection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restored.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321945" marR="5715" indent="-222885" algn="just">
              <a:lnSpc>
                <a:spcPct val="146400"/>
              </a:lnSpc>
              <a:buAutoNum type="arabicPeriod" startAt="3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Mobile</a:t>
            </a:r>
            <a:r>
              <a:rPr sz="1100" b="1" spc="9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Application</a:t>
            </a:r>
            <a:r>
              <a:rPr sz="1100" b="1" spc="8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Development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Building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native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Android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iOS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make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accessible,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empowering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their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mobile devices.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321945" marR="5080" indent="-222885" algn="just">
              <a:lnSpc>
                <a:spcPct val="145900"/>
              </a:lnSpc>
              <a:buAutoNum type="arabicPeriod" startAt="3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AI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Assistance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Integration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Leveraging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AI-based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tools,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GPT-4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Codex,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could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provide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suggestions,</a:t>
            </a:r>
            <a:r>
              <a:rPr sz="1100" spc="2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error</a:t>
            </a:r>
            <a:r>
              <a:rPr sz="1100" spc="2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correction,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debugging </a:t>
            </a:r>
            <a:r>
              <a:rPr sz="1100" dirty="0">
                <a:latin typeface="Times New Roman"/>
                <a:cs typeface="Times New Roman"/>
              </a:rPr>
              <a:t>assistance,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enhancing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productivity.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321945" marR="5715" indent="-222885" algn="just">
              <a:lnSpc>
                <a:spcPct val="147300"/>
              </a:lnSpc>
              <a:buAutoNum type="arabicPeriod" startAt="3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17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Collaborative</a:t>
            </a:r>
            <a:r>
              <a:rPr sz="1100" b="1" spc="1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Debugging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collaboratively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debug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code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breakpoints,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stack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traces,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runtime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inspection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321945" marR="5080" indent="-222885" algn="just">
              <a:lnSpc>
                <a:spcPct val="145900"/>
              </a:lnSpc>
              <a:buAutoNum type="arabicPeriod" startAt="3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Expanded</a:t>
            </a:r>
            <a:r>
              <a:rPr sz="1100" b="1" spc="1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1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1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Compiler</a:t>
            </a:r>
            <a:r>
              <a:rPr sz="1100" b="1" spc="1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Support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additional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languages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(e.g., </a:t>
            </a:r>
            <a:r>
              <a:rPr sz="1100" dirty="0">
                <a:latin typeface="Times New Roman"/>
                <a:cs typeface="Times New Roman"/>
              </a:rPr>
              <a:t>Go,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Rust,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Kotlin,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Julia)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more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complex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runtimes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broaden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platform's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utility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dirty="0">
                <a:latin typeface="Times New Roman"/>
                <a:cs typeface="Times New Roman"/>
              </a:rPr>
              <a:t>wider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range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communities.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Font typeface="Times New Roman"/>
              <a:buAutoNum type="arabicPeriod" startAt="3"/>
            </a:pPr>
            <a:endParaRPr sz="1100">
              <a:latin typeface="Times New Roman"/>
              <a:cs typeface="Times New Roman"/>
            </a:endParaRPr>
          </a:p>
          <a:p>
            <a:pPr marL="320675" marR="5080" indent="-221615" algn="just">
              <a:lnSpc>
                <a:spcPct val="146400"/>
              </a:lnSpc>
              <a:buAutoNum type="arabicPeriod" startAt="3"/>
              <a:tabLst>
                <a:tab pos="321945" algn="l"/>
              </a:tabLst>
            </a:pPr>
            <a:r>
              <a:rPr sz="1100" b="1" dirty="0">
                <a:latin typeface="Times New Roman"/>
                <a:cs typeface="Times New Roman"/>
              </a:rPr>
              <a:t>Cloud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Resource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Management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Introducing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per-room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cloud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container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instances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would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for 	</a:t>
            </a:r>
            <a:r>
              <a:rPr sz="1100" dirty="0">
                <a:latin typeface="Times New Roman"/>
                <a:cs typeface="Times New Roman"/>
              </a:rPr>
              <a:t>high-resource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jobs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custom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better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handling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of 	</a:t>
            </a:r>
            <a:r>
              <a:rPr sz="1100" dirty="0">
                <a:latin typeface="Times New Roman"/>
                <a:cs typeface="Times New Roman"/>
              </a:rPr>
              <a:t>intensive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computing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tasks.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4590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modern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era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remote-first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blueprint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how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</a:t>
            </a:r>
            <a:r>
              <a:rPr sz="1100" spc="-20" dirty="0">
                <a:latin typeface="Times New Roman"/>
                <a:cs typeface="Times New Roman"/>
              </a:rPr>
              <a:t>time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bridge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geographical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distances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—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empowering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developers,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educators,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innovators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around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world.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50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292855" y="1323172"/>
            <a:ext cx="98107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b="1" spc="-10" dirty="0">
                <a:latin typeface="Times New Roman"/>
                <a:cs typeface="Times New Roman"/>
              </a:rPr>
              <a:t>REFERENCES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6" y="1822516"/>
            <a:ext cx="2696210" cy="173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latin typeface="Times New Roman"/>
                <a:cs typeface="Times New Roman"/>
              </a:rPr>
              <a:t>[1]</a:t>
            </a:r>
            <a:r>
              <a:rPr sz="750" spc="254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M.</a:t>
            </a:r>
            <a:r>
              <a:rPr sz="950" spc="229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Kleppmann</a:t>
            </a:r>
            <a:r>
              <a:rPr sz="950" spc="2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2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A.</a:t>
            </a:r>
            <a:r>
              <a:rPr sz="950" spc="2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Beresford,</a:t>
            </a:r>
            <a:r>
              <a:rPr sz="950" spc="2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“A</a:t>
            </a:r>
            <a:r>
              <a:rPr sz="950" spc="204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Conflict-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9819" y="1971788"/>
            <a:ext cx="2474595" cy="8775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46800"/>
              </a:lnSpc>
              <a:spcBef>
                <a:spcPts val="90"/>
              </a:spcBef>
            </a:pPr>
            <a:r>
              <a:rPr sz="950" dirty="0">
                <a:latin typeface="Times New Roman"/>
                <a:cs typeface="Times New Roman"/>
              </a:rPr>
              <a:t>Free</a:t>
            </a:r>
            <a:r>
              <a:rPr sz="950" spc="37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Replicated</a:t>
            </a:r>
            <a:r>
              <a:rPr sz="950" spc="38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JSON</a:t>
            </a:r>
            <a:r>
              <a:rPr sz="950" spc="38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Datatype,”</a:t>
            </a:r>
            <a:r>
              <a:rPr sz="950" spc="375" dirty="0">
                <a:latin typeface="Times New Roman"/>
                <a:cs typeface="Times New Roman"/>
              </a:rPr>
              <a:t>  </a:t>
            </a:r>
            <a:r>
              <a:rPr sz="950" i="1" spc="-20" dirty="0">
                <a:latin typeface="Times New Roman"/>
                <a:cs typeface="Times New Roman"/>
              </a:rPr>
              <a:t>IEEE </a:t>
            </a:r>
            <a:r>
              <a:rPr sz="950" i="1" dirty="0">
                <a:latin typeface="Times New Roman"/>
                <a:cs typeface="Times New Roman"/>
              </a:rPr>
              <a:t>Transactions</a:t>
            </a:r>
            <a:r>
              <a:rPr sz="950" i="1" spc="300" dirty="0">
                <a:latin typeface="Times New Roman"/>
                <a:cs typeface="Times New Roman"/>
              </a:rPr>
              <a:t>  </a:t>
            </a:r>
            <a:r>
              <a:rPr sz="950" i="1" dirty="0">
                <a:latin typeface="Times New Roman"/>
                <a:cs typeface="Times New Roman"/>
              </a:rPr>
              <a:t>on</a:t>
            </a:r>
            <a:r>
              <a:rPr sz="950" i="1" spc="295" dirty="0">
                <a:latin typeface="Times New Roman"/>
                <a:cs typeface="Times New Roman"/>
              </a:rPr>
              <a:t>  </a:t>
            </a:r>
            <a:r>
              <a:rPr sz="950" i="1" dirty="0">
                <a:latin typeface="Times New Roman"/>
                <a:cs typeface="Times New Roman"/>
              </a:rPr>
              <a:t>Parallel</a:t>
            </a:r>
            <a:r>
              <a:rPr sz="950" i="1" spc="300" dirty="0">
                <a:latin typeface="Times New Roman"/>
                <a:cs typeface="Times New Roman"/>
              </a:rPr>
              <a:t>  </a:t>
            </a:r>
            <a:r>
              <a:rPr sz="950" i="1" dirty="0">
                <a:latin typeface="Times New Roman"/>
                <a:cs typeface="Times New Roman"/>
              </a:rPr>
              <a:t>and</a:t>
            </a:r>
            <a:r>
              <a:rPr sz="950" i="1" spc="300" dirty="0">
                <a:latin typeface="Times New Roman"/>
                <a:cs typeface="Times New Roman"/>
              </a:rPr>
              <a:t>  </a:t>
            </a:r>
            <a:r>
              <a:rPr sz="950" i="1" spc="-10" dirty="0">
                <a:latin typeface="Times New Roman"/>
                <a:cs typeface="Times New Roman"/>
              </a:rPr>
              <a:t>Distributed </a:t>
            </a:r>
            <a:r>
              <a:rPr sz="950" i="1" dirty="0">
                <a:latin typeface="Times New Roman"/>
                <a:cs typeface="Times New Roman"/>
              </a:rPr>
              <a:t>Systems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2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27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28,</a:t>
            </a:r>
            <a:r>
              <a:rPr sz="950" spc="2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27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10,</a:t>
            </a:r>
            <a:r>
              <a:rPr sz="950" spc="2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27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2733–2746,</a:t>
            </a:r>
            <a:r>
              <a:rPr sz="950" spc="28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Oct.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950" spc="-10" dirty="0">
                <a:latin typeface="Times New Roman"/>
                <a:cs typeface="Times New Roman"/>
              </a:rPr>
              <a:t>2017.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7316" y="2852661"/>
            <a:ext cx="2697480" cy="8807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4950" marR="5080" indent="-222885" algn="just">
              <a:lnSpc>
                <a:spcPct val="147700"/>
              </a:lnSpc>
              <a:spcBef>
                <a:spcPts val="90"/>
              </a:spcBef>
            </a:pPr>
            <a:r>
              <a:rPr sz="750" dirty="0">
                <a:latin typeface="Times New Roman"/>
                <a:cs typeface="Times New Roman"/>
              </a:rPr>
              <a:t>[2]</a:t>
            </a:r>
            <a:r>
              <a:rPr sz="750" spc="26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P.</a:t>
            </a:r>
            <a:r>
              <a:rPr sz="950" spc="114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Mehta</a:t>
            </a:r>
            <a:r>
              <a:rPr sz="950" spc="1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1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A.</a:t>
            </a:r>
            <a:r>
              <a:rPr sz="950" spc="1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Jain,</a:t>
            </a:r>
            <a:r>
              <a:rPr sz="950" spc="1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“Real-Time</a:t>
            </a:r>
            <a:r>
              <a:rPr sz="950" spc="11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Collaborative </a:t>
            </a:r>
            <a:r>
              <a:rPr sz="950" dirty="0">
                <a:latin typeface="Times New Roman"/>
                <a:cs typeface="Times New Roman"/>
              </a:rPr>
              <a:t>Code</a:t>
            </a:r>
            <a:r>
              <a:rPr sz="950" spc="4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Editors:</a:t>
            </a:r>
            <a:r>
              <a:rPr sz="950" spc="4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Challenges</a:t>
            </a:r>
            <a:r>
              <a:rPr sz="950" spc="4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434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Technologies,” </a:t>
            </a:r>
            <a:r>
              <a:rPr sz="950" i="1" dirty="0">
                <a:latin typeface="Times New Roman"/>
                <a:cs typeface="Times New Roman"/>
              </a:rPr>
              <a:t>International</a:t>
            </a:r>
            <a:r>
              <a:rPr sz="950" i="1" spc="13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Journal</a:t>
            </a:r>
            <a:r>
              <a:rPr sz="950" i="1" spc="13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of</a:t>
            </a:r>
            <a:r>
              <a:rPr sz="950" i="1" spc="12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Computer</a:t>
            </a:r>
            <a:r>
              <a:rPr sz="950" i="1" spc="150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Times New Roman"/>
                <a:cs typeface="Times New Roman"/>
              </a:rPr>
              <a:t>Applications</a:t>
            </a:r>
            <a:r>
              <a:rPr sz="950" spc="-10" dirty="0">
                <a:latin typeface="Times New Roman"/>
                <a:cs typeface="Times New Roman"/>
              </a:rPr>
              <a:t>,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175,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2,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10–15,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Oct.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2020.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7316" y="3735057"/>
            <a:ext cx="2698115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0" marR="5080" indent="-222885" algn="just">
              <a:lnSpc>
                <a:spcPct val="147400"/>
              </a:lnSpc>
              <a:spcBef>
                <a:spcPts val="105"/>
              </a:spcBef>
            </a:pPr>
            <a:r>
              <a:rPr sz="750" dirty="0">
                <a:latin typeface="Times New Roman"/>
                <a:cs typeface="Times New Roman"/>
              </a:rPr>
              <a:t>[3]</a:t>
            </a:r>
            <a:r>
              <a:rPr sz="750" spc="26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A.</a:t>
            </a:r>
            <a:r>
              <a:rPr sz="950" spc="1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Gubanov,</a:t>
            </a:r>
            <a:r>
              <a:rPr sz="950" spc="19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D.</a:t>
            </a:r>
            <a:r>
              <a:rPr sz="950" spc="1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Kravtsov,</a:t>
            </a:r>
            <a:r>
              <a:rPr sz="950" spc="18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S.</a:t>
            </a:r>
            <a:r>
              <a:rPr sz="950" spc="2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Piskunov,</a:t>
            </a:r>
            <a:r>
              <a:rPr sz="950" spc="1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175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A. </a:t>
            </a:r>
            <a:r>
              <a:rPr sz="950" dirty="0">
                <a:latin typeface="Times New Roman"/>
                <a:cs typeface="Times New Roman"/>
              </a:rPr>
              <a:t>Chukharev,</a:t>
            </a:r>
            <a:r>
              <a:rPr sz="950" spc="1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“Architecture</a:t>
            </a:r>
            <a:r>
              <a:rPr sz="950" spc="10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10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Implementation</a:t>
            </a:r>
            <a:r>
              <a:rPr sz="950" spc="110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of </a:t>
            </a:r>
            <a:r>
              <a:rPr sz="950" dirty="0">
                <a:latin typeface="Times New Roman"/>
                <a:cs typeface="Times New Roman"/>
              </a:rPr>
              <a:t>a</a:t>
            </a:r>
            <a:r>
              <a:rPr sz="950" spc="1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Collaborative</a:t>
            </a:r>
            <a:r>
              <a:rPr sz="950" spc="18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Web</a:t>
            </a:r>
            <a:r>
              <a:rPr sz="950" spc="2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IDE,”</a:t>
            </a:r>
            <a:r>
              <a:rPr sz="950" spc="18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Procedia</a:t>
            </a:r>
            <a:r>
              <a:rPr sz="950" i="1" spc="215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Times New Roman"/>
                <a:cs typeface="Times New Roman"/>
              </a:rPr>
              <a:t>Computer </a:t>
            </a:r>
            <a:r>
              <a:rPr sz="950" i="1" dirty="0">
                <a:latin typeface="Times New Roman"/>
                <a:cs typeface="Times New Roman"/>
              </a:rPr>
              <a:t>Science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104,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148–153,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2017.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316" y="4618976"/>
            <a:ext cx="2699385" cy="880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4950" marR="5080" indent="-222885" algn="just">
              <a:lnSpc>
                <a:spcPct val="147400"/>
              </a:lnSpc>
              <a:spcBef>
                <a:spcPts val="105"/>
              </a:spcBef>
            </a:pPr>
            <a:r>
              <a:rPr sz="750" dirty="0">
                <a:latin typeface="Times New Roman"/>
                <a:cs typeface="Times New Roman"/>
              </a:rPr>
              <a:t>[4]</a:t>
            </a:r>
            <a:r>
              <a:rPr sz="750" spc="24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S.</a:t>
            </a:r>
            <a:r>
              <a:rPr sz="950" spc="14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Tilkov</a:t>
            </a:r>
            <a:r>
              <a:rPr sz="950" spc="14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14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S.</a:t>
            </a:r>
            <a:r>
              <a:rPr sz="950" spc="14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Vinoski,</a:t>
            </a:r>
            <a:r>
              <a:rPr sz="950" spc="13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“Node.js:</a:t>
            </a:r>
            <a:r>
              <a:rPr sz="950" spc="135" dirty="0">
                <a:latin typeface="Times New Roman"/>
                <a:cs typeface="Times New Roman"/>
              </a:rPr>
              <a:t>  </a:t>
            </a:r>
            <a:r>
              <a:rPr sz="950" spc="-20" dirty="0">
                <a:latin typeface="Times New Roman"/>
                <a:cs typeface="Times New Roman"/>
              </a:rPr>
              <a:t>Using </a:t>
            </a:r>
            <a:r>
              <a:rPr sz="950" dirty="0">
                <a:latin typeface="Times New Roman"/>
                <a:cs typeface="Times New Roman"/>
              </a:rPr>
              <a:t>JavaScript</a:t>
            </a:r>
            <a:r>
              <a:rPr sz="950" spc="2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to</a:t>
            </a:r>
            <a:r>
              <a:rPr sz="950" spc="2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Build</a:t>
            </a:r>
            <a:r>
              <a:rPr sz="950" spc="2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High-Performance</a:t>
            </a:r>
            <a:r>
              <a:rPr sz="950" spc="23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Network </a:t>
            </a:r>
            <a:r>
              <a:rPr sz="950" dirty="0">
                <a:latin typeface="Times New Roman"/>
                <a:cs typeface="Times New Roman"/>
              </a:rPr>
              <a:t>Programs,” </a:t>
            </a:r>
            <a:r>
              <a:rPr sz="950" i="1" dirty="0">
                <a:latin typeface="Times New Roman"/>
                <a:cs typeface="Times New Roman"/>
              </a:rPr>
              <a:t>IEEE</a:t>
            </a:r>
            <a:r>
              <a:rPr sz="950" i="1" spc="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Internet</a:t>
            </a:r>
            <a:r>
              <a:rPr sz="950" i="1" spc="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Computing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14,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no. </a:t>
            </a:r>
            <a:r>
              <a:rPr sz="950" dirty="0">
                <a:latin typeface="Times New Roman"/>
                <a:cs typeface="Times New Roman"/>
              </a:rPr>
              <a:t>6,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80–83,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Nov.–Dec.</a:t>
            </a:r>
            <a:r>
              <a:rPr sz="950" spc="6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2010.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7316" y="5507468"/>
            <a:ext cx="2698115" cy="17907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33045" marR="5080" indent="-220979" algn="just">
              <a:lnSpc>
                <a:spcPct val="147000"/>
              </a:lnSpc>
              <a:spcBef>
                <a:spcPts val="85"/>
              </a:spcBef>
              <a:buSzPct val="78947"/>
              <a:buAutoNum type="arabicPlain" startAt="5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R.</a:t>
            </a:r>
            <a:r>
              <a:rPr sz="950" spc="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Fielding,</a:t>
            </a:r>
            <a:r>
              <a:rPr sz="950" spc="7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“Architectural</a:t>
            </a:r>
            <a:r>
              <a:rPr sz="950" spc="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Styles</a:t>
            </a:r>
            <a:r>
              <a:rPr sz="950" spc="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8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the</a:t>
            </a:r>
            <a:r>
              <a:rPr sz="950" spc="6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Design 	</a:t>
            </a:r>
            <a:r>
              <a:rPr sz="950" dirty="0">
                <a:latin typeface="Times New Roman"/>
                <a:cs typeface="Times New Roman"/>
              </a:rPr>
              <a:t>of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Network-based</a:t>
            </a:r>
            <a:r>
              <a:rPr sz="950" spc="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Software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Architectures,”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Ph.D. 	</a:t>
            </a:r>
            <a:r>
              <a:rPr sz="950" dirty="0">
                <a:latin typeface="Times New Roman"/>
                <a:cs typeface="Times New Roman"/>
              </a:rPr>
              <a:t>dissertation,</a:t>
            </a:r>
            <a:r>
              <a:rPr sz="950" spc="3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Univ.</a:t>
            </a:r>
            <a:r>
              <a:rPr sz="950" spc="3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of</a:t>
            </a:r>
            <a:r>
              <a:rPr sz="950" spc="3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California,</a:t>
            </a:r>
            <a:r>
              <a:rPr sz="950" spc="3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Irvine,</a:t>
            </a:r>
            <a:r>
              <a:rPr sz="950" spc="32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USA, 	</a:t>
            </a:r>
            <a:r>
              <a:rPr sz="950" spc="-10" dirty="0">
                <a:latin typeface="Times New Roman"/>
                <a:cs typeface="Times New Roman"/>
              </a:rPr>
              <a:t>2000.</a:t>
            </a:r>
            <a:endParaRPr sz="950">
              <a:latin typeface="Times New Roman"/>
              <a:cs typeface="Times New Roman"/>
            </a:endParaRPr>
          </a:p>
          <a:p>
            <a:pPr marL="233679" indent="-220979" algn="just">
              <a:lnSpc>
                <a:spcPct val="100000"/>
              </a:lnSpc>
              <a:spcBef>
                <a:spcPts val="780"/>
              </a:spcBef>
              <a:buSzPct val="78947"/>
              <a:buAutoNum type="arabicPlain" startAt="5"/>
              <a:tabLst>
                <a:tab pos="233679" algn="l"/>
              </a:tabLst>
            </a:pPr>
            <a:r>
              <a:rPr sz="950" dirty="0">
                <a:latin typeface="Times New Roman"/>
                <a:cs typeface="Times New Roman"/>
              </a:rPr>
              <a:t>Socket.IO,</a:t>
            </a:r>
            <a:r>
              <a:rPr sz="950" spc="470" dirty="0">
                <a:latin typeface="Times New Roman"/>
                <a:cs typeface="Times New Roman"/>
              </a:rPr>
              <a:t>   </a:t>
            </a:r>
            <a:r>
              <a:rPr sz="950" dirty="0">
                <a:latin typeface="Times New Roman"/>
                <a:cs typeface="Times New Roman"/>
              </a:rPr>
              <a:t>“Socket.IO</a:t>
            </a:r>
            <a:r>
              <a:rPr sz="950" spc="459" dirty="0">
                <a:latin typeface="Times New Roman"/>
                <a:cs typeface="Times New Roman"/>
              </a:rPr>
              <a:t>   </a:t>
            </a:r>
            <a:r>
              <a:rPr sz="950" spc="-10" dirty="0">
                <a:latin typeface="Times New Roman"/>
                <a:cs typeface="Times New Roman"/>
              </a:rPr>
              <a:t>Documentation,”</a:t>
            </a:r>
            <a:endParaRPr sz="950">
              <a:latin typeface="Times New Roman"/>
              <a:cs typeface="Times New Roman"/>
            </a:endParaRPr>
          </a:p>
          <a:p>
            <a:pPr marL="234950" algn="just">
              <a:lnSpc>
                <a:spcPct val="100000"/>
              </a:lnSpc>
              <a:spcBef>
                <a:spcPts val="540"/>
              </a:spcBef>
            </a:pPr>
            <a:r>
              <a:rPr sz="950" dirty="0">
                <a:latin typeface="Times New Roman"/>
                <a:cs typeface="Times New Roman"/>
              </a:rPr>
              <a:t>Available:</a:t>
            </a:r>
            <a:r>
              <a:rPr sz="950" spc="6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https://socket.io/docs</a:t>
            </a:r>
            <a:endParaRPr sz="950">
              <a:latin typeface="Times New Roman"/>
              <a:cs typeface="Times New Roman"/>
            </a:endParaRPr>
          </a:p>
          <a:p>
            <a:pPr marL="233045" marR="5715" indent="-220979" algn="just">
              <a:lnSpc>
                <a:spcPct val="147400"/>
              </a:lnSpc>
              <a:spcBef>
                <a:spcPts val="240"/>
              </a:spcBef>
              <a:buSzPct val="78947"/>
              <a:buAutoNum type="arabicPlain" startAt="7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CodeMirror,</a:t>
            </a:r>
            <a:r>
              <a:rPr sz="950" spc="459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“CodeMirror</a:t>
            </a:r>
            <a:r>
              <a:rPr sz="950" spc="459" dirty="0">
                <a:latin typeface="Times New Roman"/>
                <a:cs typeface="Times New Roman"/>
              </a:rPr>
              <a:t>  </a:t>
            </a:r>
            <a:r>
              <a:rPr sz="950" spc="-10" dirty="0">
                <a:latin typeface="Times New Roman"/>
                <a:cs typeface="Times New Roman"/>
              </a:rPr>
              <a:t>Documentation,” 	</a:t>
            </a:r>
            <a:r>
              <a:rPr sz="950" dirty="0">
                <a:latin typeface="Times New Roman"/>
                <a:cs typeface="Times New Roman"/>
              </a:rPr>
              <a:t>Available:</a:t>
            </a:r>
            <a:r>
              <a:rPr sz="950" spc="6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https://codemirror.net/docs.html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316" y="7302741"/>
            <a:ext cx="26981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marR="5080" indent="-222885">
              <a:lnSpc>
                <a:spcPct val="147400"/>
              </a:lnSpc>
              <a:spcBef>
                <a:spcPts val="95"/>
              </a:spcBef>
            </a:pPr>
            <a:r>
              <a:rPr sz="750" dirty="0">
                <a:latin typeface="Times New Roman"/>
                <a:cs typeface="Times New Roman"/>
              </a:rPr>
              <a:t>[8]</a:t>
            </a:r>
            <a:r>
              <a:rPr sz="750" spc="29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Judge0,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“Judge0</a:t>
            </a:r>
            <a:r>
              <a:rPr sz="950" spc="-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API Documentation,”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Available: https://judge0.com/docs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7316" y="7759941"/>
            <a:ext cx="269748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marR="5080" indent="-222885" algn="just">
              <a:lnSpc>
                <a:spcPct val="147400"/>
              </a:lnSpc>
              <a:spcBef>
                <a:spcPts val="95"/>
              </a:spcBef>
            </a:pPr>
            <a:r>
              <a:rPr sz="750" dirty="0">
                <a:latin typeface="Times New Roman"/>
                <a:cs typeface="Times New Roman"/>
              </a:rPr>
              <a:t>[9]</a:t>
            </a:r>
            <a:r>
              <a:rPr sz="750" spc="24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ReactJS,</a:t>
            </a:r>
            <a:r>
              <a:rPr sz="950" spc="4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“React</a:t>
            </a:r>
            <a:r>
              <a:rPr sz="950" spc="45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–</a:t>
            </a:r>
            <a:r>
              <a:rPr sz="950" spc="4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</a:t>
            </a:r>
            <a:r>
              <a:rPr sz="950" spc="4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JavaScript</a:t>
            </a:r>
            <a:r>
              <a:rPr sz="950" spc="45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Library</a:t>
            </a:r>
            <a:r>
              <a:rPr sz="950" spc="455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for </a:t>
            </a:r>
            <a:r>
              <a:rPr sz="950" dirty="0">
                <a:latin typeface="Times New Roman"/>
                <a:cs typeface="Times New Roman"/>
              </a:rPr>
              <a:t>Building</a:t>
            </a:r>
            <a:r>
              <a:rPr sz="950" spc="3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User</a:t>
            </a:r>
            <a:r>
              <a:rPr sz="950" spc="2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Interfaces,”</a:t>
            </a:r>
            <a:r>
              <a:rPr sz="950" spc="29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[Online].</a:t>
            </a:r>
            <a:r>
              <a:rPr sz="950" spc="29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Available: </a:t>
            </a:r>
            <a:r>
              <a:rPr sz="950" dirty="0">
                <a:latin typeface="Times New Roman"/>
                <a:cs typeface="Times New Roman"/>
              </a:rPr>
              <a:t>https://reactjs.org/docs/getting-</a:t>
            </a:r>
            <a:r>
              <a:rPr sz="950" spc="-10" dirty="0">
                <a:latin typeface="Times New Roman"/>
                <a:cs typeface="Times New Roman"/>
              </a:rPr>
              <a:t>started.html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7316" y="8430500"/>
            <a:ext cx="26987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marR="5080" indent="-222885">
              <a:lnSpc>
                <a:spcPct val="147400"/>
              </a:lnSpc>
              <a:spcBef>
                <a:spcPts val="95"/>
              </a:spcBef>
              <a:tabLst>
                <a:tab pos="1024255" algn="l"/>
                <a:tab pos="1835785" algn="l"/>
              </a:tabLst>
            </a:pPr>
            <a:r>
              <a:rPr sz="750" dirty="0">
                <a:latin typeface="Times New Roman"/>
                <a:cs typeface="Times New Roman"/>
              </a:rPr>
              <a:t>[10]</a:t>
            </a:r>
            <a:r>
              <a:rPr sz="750" spc="29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ExpressJS,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“Express.js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Documentation,” Available: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9819" y="8922832"/>
            <a:ext cx="2313940" cy="173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10" dirty="0">
                <a:latin typeface="Times New Roman"/>
                <a:cs typeface="Times New Roman"/>
              </a:rPr>
              <a:t>https://expressjs.com/en/starter/installing.html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92372" y="1756905"/>
            <a:ext cx="2698750" cy="3835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2410" marR="6350" indent="-220345">
              <a:lnSpc>
                <a:spcPct val="147400"/>
              </a:lnSpc>
              <a:spcBef>
                <a:spcPts val="95"/>
              </a:spcBef>
              <a:buSzPct val="78947"/>
              <a:buAutoNum type="arabicPlain" startAt="11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MongoDB,</a:t>
            </a:r>
            <a:r>
              <a:rPr sz="950" spc="22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“MongoDB</a:t>
            </a:r>
            <a:r>
              <a:rPr sz="950" spc="21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Manual,”</a:t>
            </a:r>
            <a:r>
              <a:rPr sz="950" spc="220" dirty="0">
                <a:latin typeface="Times New Roman"/>
                <a:cs typeface="Times New Roman"/>
              </a:rPr>
              <a:t>  </a:t>
            </a:r>
            <a:r>
              <a:rPr sz="950" spc="-10" dirty="0">
                <a:latin typeface="Times New Roman"/>
                <a:cs typeface="Times New Roman"/>
              </a:rPr>
              <a:t>Available: 	</a:t>
            </a:r>
            <a:r>
              <a:rPr sz="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</a:t>
            </a:r>
            <a:r>
              <a:rPr sz="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www.mongodb.com/docs/manual/</a:t>
            </a:r>
            <a:endParaRPr sz="950">
              <a:latin typeface="Times New Roman"/>
              <a:cs typeface="Times New Roman"/>
            </a:endParaRPr>
          </a:p>
          <a:p>
            <a:pPr marL="232410" marR="6985" indent="-220345">
              <a:lnSpc>
                <a:spcPct val="147400"/>
              </a:lnSpc>
              <a:spcBef>
                <a:spcPts val="240"/>
              </a:spcBef>
              <a:buSzPct val="78947"/>
              <a:buAutoNum type="arabicPlain" startAt="11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Node.js,</a:t>
            </a:r>
            <a:r>
              <a:rPr sz="950" spc="4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“Node.js</a:t>
            </a:r>
            <a:r>
              <a:rPr sz="950" spc="45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Documentation,”</a:t>
            </a:r>
            <a:r>
              <a:rPr sz="950" spc="44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Available: 	https://nodejs.org/en/docs</a:t>
            </a:r>
            <a:endParaRPr sz="950">
              <a:latin typeface="Times New Roman"/>
              <a:cs typeface="Times New Roman"/>
            </a:endParaRPr>
          </a:p>
          <a:p>
            <a:pPr marL="232410" marR="6985" indent="-220345">
              <a:lnSpc>
                <a:spcPct val="147400"/>
              </a:lnSpc>
              <a:spcBef>
                <a:spcPts val="240"/>
              </a:spcBef>
              <a:buSzPct val="78947"/>
              <a:buAutoNum type="arabicPlain" startAt="11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Microsoft,</a:t>
            </a:r>
            <a:r>
              <a:rPr sz="950" spc="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“Visual</a:t>
            </a:r>
            <a:r>
              <a:rPr sz="950" spc="-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Studio</a:t>
            </a:r>
            <a:r>
              <a:rPr sz="950" spc="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Live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Share,”</a:t>
            </a:r>
            <a:r>
              <a:rPr sz="950" spc="-2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Available: 	</a:t>
            </a:r>
            <a:r>
              <a:rPr sz="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https://learn.microsoft.com/en-</a:t>
            </a:r>
            <a:r>
              <a:rPr sz="950" spc="-10" dirty="0">
                <a:solidFill>
                  <a:srgbClr val="0000FF"/>
                </a:solidFill>
                <a:latin typeface="Times New Roman"/>
                <a:cs typeface="Times New Roman"/>
              </a:rPr>
              <a:t> 	</a:t>
            </a:r>
            <a:r>
              <a:rPr sz="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us/visualstudio/liveshare/</a:t>
            </a:r>
            <a:endParaRPr sz="950">
              <a:latin typeface="Times New Roman"/>
              <a:cs typeface="Times New Roman"/>
            </a:endParaRPr>
          </a:p>
          <a:p>
            <a:pPr marL="233045" indent="-220345">
              <a:lnSpc>
                <a:spcPct val="100000"/>
              </a:lnSpc>
              <a:spcBef>
                <a:spcPts val="780"/>
              </a:spcBef>
              <a:buSzPct val="78947"/>
              <a:buAutoNum type="arabicPlain" startAt="11"/>
              <a:tabLst>
                <a:tab pos="233045" algn="l"/>
                <a:tab pos="848360" algn="l"/>
                <a:tab pos="1483360" algn="l"/>
                <a:tab pos="2289810" algn="l"/>
              </a:tabLst>
            </a:pPr>
            <a:r>
              <a:rPr sz="950" spc="-10" dirty="0">
                <a:latin typeface="Times New Roman"/>
                <a:cs typeface="Times New Roman"/>
              </a:rPr>
              <a:t>Etherpad,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“Etherpad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Collaborative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Editor,”</a:t>
            </a:r>
            <a:endParaRPr sz="95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540"/>
              </a:spcBef>
            </a:pPr>
            <a:r>
              <a:rPr sz="950" dirty="0">
                <a:latin typeface="Times New Roman"/>
                <a:cs typeface="Times New Roman"/>
              </a:rPr>
              <a:t>Available:</a:t>
            </a:r>
            <a:r>
              <a:rPr sz="950" spc="70" dirty="0">
                <a:latin typeface="Times New Roman"/>
                <a:cs typeface="Times New Roman"/>
              </a:rPr>
              <a:t> </a:t>
            </a:r>
            <a:r>
              <a:rPr sz="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https://etherpad.org/</a:t>
            </a:r>
            <a:endParaRPr sz="950">
              <a:latin typeface="Times New Roman"/>
              <a:cs typeface="Times New Roman"/>
            </a:endParaRPr>
          </a:p>
          <a:p>
            <a:pPr marL="232410" marR="5080" indent="-220345">
              <a:lnSpc>
                <a:spcPct val="147400"/>
              </a:lnSpc>
              <a:spcBef>
                <a:spcPts val="240"/>
              </a:spcBef>
              <a:buSzPct val="78947"/>
              <a:buAutoNum type="arabicPlain" startAt="15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GitHub,</a:t>
            </a:r>
            <a:r>
              <a:rPr sz="950" spc="28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“Collaborative</a:t>
            </a:r>
            <a:r>
              <a:rPr sz="950" spc="27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Code</a:t>
            </a:r>
            <a:r>
              <a:rPr sz="950" spc="254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Editor</a:t>
            </a:r>
            <a:r>
              <a:rPr sz="950" spc="27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Projects,”: 	</a:t>
            </a:r>
            <a:r>
              <a:rPr sz="95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https://github.com/topics/collaborative-</a:t>
            </a:r>
            <a:r>
              <a:rPr sz="95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code-</a:t>
            </a:r>
            <a:r>
              <a:rPr sz="950" spc="-20" dirty="0">
                <a:solidFill>
                  <a:srgbClr val="0000FF"/>
                </a:solidFill>
                <a:latin typeface="Times New Roman"/>
                <a:cs typeface="Times New Roman"/>
              </a:rPr>
              <a:t> 	</a:t>
            </a:r>
            <a:r>
              <a:rPr sz="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editor</a:t>
            </a:r>
            <a:endParaRPr sz="950">
              <a:latin typeface="Times New Roman"/>
              <a:cs typeface="Times New Roman"/>
            </a:endParaRPr>
          </a:p>
          <a:p>
            <a:pPr marL="232410" marR="5080" indent="-220345" algn="just">
              <a:lnSpc>
                <a:spcPct val="147400"/>
              </a:lnSpc>
              <a:spcBef>
                <a:spcPts val="240"/>
              </a:spcBef>
              <a:buSzPct val="78947"/>
              <a:buAutoNum type="arabicPlain" startAt="15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A.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K.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Datta</a:t>
            </a:r>
            <a:r>
              <a:rPr sz="950" spc="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et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al.,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“Operational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Transformation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in 	</a:t>
            </a:r>
            <a:r>
              <a:rPr sz="950" dirty="0">
                <a:latin typeface="Times New Roman"/>
                <a:cs typeface="Times New Roman"/>
              </a:rPr>
              <a:t>Real-Time</a:t>
            </a:r>
            <a:r>
              <a:rPr sz="950" spc="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Collaborative</a:t>
            </a:r>
            <a:r>
              <a:rPr sz="950" spc="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Editing</a:t>
            </a:r>
            <a:r>
              <a:rPr sz="950" spc="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Systems,”</a:t>
            </a:r>
            <a:r>
              <a:rPr sz="950" spc="85" dirty="0">
                <a:latin typeface="Times New Roman"/>
                <a:cs typeface="Times New Roman"/>
              </a:rPr>
              <a:t> </a:t>
            </a:r>
            <a:r>
              <a:rPr sz="950" i="1" spc="-25" dirty="0">
                <a:latin typeface="Times New Roman"/>
                <a:cs typeface="Times New Roman"/>
              </a:rPr>
              <a:t>ACM 	</a:t>
            </a:r>
            <a:r>
              <a:rPr sz="950" i="1" dirty="0">
                <a:latin typeface="Times New Roman"/>
                <a:cs typeface="Times New Roman"/>
              </a:rPr>
              <a:t>Computing</a:t>
            </a:r>
            <a:r>
              <a:rPr sz="950" i="1" spc="31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Surveys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3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3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53,</a:t>
            </a:r>
            <a:r>
              <a:rPr sz="950" spc="30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30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4,</a:t>
            </a:r>
            <a:r>
              <a:rPr sz="950" spc="30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30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1–38,</a:t>
            </a:r>
            <a:endParaRPr sz="950">
              <a:latin typeface="Times New Roman"/>
              <a:cs typeface="Times New Roman"/>
            </a:endParaRPr>
          </a:p>
          <a:p>
            <a:pPr marL="234950" algn="just">
              <a:lnSpc>
                <a:spcPct val="100000"/>
              </a:lnSpc>
              <a:spcBef>
                <a:spcPts val="540"/>
              </a:spcBef>
            </a:pPr>
            <a:r>
              <a:rPr sz="950" dirty="0">
                <a:latin typeface="Times New Roman"/>
                <a:cs typeface="Times New Roman"/>
              </a:rPr>
              <a:t>2020,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doi:</a:t>
            </a:r>
            <a:r>
              <a:rPr sz="950" spc="5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10.1145/3397199.</a:t>
            </a:r>
            <a:endParaRPr sz="95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spcBef>
                <a:spcPts val="780"/>
              </a:spcBef>
              <a:buSzPct val="78947"/>
              <a:buAutoNum type="arabicPlain" startAt="17"/>
              <a:tabLst>
                <a:tab pos="264160" algn="l"/>
              </a:tabLst>
            </a:pPr>
            <a:r>
              <a:rPr sz="950" dirty="0">
                <a:latin typeface="Times New Roman"/>
                <a:cs typeface="Times New Roman"/>
              </a:rPr>
              <a:t>M.</a:t>
            </a:r>
            <a:r>
              <a:rPr sz="950" spc="3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S.</a:t>
            </a:r>
            <a:r>
              <a:rPr sz="950" spc="38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Khan</a:t>
            </a:r>
            <a:r>
              <a:rPr sz="950" spc="38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4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R.</a:t>
            </a:r>
            <a:r>
              <a:rPr sz="950" spc="39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K.</a:t>
            </a:r>
            <a:r>
              <a:rPr sz="950" spc="39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Wong,</a:t>
            </a:r>
            <a:r>
              <a:rPr sz="950" spc="39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“WebSocket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92372" y="5566904"/>
            <a:ext cx="269938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marR="5080" algn="just">
              <a:lnSpc>
                <a:spcPct val="147400"/>
              </a:lnSpc>
              <a:spcBef>
                <a:spcPts val="95"/>
              </a:spcBef>
            </a:pPr>
            <a:r>
              <a:rPr sz="950" dirty="0">
                <a:latin typeface="Times New Roman"/>
                <a:cs typeface="Times New Roman"/>
              </a:rPr>
              <a:t>Performance</a:t>
            </a:r>
            <a:r>
              <a:rPr sz="950" spc="44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Optimization</a:t>
            </a:r>
            <a:r>
              <a:rPr sz="950" spc="459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for</a:t>
            </a:r>
            <a:r>
              <a:rPr sz="950" spc="44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Real-</a:t>
            </a:r>
            <a:r>
              <a:rPr sz="950" spc="-20" dirty="0">
                <a:latin typeface="Times New Roman"/>
                <a:cs typeface="Times New Roman"/>
              </a:rPr>
              <a:t>Time </a:t>
            </a:r>
            <a:r>
              <a:rPr sz="950" dirty="0">
                <a:latin typeface="Times New Roman"/>
                <a:cs typeface="Times New Roman"/>
              </a:rPr>
              <a:t>Applications,”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International</a:t>
            </a:r>
            <a:r>
              <a:rPr sz="950" i="1" spc="250" dirty="0">
                <a:latin typeface="Times New Roman"/>
                <a:cs typeface="Times New Roman"/>
              </a:rPr>
              <a:t>  </a:t>
            </a:r>
            <a:r>
              <a:rPr sz="950" i="1" dirty="0">
                <a:latin typeface="Times New Roman"/>
                <a:cs typeface="Times New Roman"/>
              </a:rPr>
              <a:t>Journal</a:t>
            </a:r>
            <a:r>
              <a:rPr sz="950" i="1" spc="254" dirty="0">
                <a:latin typeface="Times New Roman"/>
                <a:cs typeface="Times New Roman"/>
              </a:rPr>
              <a:t>  </a:t>
            </a:r>
            <a:r>
              <a:rPr sz="950" i="1" dirty="0">
                <a:latin typeface="Times New Roman"/>
                <a:cs typeface="Times New Roman"/>
              </a:rPr>
              <a:t>of</a:t>
            </a:r>
            <a:r>
              <a:rPr sz="950" i="1" spc="250" dirty="0">
                <a:latin typeface="Times New Roman"/>
                <a:cs typeface="Times New Roman"/>
              </a:rPr>
              <a:t>  </a:t>
            </a:r>
            <a:r>
              <a:rPr sz="950" i="1" spc="-25" dirty="0">
                <a:latin typeface="Times New Roman"/>
                <a:cs typeface="Times New Roman"/>
              </a:rPr>
              <a:t>Web </a:t>
            </a:r>
            <a:r>
              <a:rPr sz="950" i="1" dirty="0">
                <a:latin typeface="Times New Roman"/>
                <a:cs typeface="Times New Roman"/>
              </a:rPr>
              <a:t>Engineering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1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1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18,</a:t>
            </a:r>
            <a:r>
              <a:rPr sz="950" spc="1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15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3,</a:t>
            </a:r>
            <a:r>
              <a:rPr sz="950" spc="1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1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210–230,</a:t>
            </a:r>
            <a:r>
              <a:rPr sz="950" spc="170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2021, </a:t>
            </a:r>
            <a:r>
              <a:rPr sz="950" dirty="0">
                <a:latin typeface="Times New Roman"/>
                <a:cs typeface="Times New Roman"/>
              </a:rPr>
              <a:t>doi: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10.1504/IJWE.2021.117455.</a:t>
            </a:r>
            <a:endParaRPr sz="95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780"/>
              </a:spcBef>
            </a:pPr>
            <a:r>
              <a:rPr sz="750" dirty="0">
                <a:latin typeface="Times New Roman"/>
                <a:cs typeface="Times New Roman"/>
              </a:rPr>
              <a:t>[18]</a:t>
            </a:r>
            <a:r>
              <a:rPr sz="750" spc="254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L.</a:t>
            </a:r>
            <a:r>
              <a:rPr sz="950" spc="27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Bass</a:t>
            </a:r>
            <a:r>
              <a:rPr sz="950" spc="27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et</a:t>
            </a:r>
            <a:r>
              <a:rPr sz="950" spc="27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al.,</a:t>
            </a:r>
            <a:r>
              <a:rPr sz="950" spc="28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“Security</a:t>
            </a:r>
            <a:r>
              <a:rPr sz="950" spc="28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Challenges</a:t>
            </a:r>
            <a:r>
              <a:rPr sz="950" spc="270" dirty="0">
                <a:latin typeface="Times New Roman"/>
                <a:cs typeface="Times New Roman"/>
              </a:rPr>
              <a:t>  </a:t>
            </a:r>
            <a:r>
              <a:rPr sz="950" spc="-25" dirty="0">
                <a:latin typeface="Times New Roman"/>
                <a:cs typeface="Times New Roman"/>
              </a:rPr>
              <a:t>in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4876" y="6664184"/>
            <a:ext cx="2477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7400"/>
              </a:lnSpc>
              <a:spcBef>
                <a:spcPts val="95"/>
              </a:spcBef>
              <a:tabLst>
                <a:tab pos="1383030" algn="l"/>
              </a:tabLst>
            </a:pPr>
            <a:r>
              <a:rPr sz="950" spc="-10" dirty="0">
                <a:latin typeface="Times New Roman"/>
                <a:cs typeface="Times New Roman"/>
              </a:rPr>
              <a:t>Containerized</a:t>
            </a:r>
            <a:r>
              <a:rPr sz="950" dirty="0">
                <a:latin typeface="Times New Roman"/>
                <a:cs typeface="Times New Roman"/>
              </a:rPr>
              <a:t>	Environments,”</a:t>
            </a:r>
            <a:r>
              <a:rPr sz="950" spc="114" dirty="0">
                <a:latin typeface="Times New Roman"/>
                <a:cs typeface="Times New Roman"/>
              </a:rPr>
              <a:t> </a:t>
            </a:r>
            <a:r>
              <a:rPr sz="950" i="1" spc="-20" dirty="0">
                <a:latin typeface="Times New Roman"/>
                <a:cs typeface="Times New Roman"/>
              </a:rPr>
              <a:t>IEEE </a:t>
            </a:r>
            <a:r>
              <a:rPr sz="950" i="1" dirty="0">
                <a:latin typeface="Times New Roman"/>
                <a:cs typeface="Times New Roman"/>
              </a:rPr>
              <a:t>Transactions</a:t>
            </a:r>
            <a:r>
              <a:rPr sz="950" i="1" spc="9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on</a:t>
            </a:r>
            <a:r>
              <a:rPr sz="950" i="1" spc="10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Cloud</a:t>
            </a:r>
            <a:r>
              <a:rPr sz="950" i="1" spc="114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Computing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1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9,</a:t>
            </a:r>
            <a:r>
              <a:rPr sz="950" spc="10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100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2,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92372" y="7089380"/>
            <a:ext cx="2698115" cy="2006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marR="5080" algn="just">
              <a:lnSpc>
                <a:spcPct val="147400"/>
              </a:lnSpc>
              <a:spcBef>
                <a:spcPts val="95"/>
              </a:spcBef>
              <a:tabLst>
                <a:tab pos="843280" algn="l"/>
                <a:tab pos="1760220" algn="l"/>
                <a:tab pos="2490470" algn="l"/>
              </a:tabLst>
            </a:pPr>
            <a:r>
              <a:rPr sz="950" spc="-25" dirty="0">
                <a:latin typeface="Times New Roman"/>
                <a:cs typeface="Times New Roman"/>
              </a:rPr>
              <a:t>pp.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456–469,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0" dirty="0">
                <a:latin typeface="Times New Roman"/>
                <a:cs typeface="Times New Roman"/>
              </a:rPr>
              <a:t>2021,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0" dirty="0">
                <a:latin typeface="Times New Roman"/>
                <a:cs typeface="Times New Roman"/>
              </a:rPr>
              <a:t>doi: </a:t>
            </a:r>
            <a:r>
              <a:rPr sz="950" spc="-10" dirty="0">
                <a:latin typeface="Times New Roman"/>
                <a:cs typeface="Times New Roman"/>
              </a:rPr>
              <a:t>10.1109/TCC.2020.2988441.</a:t>
            </a:r>
            <a:endParaRPr sz="950">
              <a:latin typeface="Times New Roman"/>
              <a:cs typeface="Times New Roman"/>
            </a:endParaRPr>
          </a:p>
          <a:p>
            <a:pPr marL="232410" marR="5080" indent="-220345" algn="just">
              <a:lnSpc>
                <a:spcPct val="146800"/>
              </a:lnSpc>
              <a:spcBef>
                <a:spcPts val="259"/>
              </a:spcBef>
              <a:buSzPct val="78947"/>
              <a:buAutoNum type="arabicPlain" startAt="19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H.</a:t>
            </a:r>
            <a:r>
              <a:rPr sz="950" spc="4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Schulzrinne</a:t>
            </a:r>
            <a:r>
              <a:rPr sz="950" spc="4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et</a:t>
            </a:r>
            <a:r>
              <a:rPr sz="950" spc="459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al.,</a:t>
            </a:r>
            <a:r>
              <a:rPr sz="950" spc="4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“WebRTC:</a:t>
            </a:r>
            <a:r>
              <a:rPr sz="950" spc="459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APIs</a:t>
            </a:r>
            <a:r>
              <a:rPr sz="950" spc="445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and 	</a:t>
            </a:r>
            <a:r>
              <a:rPr sz="950" dirty="0">
                <a:latin typeface="Times New Roman"/>
                <a:cs typeface="Times New Roman"/>
              </a:rPr>
              <a:t>RTCWEB</a:t>
            </a:r>
            <a:r>
              <a:rPr sz="950" spc="2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Protocols</a:t>
            </a:r>
            <a:r>
              <a:rPr sz="950" spc="229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of</a:t>
            </a:r>
            <a:r>
              <a:rPr sz="950" spc="2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the</a:t>
            </a:r>
            <a:r>
              <a:rPr sz="950" spc="204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HTML5</a:t>
            </a:r>
            <a:r>
              <a:rPr sz="950" spc="2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Real-</a:t>
            </a:r>
            <a:r>
              <a:rPr sz="950" spc="-20" dirty="0">
                <a:latin typeface="Times New Roman"/>
                <a:cs typeface="Times New Roman"/>
              </a:rPr>
              <a:t>Time 	</a:t>
            </a:r>
            <a:r>
              <a:rPr sz="950" dirty="0">
                <a:latin typeface="Times New Roman"/>
                <a:cs typeface="Times New Roman"/>
              </a:rPr>
              <a:t>Web,”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IETF</a:t>
            </a:r>
            <a:r>
              <a:rPr sz="950" i="1" spc="375" dirty="0">
                <a:latin typeface="Times New Roman"/>
                <a:cs typeface="Times New Roman"/>
              </a:rPr>
              <a:t>  </a:t>
            </a:r>
            <a:r>
              <a:rPr sz="950" i="1" dirty="0">
                <a:latin typeface="Times New Roman"/>
                <a:cs typeface="Times New Roman"/>
              </a:rPr>
              <a:t>RFC</a:t>
            </a:r>
            <a:r>
              <a:rPr sz="950" i="1" spc="365" dirty="0">
                <a:latin typeface="Times New Roman"/>
                <a:cs typeface="Times New Roman"/>
              </a:rPr>
              <a:t>  </a:t>
            </a:r>
            <a:r>
              <a:rPr sz="950" i="1" dirty="0">
                <a:latin typeface="Times New Roman"/>
                <a:cs typeface="Times New Roman"/>
              </a:rPr>
              <a:t>8825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37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2021.</a:t>
            </a:r>
            <a:r>
              <a:rPr sz="950" spc="375" dirty="0">
                <a:latin typeface="Times New Roman"/>
                <a:cs typeface="Times New Roman"/>
              </a:rPr>
              <a:t>  </a:t>
            </a:r>
            <a:r>
              <a:rPr sz="950" spc="-10" dirty="0">
                <a:latin typeface="Times New Roman"/>
                <a:cs typeface="Times New Roman"/>
              </a:rPr>
              <a:t>[Online].</a:t>
            </a:r>
            <a:endParaRPr sz="950">
              <a:latin typeface="Times New Roman"/>
              <a:cs typeface="Times New Roman"/>
            </a:endParaRPr>
          </a:p>
          <a:p>
            <a:pPr marL="234950" algn="just">
              <a:lnSpc>
                <a:spcPct val="100000"/>
              </a:lnSpc>
              <a:spcBef>
                <a:spcPts val="540"/>
              </a:spcBef>
            </a:pPr>
            <a:r>
              <a:rPr sz="950" dirty="0">
                <a:latin typeface="Times New Roman"/>
                <a:cs typeface="Times New Roman"/>
              </a:rPr>
              <a:t>Available:</a:t>
            </a:r>
            <a:r>
              <a:rPr sz="950" spc="70" dirty="0">
                <a:latin typeface="Times New Roman"/>
                <a:cs typeface="Times New Roman"/>
              </a:rPr>
              <a:t> </a:t>
            </a:r>
            <a:r>
              <a:rPr sz="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https://tools.ietf.org/html/rfc8825</a:t>
            </a:r>
            <a:endParaRPr sz="950">
              <a:latin typeface="Times New Roman"/>
              <a:cs typeface="Times New Roman"/>
            </a:endParaRPr>
          </a:p>
          <a:p>
            <a:pPr marL="232410" marR="5080" indent="-220345" algn="just">
              <a:lnSpc>
                <a:spcPct val="147400"/>
              </a:lnSpc>
              <a:spcBef>
                <a:spcPts val="235"/>
              </a:spcBef>
              <a:buSzPct val="78947"/>
              <a:buAutoNum type="arabicPlain" startAt="20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N.</a:t>
            </a:r>
            <a:r>
              <a:rPr sz="950" spc="1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de</a:t>
            </a:r>
            <a:r>
              <a:rPr sz="950" spc="1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León</a:t>
            </a:r>
            <a:r>
              <a:rPr sz="950" spc="1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et</a:t>
            </a:r>
            <a:r>
              <a:rPr sz="950" spc="1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al.,</a:t>
            </a:r>
            <a:r>
              <a:rPr sz="950" spc="1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“Building</a:t>
            </a:r>
            <a:r>
              <a:rPr sz="950" spc="1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Collaborative</a:t>
            </a:r>
            <a:r>
              <a:rPr sz="950" spc="15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Code 	</a:t>
            </a:r>
            <a:r>
              <a:rPr sz="950" dirty="0">
                <a:latin typeface="Times New Roman"/>
                <a:cs typeface="Times New Roman"/>
              </a:rPr>
              <a:t>Editors</a:t>
            </a:r>
            <a:r>
              <a:rPr sz="950" spc="22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with</a:t>
            </a:r>
            <a:r>
              <a:rPr sz="950" spc="229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CRDTs:</a:t>
            </a:r>
            <a:r>
              <a:rPr sz="950" spc="21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Lessons</a:t>
            </a:r>
            <a:r>
              <a:rPr sz="950" spc="22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from</a:t>
            </a:r>
            <a:r>
              <a:rPr sz="950" spc="215" dirty="0">
                <a:latin typeface="Times New Roman"/>
                <a:cs typeface="Times New Roman"/>
              </a:rPr>
              <a:t>  </a:t>
            </a:r>
            <a:r>
              <a:rPr sz="950" spc="-20" dirty="0">
                <a:latin typeface="Times New Roman"/>
                <a:cs typeface="Times New Roman"/>
              </a:rPr>
              <a:t>Code 	</a:t>
            </a:r>
            <a:r>
              <a:rPr sz="950" dirty="0">
                <a:latin typeface="Times New Roman"/>
                <a:cs typeface="Times New Roman"/>
              </a:rPr>
              <a:t>Ocean,”</a:t>
            </a:r>
            <a:r>
              <a:rPr sz="950" spc="5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Proc.</a:t>
            </a:r>
            <a:r>
              <a:rPr sz="950" i="1" spc="2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ACM</a:t>
            </a:r>
            <a:r>
              <a:rPr sz="950" i="1" spc="2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Hum.-Comput.</a:t>
            </a:r>
            <a:r>
              <a:rPr sz="950" i="1" spc="2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Interact.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vol.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51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58557"/>
            <a:ext cx="2698115" cy="331724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635"/>
              </a:spcBef>
              <a:tabLst>
                <a:tab pos="482600" algn="l"/>
                <a:tab pos="789940" algn="l"/>
                <a:tab pos="1320800" algn="l"/>
                <a:tab pos="1628775" algn="l"/>
                <a:tab pos="2060575" algn="l"/>
                <a:tab pos="2491740" algn="l"/>
              </a:tabLst>
            </a:pPr>
            <a:r>
              <a:rPr sz="950" spc="-25" dirty="0">
                <a:latin typeface="Times New Roman"/>
                <a:cs typeface="Times New Roman"/>
              </a:rPr>
              <a:t>3,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5" dirty="0">
                <a:latin typeface="Times New Roman"/>
                <a:cs typeface="Times New Roman"/>
              </a:rPr>
              <a:t>no.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CSCW,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5" dirty="0">
                <a:latin typeface="Times New Roman"/>
                <a:cs typeface="Times New Roman"/>
              </a:rPr>
              <a:t>pp.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0" dirty="0">
                <a:latin typeface="Times New Roman"/>
                <a:cs typeface="Times New Roman"/>
              </a:rPr>
              <a:t>1–24,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2019,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0" dirty="0">
                <a:latin typeface="Times New Roman"/>
                <a:cs typeface="Times New Roman"/>
              </a:rPr>
              <a:t>doi:</a:t>
            </a:r>
            <a:endParaRPr sz="95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540"/>
              </a:spcBef>
            </a:pPr>
            <a:r>
              <a:rPr sz="950" spc="-10" dirty="0">
                <a:latin typeface="Times New Roman"/>
                <a:cs typeface="Times New Roman"/>
              </a:rPr>
              <a:t>10.1145/3359198.</a:t>
            </a:r>
            <a:endParaRPr sz="950">
              <a:latin typeface="Times New Roman"/>
              <a:cs typeface="Times New Roman"/>
            </a:endParaRPr>
          </a:p>
          <a:p>
            <a:pPr marL="234950" marR="5715" indent="-222885" algn="just">
              <a:lnSpc>
                <a:spcPct val="147400"/>
              </a:lnSpc>
              <a:spcBef>
                <a:spcPts val="240"/>
              </a:spcBef>
            </a:pPr>
            <a:r>
              <a:rPr sz="750" dirty="0">
                <a:latin typeface="Times New Roman"/>
                <a:cs typeface="Times New Roman"/>
              </a:rPr>
              <a:t>[21]</a:t>
            </a:r>
            <a:r>
              <a:rPr sz="750" spc="27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S.</a:t>
            </a:r>
            <a:r>
              <a:rPr sz="950" spc="1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Park</a:t>
            </a:r>
            <a:r>
              <a:rPr sz="950" spc="1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1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T.</a:t>
            </a:r>
            <a:r>
              <a:rPr sz="950" spc="1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Kim,</a:t>
            </a:r>
            <a:r>
              <a:rPr sz="950" spc="1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“Latency</a:t>
            </a:r>
            <a:r>
              <a:rPr sz="950" spc="1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Analysis</a:t>
            </a:r>
            <a:r>
              <a:rPr sz="950" spc="1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of</a:t>
            </a:r>
            <a:r>
              <a:rPr sz="950" spc="135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Real- </a:t>
            </a:r>
            <a:r>
              <a:rPr sz="950" dirty="0">
                <a:latin typeface="Times New Roman"/>
                <a:cs typeface="Times New Roman"/>
              </a:rPr>
              <a:t>Time</a:t>
            </a:r>
            <a:r>
              <a:rPr sz="950" spc="3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Web</a:t>
            </a:r>
            <a:r>
              <a:rPr sz="950" spc="3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Applications</a:t>
            </a:r>
            <a:r>
              <a:rPr sz="950" spc="3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Using</a:t>
            </a:r>
            <a:r>
              <a:rPr sz="950" spc="3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Socket.IO</a:t>
            </a:r>
            <a:r>
              <a:rPr sz="950" spc="350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and </a:t>
            </a:r>
            <a:r>
              <a:rPr sz="950" dirty="0">
                <a:latin typeface="Times New Roman"/>
                <a:cs typeface="Times New Roman"/>
              </a:rPr>
              <a:t>Redis,”</a:t>
            </a:r>
            <a:r>
              <a:rPr sz="950" spc="5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Journal</a:t>
            </a:r>
            <a:r>
              <a:rPr sz="950" i="1" spc="-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of</a:t>
            </a:r>
            <a:r>
              <a:rPr sz="950" i="1" spc="-1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Systems</a:t>
            </a:r>
            <a:r>
              <a:rPr sz="950" i="1" spc="-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Architecture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-20" dirty="0">
                <a:latin typeface="Times New Roman"/>
                <a:cs typeface="Times New Roman"/>
              </a:rPr>
              <a:t> 115,</a:t>
            </a:r>
            <a:endParaRPr sz="950">
              <a:latin typeface="Times New Roman"/>
              <a:cs typeface="Times New Roman"/>
            </a:endParaRPr>
          </a:p>
          <a:p>
            <a:pPr marL="234950" marR="5080" algn="just">
              <a:lnSpc>
                <a:spcPct val="146300"/>
              </a:lnSpc>
              <a:spcBef>
                <a:spcPts val="10"/>
              </a:spcBef>
              <a:tabLst>
                <a:tab pos="822325" algn="l"/>
                <a:tab pos="1717039" algn="l"/>
                <a:tab pos="2490470" algn="l"/>
              </a:tabLst>
            </a:pPr>
            <a:r>
              <a:rPr sz="950" spc="-25" dirty="0">
                <a:latin typeface="Times New Roman"/>
                <a:cs typeface="Times New Roman"/>
              </a:rPr>
              <a:t>p.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102047,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0" dirty="0">
                <a:latin typeface="Times New Roman"/>
                <a:cs typeface="Times New Roman"/>
              </a:rPr>
              <a:t>2021,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0" dirty="0">
                <a:latin typeface="Times New Roman"/>
                <a:cs typeface="Times New Roman"/>
              </a:rPr>
              <a:t>doi: </a:t>
            </a:r>
            <a:r>
              <a:rPr sz="950" spc="-10" dirty="0">
                <a:latin typeface="Times New Roman"/>
                <a:cs typeface="Times New Roman"/>
              </a:rPr>
              <a:t>10.1016/j.sysarc.2021.102047.</a:t>
            </a:r>
            <a:endParaRPr sz="950">
              <a:latin typeface="Times New Roman"/>
              <a:cs typeface="Times New Roman"/>
            </a:endParaRPr>
          </a:p>
          <a:p>
            <a:pPr marL="232410" marR="5080" indent="-220345" algn="just">
              <a:lnSpc>
                <a:spcPct val="146800"/>
              </a:lnSpc>
              <a:spcBef>
                <a:spcPts val="260"/>
              </a:spcBef>
              <a:buSzPct val="78947"/>
              <a:buAutoNum type="arabicPlain" startAt="22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J.</a:t>
            </a:r>
            <a:r>
              <a:rPr sz="950" spc="1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Margaritov</a:t>
            </a:r>
            <a:r>
              <a:rPr sz="950" spc="1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et</a:t>
            </a:r>
            <a:r>
              <a:rPr sz="950" spc="1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al.,</a:t>
            </a:r>
            <a:r>
              <a:rPr sz="950" spc="1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“Secure</a:t>
            </a:r>
            <a:r>
              <a:rPr sz="950" spc="1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Code</a:t>
            </a:r>
            <a:r>
              <a:rPr sz="950" spc="1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Execution</a:t>
            </a:r>
            <a:r>
              <a:rPr sz="950" spc="165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in 	</a:t>
            </a:r>
            <a:r>
              <a:rPr sz="950" dirty="0">
                <a:latin typeface="Times New Roman"/>
                <a:cs typeface="Times New Roman"/>
              </a:rPr>
              <a:t>Online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Judges:</a:t>
            </a:r>
            <a:r>
              <a:rPr sz="950" spc="6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Survey,”</a:t>
            </a:r>
            <a:r>
              <a:rPr sz="950" spc="5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ACM</a:t>
            </a:r>
            <a:r>
              <a:rPr sz="950" i="1" spc="4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Transactions</a:t>
            </a:r>
            <a:r>
              <a:rPr sz="950" i="1" spc="35" dirty="0">
                <a:latin typeface="Times New Roman"/>
                <a:cs typeface="Times New Roman"/>
              </a:rPr>
              <a:t> </a:t>
            </a:r>
            <a:r>
              <a:rPr sz="950" i="1" spc="-25" dirty="0">
                <a:latin typeface="Times New Roman"/>
                <a:cs typeface="Times New Roman"/>
              </a:rPr>
              <a:t>on 	</a:t>
            </a:r>
            <a:r>
              <a:rPr sz="950" i="1" dirty="0">
                <a:latin typeface="Times New Roman"/>
                <a:cs typeface="Times New Roman"/>
              </a:rPr>
              <a:t>Privacy</a:t>
            </a:r>
            <a:r>
              <a:rPr sz="950" i="1" spc="19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and</a:t>
            </a:r>
            <a:r>
              <a:rPr sz="950" i="1" spc="204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Security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1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2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24,</a:t>
            </a:r>
            <a:r>
              <a:rPr sz="950" spc="1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1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3,</a:t>
            </a:r>
            <a:r>
              <a:rPr sz="950" spc="204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200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1–30,</a:t>
            </a:r>
            <a:endParaRPr sz="950">
              <a:latin typeface="Times New Roman"/>
              <a:cs typeface="Times New Roman"/>
            </a:endParaRPr>
          </a:p>
          <a:p>
            <a:pPr marL="234950" algn="just">
              <a:lnSpc>
                <a:spcPct val="100000"/>
              </a:lnSpc>
              <a:spcBef>
                <a:spcPts val="550"/>
              </a:spcBef>
            </a:pPr>
            <a:r>
              <a:rPr sz="950" dirty="0">
                <a:latin typeface="Times New Roman"/>
                <a:cs typeface="Times New Roman"/>
              </a:rPr>
              <a:t>2021,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doi:</a:t>
            </a:r>
            <a:r>
              <a:rPr sz="950" spc="5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10.1145/3450268.</a:t>
            </a:r>
            <a:endParaRPr sz="950">
              <a:latin typeface="Times New Roman"/>
              <a:cs typeface="Times New Roman"/>
            </a:endParaRPr>
          </a:p>
          <a:p>
            <a:pPr marL="232410" marR="5080" indent="-220345" algn="just">
              <a:lnSpc>
                <a:spcPct val="146800"/>
              </a:lnSpc>
              <a:spcBef>
                <a:spcPts val="250"/>
              </a:spcBef>
              <a:buSzPct val="78947"/>
              <a:buAutoNum type="arabicPlain" startAt="23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M.</a:t>
            </a:r>
            <a:r>
              <a:rPr sz="950" spc="2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A.</a:t>
            </a:r>
            <a:r>
              <a:rPr sz="950" spc="3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Suleiman</a:t>
            </a:r>
            <a:r>
              <a:rPr sz="950" spc="2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et</a:t>
            </a:r>
            <a:r>
              <a:rPr sz="950" spc="3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al.,</a:t>
            </a:r>
            <a:r>
              <a:rPr sz="950" spc="3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“React.js</a:t>
            </a:r>
            <a:r>
              <a:rPr sz="950" spc="30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Performance 	</a:t>
            </a:r>
            <a:r>
              <a:rPr sz="950" dirty="0">
                <a:latin typeface="Times New Roman"/>
                <a:cs typeface="Times New Roman"/>
              </a:rPr>
              <a:t>Optimization</a:t>
            </a:r>
            <a:r>
              <a:rPr sz="950" spc="3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Techniques,”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IEEE</a:t>
            </a:r>
            <a:r>
              <a:rPr sz="950" i="1" spc="32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Software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300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vol. 	</a:t>
            </a:r>
            <a:r>
              <a:rPr sz="950" dirty="0">
                <a:latin typeface="Times New Roman"/>
                <a:cs typeface="Times New Roman"/>
              </a:rPr>
              <a:t>38,</a:t>
            </a:r>
            <a:r>
              <a:rPr sz="950" spc="48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484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4,</a:t>
            </a:r>
            <a:r>
              <a:rPr sz="950" spc="484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49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72–79,</a:t>
            </a:r>
            <a:r>
              <a:rPr sz="950" spc="49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2021,</a:t>
            </a:r>
            <a:r>
              <a:rPr sz="950" spc="480" dirty="0">
                <a:latin typeface="Times New Roman"/>
                <a:cs typeface="Times New Roman"/>
              </a:rPr>
              <a:t>  </a:t>
            </a:r>
            <a:r>
              <a:rPr sz="950" spc="-20" dirty="0">
                <a:latin typeface="Times New Roman"/>
                <a:cs typeface="Times New Roman"/>
              </a:rPr>
              <a:t>doi:</a:t>
            </a:r>
            <a:endParaRPr sz="95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550"/>
              </a:spcBef>
            </a:pPr>
            <a:r>
              <a:rPr sz="950" spc="-10" dirty="0">
                <a:latin typeface="Times New Roman"/>
                <a:cs typeface="Times New Roman"/>
              </a:rPr>
              <a:t>10.1109/MS.2020.3045127.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6" y="4579353"/>
            <a:ext cx="2698115" cy="13379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2410" marR="6985" indent="-220345" algn="just">
              <a:lnSpc>
                <a:spcPct val="147900"/>
              </a:lnSpc>
              <a:spcBef>
                <a:spcPts val="90"/>
              </a:spcBef>
              <a:buSzPct val="78947"/>
              <a:buAutoNum type="arabicPlain" startAt="24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K.</a:t>
            </a:r>
            <a:r>
              <a:rPr sz="950" spc="44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Chodorow,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MongoDB</a:t>
            </a:r>
            <a:r>
              <a:rPr sz="950" i="1" spc="434" dirty="0">
                <a:latin typeface="Times New Roman"/>
                <a:cs typeface="Times New Roman"/>
              </a:rPr>
              <a:t>  </a:t>
            </a:r>
            <a:r>
              <a:rPr sz="950" i="1" dirty="0">
                <a:latin typeface="Times New Roman"/>
                <a:cs typeface="Times New Roman"/>
              </a:rPr>
              <a:t>Applied</a:t>
            </a:r>
            <a:r>
              <a:rPr sz="950" i="1" spc="450" dirty="0">
                <a:latin typeface="Times New Roman"/>
                <a:cs typeface="Times New Roman"/>
              </a:rPr>
              <a:t>  </a:t>
            </a:r>
            <a:r>
              <a:rPr sz="950" i="1" spc="-10" dirty="0">
                <a:latin typeface="Times New Roman"/>
                <a:cs typeface="Times New Roman"/>
              </a:rPr>
              <a:t>Design 	</a:t>
            </a:r>
            <a:r>
              <a:rPr sz="950" i="1" dirty="0">
                <a:latin typeface="Times New Roman"/>
                <a:cs typeface="Times New Roman"/>
              </a:rPr>
              <a:t>Patterns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2nd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ed.</a:t>
            </a:r>
            <a:r>
              <a:rPr sz="95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Sebastopol,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CA,</a:t>
            </a:r>
            <a:r>
              <a:rPr sz="950" spc="2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USA: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O’Reilly 	</a:t>
            </a:r>
            <a:r>
              <a:rPr sz="950" dirty="0">
                <a:latin typeface="Times New Roman"/>
                <a:cs typeface="Times New Roman"/>
              </a:rPr>
              <a:t>Media,</a:t>
            </a:r>
            <a:r>
              <a:rPr sz="950" spc="4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2020.</a:t>
            </a:r>
            <a:endParaRPr sz="950">
              <a:latin typeface="Times New Roman"/>
              <a:cs typeface="Times New Roman"/>
            </a:endParaRPr>
          </a:p>
          <a:p>
            <a:pPr marL="232410" marR="5080" indent="-220345" algn="just">
              <a:lnSpc>
                <a:spcPct val="147900"/>
              </a:lnSpc>
              <a:spcBef>
                <a:spcPts val="220"/>
              </a:spcBef>
              <a:buSzPct val="78947"/>
              <a:buAutoNum type="arabicPlain" startAt="24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T.</a:t>
            </a:r>
            <a:r>
              <a:rPr sz="950" spc="30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T.</a:t>
            </a:r>
            <a:r>
              <a:rPr sz="950" spc="30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Nguyen</a:t>
            </a:r>
            <a:r>
              <a:rPr sz="950" spc="3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et</a:t>
            </a:r>
            <a:r>
              <a:rPr sz="950" spc="3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al.,</a:t>
            </a:r>
            <a:r>
              <a:rPr sz="950" spc="3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“Usability</a:t>
            </a:r>
            <a:r>
              <a:rPr sz="950" spc="3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Evaluation</a:t>
            </a:r>
            <a:r>
              <a:rPr sz="950" spc="315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of 	</a:t>
            </a:r>
            <a:r>
              <a:rPr sz="950" dirty="0">
                <a:latin typeface="Times New Roman"/>
                <a:cs typeface="Times New Roman"/>
              </a:rPr>
              <a:t>Web-Based</a:t>
            </a:r>
            <a:r>
              <a:rPr sz="950" spc="475" dirty="0">
                <a:latin typeface="Times New Roman"/>
                <a:cs typeface="Times New Roman"/>
              </a:rPr>
              <a:t>   </a:t>
            </a:r>
            <a:r>
              <a:rPr sz="950" dirty="0">
                <a:latin typeface="Times New Roman"/>
                <a:cs typeface="Times New Roman"/>
              </a:rPr>
              <a:t>IDEs</a:t>
            </a:r>
            <a:r>
              <a:rPr sz="950" spc="480" dirty="0">
                <a:latin typeface="Times New Roman"/>
                <a:cs typeface="Times New Roman"/>
              </a:rPr>
              <a:t>   </a:t>
            </a:r>
            <a:r>
              <a:rPr sz="950" dirty="0">
                <a:latin typeface="Times New Roman"/>
                <a:cs typeface="Times New Roman"/>
              </a:rPr>
              <a:t>for</a:t>
            </a:r>
            <a:r>
              <a:rPr sz="950" spc="470" dirty="0">
                <a:latin typeface="Times New Roman"/>
                <a:cs typeface="Times New Roman"/>
              </a:rPr>
              <a:t>   </a:t>
            </a:r>
            <a:r>
              <a:rPr sz="950" spc="-10" dirty="0">
                <a:latin typeface="Times New Roman"/>
                <a:cs typeface="Times New Roman"/>
              </a:rPr>
              <a:t>Collaborative 	</a:t>
            </a:r>
            <a:r>
              <a:rPr sz="950" dirty="0">
                <a:latin typeface="Times New Roman"/>
                <a:cs typeface="Times New Roman"/>
              </a:rPr>
              <a:t>Programming,”</a:t>
            </a:r>
            <a:r>
              <a:rPr sz="950" spc="7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Journal</a:t>
            </a:r>
            <a:r>
              <a:rPr sz="950" i="1" spc="5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of</a:t>
            </a:r>
            <a:r>
              <a:rPr sz="950" i="1" spc="4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Systems</a:t>
            </a:r>
            <a:r>
              <a:rPr sz="950" i="1" spc="4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and</a:t>
            </a:r>
            <a:r>
              <a:rPr sz="950" i="1" spc="55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Times New Roman"/>
                <a:cs typeface="Times New Roman"/>
              </a:rPr>
              <a:t>Software</a:t>
            </a:r>
            <a:r>
              <a:rPr sz="950" spc="-10" dirty="0">
                <a:latin typeface="Times New Roman"/>
                <a:cs typeface="Times New Roman"/>
              </a:rPr>
              <a:t>,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4876" y="1324168"/>
            <a:ext cx="2475230" cy="1733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17195" algn="l"/>
                <a:tab pos="848994" algn="l"/>
                <a:tab pos="1219835" algn="l"/>
                <a:tab pos="1774189" algn="l"/>
                <a:tab pos="2268855" algn="l"/>
              </a:tabLst>
            </a:pPr>
            <a:r>
              <a:rPr sz="950" spc="-20" dirty="0">
                <a:latin typeface="Times New Roman"/>
                <a:cs typeface="Times New Roman"/>
              </a:rPr>
              <a:t>vol.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0" dirty="0">
                <a:latin typeface="Times New Roman"/>
                <a:cs typeface="Times New Roman"/>
              </a:rPr>
              <a:t>134,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5" dirty="0">
                <a:latin typeface="Times New Roman"/>
                <a:cs typeface="Times New Roman"/>
              </a:rPr>
              <a:t>pp.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10" dirty="0">
                <a:latin typeface="Times New Roman"/>
                <a:cs typeface="Times New Roman"/>
              </a:rPr>
              <a:t>76–91,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0" dirty="0">
                <a:latin typeface="Times New Roman"/>
                <a:cs typeface="Times New Roman"/>
              </a:rPr>
              <a:t>2017,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0" dirty="0">
                <a:latin typeface="Times New Roman"/>
                <a:cs typeface="Times New Roman"/>
              </a:rPr>
              <a:t>doi: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92372" y="1537528"/>
            <a:ext cx="269748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120"/>
              </a:spcBef>
            </a:pPr>
            <a:r>
              <a:rPr sz="950" spc="-10" dirty="0">
                <a:latin typeface="Times New Roman"/>
                <a:cs typeface="Times New Roman"/>
              </a:rPr>
              <a:t>10.1016/j.jss.2017.08.043.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750" dirty="0">
                <a:latin typeface="Times New Roman"/>
                <a:cs typeface="Times New Roman"/>
              </a:rPr>
              <a:t>[26]</a:t>
            </a:r>
            <a:r>
              <a:rPr sz="750" spc="26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A.</a:t>
            </a:r>
            <a:r>
              <a:rPr sz="950" spc="45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Holkner</a:t>
            </a:r>
            <a:r>
              <a:rPr sz="950" spc="4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459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J.</a:t>
            </a:r>
            <a:r>
              <a:rPr sz="950" spc="459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Harland,</a:t>
            </a:r>
            <a:r>
              <a:rPr sz="950" spc="459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“Evaluating</a:t>
            </a:r>
            <a:r>
              <a:rPr sz="950" spc="475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the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4876" y="1929117"/>
            <a:ext cx="12553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7400"/>
              </a:lnSpc>
              <a:spcBef>
                <a:spcPts val="95"/>
              </a:spcBef>
              <a:tabLst>
                <a:tab pos="1060450" algn="l"/>
              </a:tabLst>
            </a:pPr>
            <a:r>
              <a:rPr sz="950" spc="-10" dirty="0">
                <a:latin typeface="Times New Roman"/>
                <a:cs typeface="Times New Roman"/>
              </a:rPr>
              <a:t>Responsiveness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950" spc="-25" dirty="0">
                <a:latin typeface="Times New Roman"/>
                <a:cs typeface="Times New Roman"/>
              </a:rPr>
              <a:t>of </a:t>
            </a:r>
            <a:r>
              <a:rPr sz="950" dirty="0">
                <a:latin typeface="Times New Roman"/>
                <a:cs typeface="Times New Roman"/>
              </a:rPr>
              <a:t>Applications,”</a:t>
            </a:r>
            <a:r>
              <a:rPr sz="950" spc="95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Times New Roman"/>
                <a:cs typeface="Times New Roman"/>
              </a:rPr>
              <a:t>Software: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5339" y="1929117"/>
            <a:ext cx="560705" cy="45212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R="12700" algn="r">
              <a:lnSpc>
                <a:spcPct val="100000"/>
              </a:lnSpc>
              <a:spcBef>
                <a:spcPts val="635"/>
              </a:spcBef>
            </a:pPr>
            <a:r>
              <a:rPr sz="950" dirty="0">
                <a:latin typeface="Times New Roman"/>
                <a:cs typeface="Times New Roman"/>
              </a:rPr>
              <a:t>Real-</a:t>
            </a:r>
            <a:r>
              <a:rPr sz="950" spc="-20" dirty="0">
                <a:latin typeface="Times New Roman"/>
                <a:cs typeface="Times New Roman"/>
              </a:rPr>
              <a:t>Time</a:t>
            </a:r>
            <a:endParaRPr sz="95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40"/>
              </a:spcBef>
            </a:pPr>
            <a:r>
              <a:rPr sz="950" i="1" spc="-10" dirty="0">
                <a:latin typeface="Times New Roman"/>
                <a:cs typeface="Times New Roman"/>
              </a:rPr>
              <a:t>Practice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8938" y="1929117"/>
            <a:ext cx="259715" cy="45212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950" spc="-25" dirty="0">
                <a:latin typeface="Times New Roman"/>
                <a:cs typeface="Times New Roman"/>
              </a:rPr>
              <a:t>Web</a:t>
            </a:r>
            <a:endParaRPr sz="950">
              <a:latin typeface="Times New Roman"/>
              <a:cs typeface="Times New Roman"/>
            </a:endParaRPr>
          </a:p>
          <a:p>
            <a:pPr marL="60325">
              <a:lnSpc>
                <a:spcPct val="100000"/>
              </a:lnSpc>
              <a:spcBef>
                <a:spcPts val="540"/>
              </a:spcBef>
            </a:pPr>
            <a:r>
              <a:rPr sz="950" i="1" spc="-25" dirty="0">
                <a:latin typeface="Times New Roman"/>
                <a:cs typeface="Times New Roman"/>
              </a:rPr>
              <a:t>and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2372" y="2357360"/>
            <a:ext cx="2699385" cy="3559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marR="5080" algn="just">
              <a:lnSpc>
                <a:spcPct val="146300"/>
              </a:lnSpc>
              <a:spcBef>
                <a:spcPts val="95"/>
              </a:spcBef>
            </a:pPr>
            <a:r>
              <a:rPr sz="950" i="1" dirty="0">
                <a:latin typeface="Times New Roman"/>
                <a:cs typeface="Times New Roman"/>
              </a:rPr>
              <a:t>Experience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8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9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51,</a:t>
            </a:r>
            <a:r>
              <a:rPr sz="950" spc="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5,</a:t>
            </a:r>
            <a:r>
              <a:rPr sz="950" spc="8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8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1023–1045,</a:t>
            </a:r>
            <a:r>
              <a:rPr sz="950" spc="80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2021, </a:t>
            </a:r>
            <a:r>
              <a:rPr sz="950" dirty="0">
                <a:latin typeface="Times New Roman"/>
                <a:cs typeface="Times New Roman"/>
              </a:rPr>
              <a:t>doi: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10.1002/spe.2939.</a:t>
            </a:r>
            <a:endParaRPr sz="950">
              <a:latin typeface="Times New Roman"/>
              <a:cs typeface="Times New Roman"/>
            </a:endParaRPr>
          </a:p>
          <a:p>
            <a:pPr marL="232410" marR="6350" indent="-220345" algn="just">
              <a:lnSpc>
                <a:spcPct val="147400"/>
              </a:lnSpc>
              <a:spcBef>
                <a:spcPts val="250"/>
              </a:spcBef>
              <a:buSzPct val="78947"/>
              <a:buAutoNum type="arabicPlain" startAt="27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O.</a:t>
            </a:r>
            <a:r>
              <a:rPr sz="950" spc="14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Crameri</a:t>
            </a:r>
            <a:r>
              <a:rPr sz="950" spc="13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et</a:t>
            </a:r>
            <a:r>
              <a:rPr sz="950" spc="14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al.,</a:t>
            </a:r>
            <a:r>
              <a:rPr sz="950" spc="14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“Structured</a:t>
            </a:r>
            <a:r>
              <a:rPr sz="950" spc="14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Conflict-</a:t>
            </a:r>
            <a:r>
              <a:rPr sz="950" spc="-20" dirty="0">
                <a:latin typeface="Times New Roman"/>
                <a:cs typeface="Times New Roman"/>
              </a:rPr>
              <a:t>Free 	</a:t>
            </a:r>
            <a:r>
              <a:rPr sz="950" dirty="0">
                <a:latin typeface="Times New Roman"/>
                <a:cs typeface="Times New Roman"/>
              </a:rPr>
              <a:t>Replicated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Data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Types,”</a:t>
            </a:r>
            <a:r>
              <a:rPr sz="950" spc="6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ACM</a:t>
            </a:r>
            <a:r>
              <a:rPr sz="950" i="1" spc="4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SIGPLAN</a:t>
            </a:r>
            <a:r>
              <a:rPr sz="950" i="1" spc="20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Times New Roman"/>
                <a:cs typeface="Times New Roman"/>
              </a:rPr>
              <a:t>Notices</a:t>
            </a:r>
            <a:r>
              <a:rPr sz="950" spc="-10" dirty="0">
                <a:latin typeface="Times New Roman"/>
                <a:cs typeface="Times New Roman"/>
              </a:rPr>
              <a:t>, 	</a:t>
            </a:r>
            <a:r>
              <a:rPr sz="950" dirty="0">
                <a:latin typeface="Times New Roman"/>
                <a:cs typeface="Times New Roman"/>
              </a:rPr>
              <a:t>vol.</a:t>
            </a:r>
            <a:r>
              <a:rPr sz="950" spc="21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53,</a:t>
            </a:r>
            <a:r>
              <a:rPr sz="950" spc="21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no.</a:t>
            </a:r>
            <a:r>
              <a:rPr sz="950" spc="200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1,</a:t>
            </a:r>
            <a:r>
              <a:rPr sz="950" spc="204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pp.</a:t>
            </a:r>
            <a:r>
              <a:rPr sz="950" spc="215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386–401,</a:t>
            </a:r>
            <a:r>
              <a:rPr sz="950" spc="204" dirty="0">
                <a:latin typeface="Times New Roman"/>
                <a:cs typeface="Times New Roman"/>
              </a:rPr>
              <a:t>  </a:t>
            </a:r>
            <a:r>
              <a:rPr sz="950" dirty="0">
                <a:latin typeface="Times New Roman"/>
                <a:cs typeface="Times New Roman"/>
              </a:rPr>
              <a:t>2018,</a:t>
            </a:r>
            <a:r>
              <a:rPr sz="950" spc="210" dirty="0">
                <a:latin typeface="Times New Roman"/>
                <a:cs typeface="Times New Roman"/>
              </a:rPr>
              <a:t>  </a:t>
            </a:r>
            <a:r>
              <a:rPr sz="950" spc="-20" dirty="0">
                <a:latin typeface="Times New Roman"/>
                <a:cs typeface="Times New Roman"/>
              </a:rPr>
              <a:t>doi: 	</a:t>
            </a:r>
            <a:r>
              <a:rPr sz="950" spc="-10" dirty="0">
                <a:latin typeface="Times New Roman"/>
                <a:cs typeface="Times New Roman"/>
              </a:rPr>
              <a:t>10.1145/3200691.3178492.</a:t>
            </a:r>
            <a:endParaRPr sz="950">
              <a:latin typeface="Times New Roman"/>
              <a:cs typeface="Times New Roman"/>
            </a:endParaRPr>
          </a:p>
          <a:p>
            <a:pPr marL="232410" marR="6350" indent="-220345">
              <a:lnSpc>
                <a:spcPct val="147400"/>
              </a:lnSpc>
              <a:spcBef>
                <a:spcPts val="240"/>
              </a:spcBef>
              <a:buSzPct val="78947"/>
              <a:buAutoNum type="arabicPlain" startAt="27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E.</a:t>
            </a:r>
            <a:r>
              <a:rPr sz="950" spc="9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Rescorla,</a:t>
            </a:r>
            <a:r>
              <a:rPr sz="950" spc="4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The</a:t>
            </a:r>
            <a:r>
              <a:rPr sz="950" i="1" spc="11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Transport</a:t>
            </a:r>
            <a:r>
              <a:rPr sz="950" i="1" spc="9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Layer</a:t>
            </a:r>
            <a:r>
              <a:rPr sz="950" i="1" spc="8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Security</a:t>
            </a:r>
            <a:r>
              <a:rPr sz="950" i="1" spc="95" dirty="0">
                <a:latin typeface="Times New Roman"/>
                <a:cs typeface="Times New Roman"/>
              </a:rPr>
              <a:t> </a:t>
            </a:r>
            <a:r>
              <a:rPr sz="950" i="1" spc="-20" dirty="0">
                <a:latin typeface="Times New Roman"/>
                <a:cs typeface="Times New Roman"/>
              </a:rPr>
              <a:t>(TLS) 	</a:t>
            </a:r>
            <a:r>
              <a:rPr sz="950" i="1" dirty="0">
                <a:latin typeface="Times New Roman"/>
                <a:cs typeface="Times New Roman"/>
              </a:rPr>
              <a:t>Protocol</a:t>
            </a:r>
            <a:r>
              <a:rPr sz="950" i="1" spc="37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Version</a:t>
            </a:r>
            <a:r>
              <a:rPr sz="950" i="1" spc="38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1.3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3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IETF</a:t>
            </a:r>
            <a:r>
              <a:rPr sz="950" i="1" spc="38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RFC</a:t>
            </a:r>
            <a:r>
              <a:rPr sz="950" i="1" spc="37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8446</a:t>
            </a:r>
            <a:r>
              <a:rPr sz="950" dirty="0">
                <a:latin typeface="Times New Roman"/>
                <a:cs typeface="Times New Roman"/>
              </a:rPr>
              <a:t>,</a:t>
            </a:r>
            <a:r>
              <a:rPr sz="950" spc="370" dirty="0">
                <a:latin typeface="Times New Roman"/>
                <a:cs typeface="Times New Roman"/>
              </a:rPr>
              <a:t> </a:t>
            </a:r>
            <a:r>
              <a:rPr sz="950" spc="-20" dirty="0">
                <a:latin typeface="Times New Roman"/>
                <a:cs typeface="Times New Roman"/>
              </a:rPr>
              <a:t>2018. 	</a:t>
            </a:r>
            <a:r>
              <a:rPr sz="950" dirty="0">
                <a:latin typeface="Times New Roman"/>
                <a:cs typeface="Times New Roman"/>
              </a:rPr>
              <a:t>[Online].Available:</a:t>
            </a:r>
            <a:r>
              <a:rPr sz="950" spc="130" dirty="0">
                <a:latin typeface="Times New Roman"/>
                <a:cs typeface="Times New Roman"/>
              </a:rPr>
              <a:t> </a:t>
            </a:r>
            <a:r>
              <a:rPr sz="9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https://tools.ietf.org/html/rfc</a:t>
            </a:r>
            <a:r>
              <a:rPr sz="950" spc="-10" dirty="0">
                <a:solidFill>
                  <a:srgbClr val="0000FF"/>
                </a:solidFill>
                <a:latin typeface="Times New Roman"/>
                <a:cs typeface="Times New Roman"/>
              </a:rPr>
              <a:t> 	</a:t>
            </a:r>
            <a:r>
              <a:rPr sz="95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8446</a:t>
            </a:r>
            <a:endParaRPr sz="950">
              <a:latin typeface="Times New Roman"/>
              <a:cs typeface="Times New Roman"/>
            </a:endParaRPr>
          </a:p>
          <a:p>
            <a:pPr marL="232410" marR="6350" indent="-220345" algn="just">
              <a:lnSpc>
                <a:spcPct val="147900"/>
              </a:lnSpc>
              <a:spcBef>
                <a:spcPts val="225"/>
              </a:spcBef>
              <a:buSzPct val="78947"/>
              <a:buAutoNum type="arabicPlain" startAt="27"/>
              <a:tabLst>
                <a:tab pos="234950" algn="l"/>
              </a:tabLst>
            </a:pPr>
            <a:r>
              <a:rPr sz="950" dirty="0">
                <a:latin typeface="Times New Roman"/>
                <a:cs typeface="Times New Roman"/>
              </a:rPr>
              <a:t>A.</a:t>
            </a:r>
            <a:r>
              <a:rPr sz="950" spc="21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B.</a:t>
            </a:r>
            <a:r>
              <a:rPr sz="950" spc="2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Johnston</a:t>
            </a:r>
            <a:r>
              <a:rPr sz="950" spc="2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and</a:t>
            </a:r>
            <a:r>
              <a:rPr sz="950" spc="2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D.</a:t>
            </a:r>
            <a:r>
              <a:rPr sz="950" spc="20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Burnett,</a:t>
            </a:r>
            <a:r>
              <a:rPr sz="950" spc="2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WebRTC:</a:t>
            </a:r>
            <a:r>
              <a:rPr sz="950" i="1" spc="204" dirty="0">
                <a:latin typeface="Times New Roman"/>
                <a:cs typeface="Times New Roman"/>
              </a:rPr>
              <a:t> </a:t>
            </a:r>
            <a:r>
              <a:rPr sz="950" i="1" spc="-20" dirty="0">
                <a:latin typeface="Times New Roman"/>
                <a:cs typeface="Times New Roman"/>
              </a:rPr>
              <a:t>APIs 	</a:t>
            </a:r>
            <a:r>
              <a:rPr sz="950" i="1" dirty="0">
                <a:latin typeface="Times New Roman"/>
                <a:cs typeface="Times New Roman"/>
              </a:rPr>
              <a:t>and</a:t>
            </a:r>
            <a:r>
              <a:rPr sz="950" i="1" spc="405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RTCWEB</a:t>
            </a:r>
            <a:r>
              <a:rPr sz="950" i="1" spc="40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Protocols</a:t>
            </a:r>
            <a:r>
              <a:rPr sz="950" dirty="0">
                <a:latin typeface="Times New Roman"/>
                <a:cs typeface="Times New Roman"/>
              </a:rPr>
              <a:t>.</a:t>
            </a:r>
            <a:r>
              <a:rPr sz="950" spc="40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Shelter</a:t>
            </a:r>
            <a:r>
              <a:rPr sz="950" spc="409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Island,</a:t>
            </a:r>
            <a:r>
              <a:rPr sz="950" spc="409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NY, 	</a:t>
            </a:r>
            <a:r>
              <a:rPr sz="950" dirty="0">
                <a:latin typeface="Times New Roman"/>
                <a:cs typeface="Times New Roman"/>
              </a:rPr>
              <a:t>USA:</a:t>
            </a:r>
            <a:r>
              <a:rPr sz="950" spc="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Manning</a:t>
            </a:r>
            <a:r>
              <a:rPr sz="950" spc="8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Publications,</a:t>
            </a:r>
            <a:r>
              <a:rPr sz="950" spc="50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2020.</a:t>
            </a:r>
            <a:endParaRPr sz="950">
              <a:latin typeface="Times New Roman"/>
              <a:cs typeface="Times New Roman"/>
            </a:endParaRPr>
          </a:p>
          <a:p>
            <a:pPr marL="12700" marR="8255" indent="290830" algn="just">
              <a:lnSpc>
                <a:spcPct val="147900"/>
              </a:lnSpc>
              <a:spcBef>
                <a:spcPts val="220"/>
              </a:spcBef>
              <a:buAutoNum type="arabicPlain" startAt="27"/>
              <a:tabLst>
                <a:tab pos="303530" algn="l"/>
              </a:tabLst>
            </a:pPr>
            <a:r>
              <a:rPr sz="950" dirty="0">
                <a:latin typeface="Times New Roman"/>
                <a:cs typeface="Times New Roman"/>
              </a:rPr>
              <a:t>L.</a:t>
            </a:r>
            <a:r>
              <a:rPr sz="950" spc="47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Richardson</a:t>
            </a:r>
            <a:r>
              <a:rPr sz="950" spc="47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et</a:t>
            </a:r>
            <a:r>
              <a:rPr sz="950" spc="4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al.,</a:t>
            </a:r>
            <a:r>
              <a:rPr sz="950" spc="-10" dirty="0">
                <a:latin typeface="Times New Roman"/>
                <a:cs typeface="Times New Roman"/>
              </a:rPr>
              <a:t> </a:t>
            </a:r>
            <a:r>
              <a:rPr sz="950" i="1" dirty="0">
                <a:latin typeface="Times New Roman"/>
                <a:cs typeface="Times New Roman"/>
              </a:rPr>
              <a:t>Microservice</a:t>
            </a:r>
            <a:r>
              <a:rPr sz="950" i="1" spc="455" dirty="0">
                <a:latin typeface="Times New Roman"/>
                <a:cs typeface="Times New Roman"/>
              </a:rPr>
              <a:t> </a:t>
            </a:r>
            <a:r>
              <a:rPr sz="950" i="1" spc="-10" dirty="0">
                <a:latin typeface="Times New Roman"/>
                <a:cs typeface="Times New Roman"/>
              </a:rPr>
              <a:t>Patterns</a:t>
            </a:r>
            <a:r>
              <a:rPr sz="950" spc="-10" dirty="0">
                <a:latin typeface="Times New Roman"/>
                <a:cs typeface="Times New Roman"/>
              </a:rPr>
              <a:t>. </a:t>
            </a:r>
            <a:r>
              <a:rPr sz="950" dirty="0">
                <a:latin typeface="Times New Roman"/>
                <a:cs typeface="Times New Roman"/>
              </a:rPr>
              <a:t>Shelter</a:t>
            </a:r>
            <a:r>
              <a:rPr sz="950" spc="4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Island,</a:t>
            </a:r>
            <a:r>
              <a:rPr sz="950" spc="45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NY,</a:t>
            </a:r>
            <a:r>
              <a:rPr sz="950" spc="4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USA:</a:t>
            </a:r>
            <a:r>
              <a:rPr sz="950" spc="44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imes New Roman"/>
                <a:cs typeface="Times New Roman"/>
              </a:rPr>
              <a:t>Manning</a:t>
            </a:r>
            <a:r>
              <a:rPr sz="950" spc="465" dirty="0">
                <a:latin typeface="Times New Roman"/>
                <a:cs typeface="Times New Roman"/>
              </a:rPr>
              <a:t> </a:t>
            </a:r>
            <a:r>
              <a:rPr sz="950" spc="-10" dirty="0">
                <a:latin typeface="Times New Roman"/>
                <a:cs typeface="Times New Roman"/>
              </a:rPr>
              <a:t>Publications, 2018.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52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2135"/>
            <a:ext cx="5812155" cy="48069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5775" algn="ctr">
              <a:lnSpc>
                <a:spcPct val="100000"/>
              </a:lnSpc>
              <a:spcBef>
                <a:spcPts val="110"/>
              </a:spcBef>
            </a:pPr>
            <a:r>
              <a:rPr sz="1250" b="1" dirty="0">
                <a:latin typeface="Times New Roman"/>
                <a:cs typeface="Times New Roman"/>
              </a:rPr>
              <a:t>USER</a:t>
            </a:r>
            <a:r>
              <a:rPr sz="1250" b="1" spc="2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MANUAL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Manual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complete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guide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setting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running,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interacting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600"/>
              </a:spcBef>
            </a:pPr>
            <a:r>
              <a:rPr sz="1100" b="1" dirty="0">
                <a:latin typeface="Times New Roman"/>
                <a:cs typeface="Times New Roman"/>
              </a:rPr>
              <a:t>Codemate AI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Collaborative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Platform</a:t>
            </a:r>
            <a:r>
              <a:rPr sz="1100" dirty="0">
                <a:latin typeface="Times New Roman"/>
                <a:cs typeface="Times New Roman"/>
              </a:rPr>
              <a:t>.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guide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covers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local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environment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72085" algn="l"/>
              </a:tabLst>
            </a:pPr>
            <a:r>
              <a:rPr sz="1250" b="1" spc="-10" dirty="0">
                <a:latin typeface="Times New Roman"/>
                <a:cs typeface="Times New Roman"/>
              </a:rPr>
              <a:t>Overview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Font typeface="Times New Roman"/>
              <a:buAutoNum type="arabicPeriod"/>
            </a:pPr>
            <a:endParaRPr sz="125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 a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multiple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developers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-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together </a:t>
            </a:r>
            <a:r>
              <a:rPr sz="1100" dirty="0">
                <a:latin typeface="Times New Roman"/>
                <a:cs typeface="Times New Roman"/>
              </a:rPr>
              <a:t>seamlessly.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Vite,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enables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across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allowing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Join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coding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rooms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via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unique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Room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IDs.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6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Collaboratively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</a:t>
            </a:r>
            <a:r>
              <a:rPr sz="1100" b="1" spc="6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real-</a:t>
            </a:r>
            <a:r>
              <a:rPr sz="1100" b="1" spc="-20" dirty="0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6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See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live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changes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instantly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from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all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participants.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6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8415" marR="5080" indent="-6350" algn="just">
              <a:lnSpc>
                <a:spcPct val="145500"/>
              </a:lnSpc>
            </a:pP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designed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pair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coding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interviews,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team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open-</a:t>
            </a:r>
            <a:r>
              <a:rPr sz="1100" spc="-10" dirty="0">
                <a:latin typeface="Times New Roman"/>
                <a:cs typeface="Times New Roman"/>
              </a:rPr>
              <a:t>source </a:t>
            </a:r>
            <a:r>
              <a:rPr sz="1100" dirty="0">
                <a:latin typeface="Times New Roman"/>
                <a:cs typeface="Times New Roman"/>
              </a:rPr>
              <a:t>contribution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scenarios.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buAutoNum type="arabicPeriod" startAt="2"/>
              <a:tabLst>
                <a:tab pos="172085" algn="l"/>
              </a:tabLst>
            </a:pPr>
            <a:r>
              <a:rPr sz="1250" b="1" dirty="0">
                <a:latin typeface="Times New Roman"/>
                <a:cs typeface="Times New Roman"/>
              </a:rPr>
              <a:t>System</a:t>
            </a:r>
            <a:r>
              <a:rPr sz="1250" b="1" spc="4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Requirements</a:t>
            </a:r>
            <a:endParaRPr sz="125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0015" y="6335267"/>
          <a:ext cx="5861685" cy="2058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 gridSpan="2">
                  <a:txBody>
                    <a:bodyPr/>
                    <a:lstStyle/>
                    <a:p>
                      <a:pPr marL="66675">
                        <a:lnSpc>
                          <a:spcPts val="1485"/>
                        </a:lnSpc>
                        <a:tabLst>
                          <a:tab pos="2955925" algn="l"/>
                        </a:tabLst>
                      </a:pP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Component</a:t>
                      </a:r>
                      <a:r>
                        <a:rPr sz="125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4472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66675">
                        <a:lnSpc>
                          <a:spcPts val="1425"/>
                        </a:lnSpc>
                      </a:pPr>
                      <a:r>
                        <a:rPr sz="1250" dirty="0">
                          <a:latin typeface="Times New Roman"/>
                          <a:cs typeface="Times New Roman"/>
                        </a:rPr>
                        <a:t>Operating</a:t>
                      </a:r>
                      <a:r>
                        <a:rPr sz="125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System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EAADB"/>
                      </a:solidFill>
                      <a:prstDash val="solid"/>
                    </a:lnL>
                    <a:lnR w="6350">
                      <a:solidFill>
                        <a:srgbClr val="8EAADB"/>
                      </a:solidFill>
                      <a:prstDash val="solid"/>
                    </a:lnR>
                    <a:lnB w="6350">
                      <a:solidFill>
                        <a:srgbClr val="8EAADB"/>
                      </a:solidFill>
                      <a:prstDash val="solid"/>
                    </a:lnB>
                    <a:solidFill>
                      <a:srgbClr val="D8E2F2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25"/>
                        </a:lnSpc>
                      </a:pPr>
                      <a:r>
                        <a:rPr sz="1250" b="1" dirty="0">
                          <a:latin typeface="Times New Roman"/>
                          <a:cs typeface="Times New Roman"/>
                        </a:rPr>
                        <a:t>Linux,</a:t>
                      </a:r>
                      <a:r>
                        <a:rPr sz="12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macOS,</a:t>
                      </a:r>
                      <a:r>
                        <a:rPr sz="125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Windows </a:t>
                      </a:r>
                      <a:r>
                        <a:rPr sz="1250" b="1" spc="-20" dirty="0">
                          <a:latin typeface="Times New Roman"/>
                          <a:cs typeface="Times New Roman"/>
                        </a:rPr>
                        <a:t>(WSL)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EAADB"/>
                      </a:solidFill>
                      <a:prstDash val="solid"/>
                    </a:lnL>
                    <a:lnR w="6350">
                      <a:solidFill>
                        <a:srgbClr val="8EAADB"/>
                      </a:solidFill>
                      <a:prstDash val="solid"/>
                    </a:lnR>
                    <a:lnB w="6350">
                      <a:solidFill>
                        <a:srgbClr val="8EAADB"/>
                      </a:solidFill>
                      <a:prstDash val="solid"/>
                    </a:lnB>
                    <a:solidFill>
                      <a:srgbClr val="D8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>
                  <a:txBody>
                    <a:bodyPr/>
                    <a:lstStyle/>
                    <a:p>
                      <a:pPr marL="66675">
                        <a:lnSpc>
                          <a:spcPts val="1460"/>
                        </a:lnSpc>
                      </a:pPr>
                      <a:r>
                        <a:rPr sz="1250" dirty="0">
                          <a:latin typeface="Times New Roman"/>
                          <a:cs typeface="Times New Roman"/>
                        </a:rPr>
                        <a:t>Node.js 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Version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EAADB"/>
                      </a:solidFill>
                      <a:prstDash val="solid"/>
                    </a:lnL>
                    <a:lnR w="6350">
                      <a:solidFill>
                        <a:srgbClr val="8EAADB"/>
                      </a:solidFill>
                      <a:prstDash val="solid"/>
                    </a:lnR>
                    <a:lnT w="63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60"/>
                        </a:lnSpc>
                      </a:pPr>
                      <a:r>
                        <a:rPr sz="1250" b="1" dirty="0">
                          <a:latin typeface="Times New Roman"/>
                          <a:cs typeface="Times New Roman"/>
                        </a:rPr>
                        <a:t>Node.js</a:t>
                      </a:r>
                      <a:r>
                        <a:rPr sz="12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16.x</a:t>
                      </a:r>
                      <a:r>
                        <a:rPr sz="12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20" dirty="0">
                          <a:latin typeface="Times New Roman"/>
                          <a:cs typeface="Times New Roman"/>
                        </a:rPr>
                        <a:t>later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EAADB"/>
                      </a:solidFill>
                      <a:prstDash val="solid"/>
                    </a:lnL>
                    <a:lnR w="6350">
                      <a:solidFill>
                        <a:srgbClr val="8EAADB"/>
                      </a:solidFill>
                      <a:prstDash val="solid"/>
                    </a:lnR>
                    <a:lnT w="63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8EAA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66675">
                        <a:lnSpc>
                          <a:spcPts val="1460"/>
                        </a:lnSpc>
                      </a:pPr>
                      <a:r>
                        <a:rPr sz="1250" dirty="0">
                          <a:latin typeface="Times New Roman"/>
                          <a:cs typeface="Times New Roman"/>
                        </a:rPr>
                        <a:t>NPM</a:t>
                      </a:r>
                      <a:r>
                        <a:rPr sz="12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version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EAADB"/>
                      </a:solidFill>
                      <a:prstDash val="solid"/>
                    </a:lnL>
                    <a:lnR w="6350">
                      <a:solidFill>
                        <a:srgbClr val="8EAADB"/>
                      </a:solidFill>
                      <a:prstDash val="solid"/>
                    </a:lnR>
                    <a:lnT w="63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8EAADB"/>
                      </a:solidFill>
                      <a:prstDash val="solid"/>
                    </a:lnB>
                    <a:solidFill>
                      <a:srgbClr val="D8E2F2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60"/>
                        </a:lnSpc>
                      </a:pPr>
                      <a:r>
                        <a:rPr sz="1250" b="1" dirty="0">
                          <a:latin typeface="Times New Roman"/>
                          <a:cs typeface="Times New Roman"/>
                        </a:rPr>
                        <a:t>NPM</a:t>
                      </a:r>
                      <a:r>
                        <a:rPr sz="125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8.x</a:t>
                      </a:r>
                      <a:r>
                        <a:rPr sz="12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5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20" dirty="0">
                          <a:latin typeface="Times New Roman"/>
                          <a:cs typeface="Times New Roman"/>
                        </a:rPr>
                        <a:t>later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EAADB"/>
                      </a:solidFill>
                      <a:prstDash val="solid"/>
                    </a:lnL>
                    <a:lnR w="6350">
                      <a:solidFill>
                        <a:srgbClr val="8EAADB"/>
                      </a:solidFill>
                      <a:prstDash val="solid"/>
                    </a:lnR>
                    <a:lnT w="63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8EAADB"/>
                      </a:solidFill>
                      <a:prstDash val="solid"/>
                    </a:lnB>
                    <a:solidFill>
                      <a:srgbClr val="D8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66675">
                        <a:lnSpc>
                          <a:spcPts val="1450"/>
                        </a:lnSpc>
                      </a:pP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Internet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EAADB"/>
                      </a:solidFill>
                      <a:prstDash val="solid"/>
                    </a:lnL>
                    <a:lnR w="6350">
                      <a:solidFill>
                        <a:srgbClr val="8EAADB"/>
                      </a:solidFill>
                      <a:prstDash val="solid"/>
                    </a:lnR>
                    <a:lnT w="63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8EAAD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450"/>
                        </a:lnSpc>
                      </a:pPr>
                      <a:r>
                        <a:rPr sz="1250" b="1" dirty="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sz="1250" b="1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dirty="0">
                          <a:latin typeface="Times New Roman"/>
                          <a:cs typeface="Times New Roman"/>
                        </a:rPr>
                        <a:t>real-time</a:t>
                      </a:r>
                      <a:r>
                        <a:rPr sz="12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b="1" spc="-10" dirty="0">
                          <a:latin typeface="Times New Roman"/>
                          <a:cs typeface="Times New Roman"/>
                        </a:rPr>
                        <a:t>collaboration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EAADB"/>
                      </a:solidFill>
                      <a:prstDash val="solid"/>
                    </a:lnL>
                    <a:lnR w="6350">
                      <a:solidFill>
                        <a:srgbClr val="8EAADB"/>
                      </a:solidFill>
                      <a:prstDash val="solid"/>
                    </a:lnR>
                    <a:lnT w="6350">
                      <a:solidFill>
                        <a:srgbClr val="8EAADB"/>
                      </a:solidFill>
                      <a:prstDash val="solid"/>
                    </a:lnT>
                    <a:lnB w="6350">
                      <a:solidFill>
                        <a:srgbClr val="8EAAD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514092" y="8380490"/>
            <a:ext cx="288798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latin typeface="Times New Roman"/>
                <a:cs typeface="Times New Roman"/>
              </a:rPr>
              <a:t>Table</a:t>
            </a:r>
            <a:r>
              <a:rPr sz="1000" spc="3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Guide1</a:t>
            </a:r>
            <a:r>
              <a:rPr sz="1000" spc="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System</a:t>
            </a:r>
            <a:r>
              <a:rPr sz="1000" spc="2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Requirements</a:t>
            </a:r>
            <a:r>
              <a:rPr sz="1000" spc="4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for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the</a:t>
            </a:r>
            <a:r>
              <a:rPr sz="1000" spc="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application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53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0611"/>
            <a:ext cx="5485765" cy="6419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10"/>
              </a:spcBef>
              <a:buAutoNum type="arabicPeriod" startAt="3"/>
              <a:tabLst>
                <a:tab pos="172085" algn="l"/>
              </a:tabLst>
            </a:pPr>
            <a:r>
              <a:rPr sz="1250" b="1" spc="-10" dirty="0">
                <a:latin typeface="Times New Roman"/>
                <a:cs typeface="Times New Roman"/>
              </a:rPr>
              <a:t>Prerequisites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Font typeface="Times New Roman"/>
              <a:buAutoNum type="arabicPeriod" startAt="3"/>
            </a:pPr>
            <a:endParaRPr sz="125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npm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locally.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Courier New"/>
                <a:cs typeface="Courier New"/>
              </a:rPr>
              <a:t>3000</a:t>
            </a:r>
            <a:r>
              <a:rPr sz="950" spc="-254" dirty="0">
                <a:latin typeface="Courier New"/>
                <a:cs typeface="Courier New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(for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frontend)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Courier New"/>
                <a:cs typeface="Courier New"/>
              </a:rPr>
              <a:t>5000</a:t>
            </a:r>
            <a:r>
              <a:rPr sz="950" spc="-254" dirty="0">
                <a:latin typeface="Courier New"/>
                <a:cs typeface="Courier New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backend).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50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Before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AI,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make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installed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system: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Node.js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functionality.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npm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dependencies.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1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download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required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versions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following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sources: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Clr>
                <a:srgbClr val="000000"/>
              </a:buClr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Node.js</a:t>
            </a:r>
            <a:r>
              <a:rPr sz="1100" u="sng" spc="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Official</a:t>
            </a:r>
            <a:r>
              <a:rPr sz="1100" u="sng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Site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10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234315" indent="-221615">
              <a:lnSpc>
                <a:spcPct val="100000"/>
              </a:lnSpc>
              <a:buAutoNum type="arabicPeriod" startAt="3"/>
              <a:tabLst>
                <a:tab pos="234315" algn="l"/>
              </a:tabLst>
            </a:pPr>
            <a:r>
              <a:rPr sz="1250" b="1" dirty="0">
                <a:latin typeface="Times New Roman"/>
                <a:cs typeface="Times New Roman"/>
              </a:rPr>
              <a:t>Installation</a:t>
            </a:r>
            <a:r>
              <a:rPr sz="1250" b="1" spc="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3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Setup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(Local</a:t>
            </a:r>
            <a:r>
              <a:rPr sz="1250" b="1" spc="2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Environment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Setup)</a:t>
            </a:r>
            <a:endParaRPr sz="1250">
              <a:latin typeface="Times New Roman"/>
              <a:cs typeface="Times New Roman"/>
            </a:endParaRPr>
          </a:p>
          <a:p>
            <a:pPr marL="234950" marR="5080" indent="160020">
              <a:lnSpc>
                <a:spcPct val="145200"/>
              </a:lnSpc>
              <a:spcBef>
                <a:spcPts val="65"/>
              </a:spcBef>
              <a:buAutoNum type="alphaLcParenR"/>
              <a:tabLst>
                <a:tab pos="394970" algn="l"/>
              </a:tabLst>
            </a:pPr>
            <a:r>
              <a:rPr sz="1150" b="1" dirty="0">
                <a:latin typeface="Times New Roman"/>
                <a:cs typeface="Times New Roman"/>
              </a:rPr>
              <a:t>Clone</a:t>
            </a:r>
            <a:r>
              <a:rPr sz="1150" b="1" spc="15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the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b="1" dirty="0">
                <a:latin typeface="Times New Roman"/>
                <a:cs typeface="Times New Roman"/>
              </a:rPr>
              <a:t>Repository:</a:t>
            </a:r>
            <a:r>
              <a:rPr sz="1150" b="1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Open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your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terminal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clone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project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repository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using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the </a:t>
            </a:r>
            <a:r>
              <a:rPr sz="1150" dirty="0">
                <a:latin typeface="Times New Roman"/>
                <a:cs typeface="Times New Roman"/>
              </a:rPr>
              <a:t>following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command:</a:t>
            </a:r>
            <a:endParaRPr sz="1150">
              <a:latin typeface="Times New Roman"/>
              <a:cs typeface="Times New Roman"/>
            </a:endParaRPr>
          </a:p>
          <a:p>
            <a:pPr marR="38735" algn="ctr">
              <a:lnSpc>
                <a:spcPct val="100000"/>
              </a:lnSpc>
              <a:spcBef>
                <a:spcPts val="570"/>
              </a:spcBef>
            </a:pPr>
            <a:r>
              <a:rPr sz="950" dirty="0">
                <a:latin typeface="Courier New"/>
                <a:cs typeface="Courier New"/>
              </a:rPr>
              <a:t>git</a:t>
            </a:r>
            <a:r>
              <a:rPr sz="950" spc="12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clone</a:t>
            </a:r>
            <a:r>
              <a:rPr sz="950" spc="110" dirty="0">
                <a:latin typeface="Courier New"/>
                <a:cs typeface="Courier New"/>
              </a:rPr>
              <a:t> </a:t>
            </a:r>
            <a:r>
              <a:rPr sz="950" dirty="0">
                <a:latin typeface="Courier New"/>
                <a:cs typeface="Courier New"/>
              </a:rPr>
              <a:t>https://github.com/your-</a:t>
            </a:r>
            <a:r>
              <a:rPr sz="950" spc="-10" dirty="0">
                <a:latin typeface="Courier New"/>
                <a:cs typeface="Courier New"/>
              </a:rPr>
              <a:t>username/codesync.git</a:t>
            </a:r>
            <a:endParaRPr sz="950">
              <a:latin typeface="Courier New"/>
              <a:cs typeface="Courier New"/>
            </a:endParaRPr>
          </a:p>
          <a:p>
            <a:pPr marL="384810" marR="229870" indent="-153035">
              <a:lnSpc>
                <a:spcPts val="1930"/>
              </a:lnSpc>
              <a:spcBef>
                <a:spcPts val="140"/>
              </a:spcBef>
              <a:buFont typeface="Times New Roman"/>
              <a:buAutoNum type="alphaLcParenR" startAt="2"/>
              <a:tabLst>
                <a:tab pos="701040" algn="l"/>
              </a:tabLst>
            </a:pPr>
            <a:r>
              <a:rPr sz="1100" b="1" dirty="0">
                <a:latin typeface="Times New Roman"/>
                <a:cs typeface="Times New Roman"/>
              </a:rPr>
              <a:t>Navigate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Project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Directory: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directory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project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folder: 	</a:t>
            </a:r>
            <a:r>
              <a:rPr sz="1100" dirty="0">
                <a:latin typeface="Times New Roman"/>
                <a:cs typeface="Times New Roman"/>
              </a:rPr>
              <a:t>cd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codesync</a:t>
            </a:r>
            <a:endParaRPr sz="1100">
              <a:latin typeface="Times New Roman"/>
              <a:cs typeface="Times New Roman"/>
            </a:endParaRPr>
          </a:p>
          <a:p>
            <a:pPr marL="364490" marR="554355" indent="-126364">
              <a:lnSpc>
                <a:spcPts val="1920"/>
              </a:lnSpc>
              <a:spcBef>
                <a:spcPts val="10"/>
              </a:spcBef>
              <a:buFont typeface="Times New Roman"/>
              <a:buAutoNum type="alphaLcParenR" startAt="2"/>
              <a:tabLst>
                <a:tab pos="364490" algn="l"/>
                <a:tab pos="383540" algn="l"/>
              </a:tabLst>
            </a:pP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1" dirty="0">
                <a:latin typeface="Times New Roman"/>
                <a:cs typeface="Times New Roman"/>
              </a:rPr>
              <a:t>Install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Dependencies: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Install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necessary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dependencies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spc="-10" dirty="0">
                <a:latin typeface="Times New Roman"/>
                <a:cs typeface="Times New Roman"/>
              </a:rPr>
              <a:t>backend:</a:t>
            </a:r>
            <a:endParaRPr sz="1100">
              <a:latin typeface="Times New Roman"/>
              <a:cs typeface="Times New Roman"/>
            </a:endParaRPr>
          </a:p>
          <a:p>
            <a:pPr marL="770890">
              <a:lnSpc>
                <a:spcPct val="100000"/>
              </a:lnSpc>
              <a:spcBef>
                <a:spcPts val="459"/>
              </a:spcBef>
            </a:pPr>
            <a:r>
              <a:rPr sz="1100" dirty="0">
                <a:latin typeface="Times New Roman"/>
                <a:cs typeface="Times New Roman"/>
              </a:rPr>
              <a:t>npm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install</a:t>
            </a:r>
            <a:endParaRPr sz="1100">
              <a:latin typeface="Times New Roman"/>
              <a:cs typeface="Times New Roman"/>
            </a:endParaRPr>
          </a:p>
          <a:p>
            <a:pPr marL="392430" marR="1824989" indent="-154305">
              <a:lnSpc>
                <a:spcPct val="145500"/>
              </a:lnSpc>
              <a:spcBef>
                <a:spcPts val="10"/>
              </a:spcBef>
              <a:buFont typeface="Times New Roman"/>
              <a:buAutoNum type="alphaLcParenR" startAt="4"/>
              <a:tabLst>
                <a:tab pos="736600" algn="l"/>
              </a:tabLst>
            </a:pPr>
            <a:r>
              <a:rPr sz="1100" b="1" dirty="0">
                <a:latin typeface="Times New Roman"/>
                <a:cs typeface="Times New Roman"/>
              </a:rPr>
              <a:t>Start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Application: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Start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locally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with: 	</a:t>
            </a:r>
            <a:r>
              <a:rPr sz="1100" dirty="0">
                <a:latin typeface="Times New Roman"/>
                <a:cs typeface="Times New Roman"/>
              </a:rPr>
              <a:t>npm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start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100">
              <a:latin typeface="Times New Roman"/>
              <a:cs typeface="Times New Roman"/>
            </a:endParaRPr>
          </a:p>
          <a:p>
            <a:pPr marL="24765" marR="180975" indent="-635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servers.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now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access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application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on </a:t>
            </a:r>
            <a:r>
              <a:rPr sz="11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http://localhost:3000</a:t>
            </a:r>
            <a:r>
              <a:rPr sz="1100" spc="-10" dirty="0">
                <a:latin typeface="Times New Roman"/>
                <a:cs typeface="Times New Roman"/>
                <a:hlinkClick r:id="rId2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54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2135"/>
            <a:ext cx="5692775" cy="7710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10"/>
              </a:spcBef>
              <a:buAutoNum type="arabicPeriod" startAt="5"/>
              <a:tabLst>
                <a:tab pos="172085" algn="l"/>
              </a:tabLst>
            </a:pPr>
            <a:r>
              <a:rPr sz="1250" b="1" spc="-10" dirty="0">
                <a:latin typeface="Times New Roman"/>
                <a:cs typeface="Times New Roman"/>
              </a:rPr>
              <a:t>Usage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Times New Roman"/>
              <a:buAutoNum type="arabicPeriod" startAt="5"/>
            </a:pPr>
            <a:endParaRPr sz="1250">
              <a:latin typeface="Times New Roman"/>
              <a:cs typeface="Times New Roman"/>
            </a:endParaRPr>
          </a:p>
          <a:p>
            <a:pPr marL="456565" lvl="1" indent="-221615">
              <a:lnSpc>
                <a:spcPct val="100000"/>
              </a:lnSpc>
              <a:buFont typeface="Times New Roman"/>
              <a:buAutoNum type="alphaLcParenR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Create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or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Join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Room: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69"/>
              </a:spcBef>
              <a:buFont typeface="Times New Roman"/>
              <a:buAutoNum type="alphaLcParenR"/>
            </a:pPr>
            <a:endParaRPr sz="1100">
              <a:latin typeface="Times New Roman"/>
              <a:cs typeface="Times New Roman"/>
            </a:endParaRPr>
          </a:p>
          <a:p>
            <a:pPr marL="672465" lvl="2" indent="-222885">
              <a:lnSpc>
                <a:spcPct val="100000"/>
              </a:lnSpc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Open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browser.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60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672465" lvl="2" indent="-222885">
              <a:lnSpc>
                <a:spcPct val="100000"/>
              </a:lnSpc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input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Room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ID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provided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host.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4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672465" marR="153670" lvl="2" indent="-222885">
              <a:lnSpc>
                <a:spcPct val="146400"/>
              </a:lnSpc>
              <a:spcBef>
                <a:spcPts val="5"/>
              </a:spcBef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click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Create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New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Room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share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generated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ID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participants.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69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456565" lvl="1" indent="-221615">
              <a:lnSpc>
                <a:spcPct val="100000"/>
              </a:lnSpc>
              <a:buFont typeface="Times New Roman"/>
              <a:buAutoNum type="alphaLcParenR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7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Collaboration: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69"/>
              </a:spcBef>
              <a:buFont typeface="Times New Roman"/>
              <a:buAutoNum type="alphaLcParenR"/>
            </a:pPr>
            <a:endParaRPr sz="1100">
              <a:latin typeface="Times New Roman"/>
              <a:cs typeface="Times New Roman"/>
            </a:endParaRPr>
          </a:p>
          <a:p>
            <a:pPr marL="672465" lvl="2" indent="-222885">
              <a:lnSpc>
                <a:spcPct val="100000"/>
              </a:lnSpc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Once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start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immediately.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45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672465" marR="173355" lvl="2" indent="-222885">
              <a:lnSpc>
                <a:spcPct val="146400"/>
              </a:lnSpc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participants'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you’ll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 </a:t>
            </a:r>
            <a:r>
              <a:rPr sz="1100" dirty="0">
                <a:latin typeface="Times New Roman"/>
                <a:cs typeface="Times New Roman"/>
              </a:rPr>
              <a:t>others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type.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69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456565" lvl="1" indent="-221615">
              <a:lnSpc>
                <a:spcPct val="100000"/>
              </a:lnSpc>
              <a:spcBef>
                <a:spcPts val="5"/>
              </a:spcBef>
              <a:buFont typeface="Times New Roman"/>
              <a:buAutoNum type="alphaLcParenR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Language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Selection: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69"/>
              </a:spcBef>
              <a:buFont typeface="Times New Roman"/>
              <a:buAutoNum type="alphaLcParenR"/>
            </a:pPr>
            <a:endParaRPr sz="1100">
              <a:latin typeface="Times New Roman"/>
              <a:cs typeface="Times New Roman"/>
            </a:endParaRPr>
          </a:p>
          <a:p>
            <a:pPr marL="672465" lvl="2" indent="-222885">
              <a:lnSpc>
                <a:spcPct val="100000"/>
              </a:lnSpc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40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69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672465" lvl="2" indent="-222885">
              <a:lnSpc>
                <a:spcPct val="100000"/>
              </a:lnSpc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programming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dropdown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editor.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69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456565" lvl="1" indent="-221615">
              <a:lnSpc>
                <a:spcPct val="100000"/>
              </a:lnSpc>
              <a:buFont typeface="Times New Roman"/>
              <a:buAutoNum type="alphaLcParenR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Execution: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860"/>
              </a:spcBef>
              <a:buFont typeface="Times New Roman"/>
              <a:buAutoNum type="alphaLcParenR"/>
            </a:pPr>
            <a:endParaRPr sz="1100">
              <a:latin typeface="Times New Roman"/>
              <a:cs typeface="Times New Roman"/>
            </a:endParaRPr>
          </a:p>
          <a:p>
            <a:pPr marL="672465" lvl="2" indent="-222885">
              <a:lnSpc>
                <a:spcPct val="100000"/>
              </a:lnSpc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Once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you've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written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submit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compilation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Run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Code</a:t>
            </a:r>
            <a:endParaRPr sz="1100">
              <a:latin typeface="Times New Roman"/>
              <a:cs typeface="Times New Roman"/>
            </a:endParaRPr>
          </a:p>
          <a:p>
            <a:pPr marL="672465">
              <a:lnSpc>
                <a:spcPct val="100000"/>
              </a:lnSpc>
              <a:spcBef>
                <a:spcPts val="625"/>
              </a:spcBef>
            </a:pPr>
            <a:r>
              <a:rPr sz="1100" spc="-10" dirty="0">
                <a:latin typeface="Times New Roman"/>
                <a:cs typeface="Times New Roman"/>
              </a:rPr>
              <a:t>button.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100">
              <a:latin typeface="Times New Roman"/>
              <a:cs typeface="Times New Roman"/>
            </a:endParaRPr>
          </a:p>
          <a:p>
            <a:pPr marL="672465" lvl="2" indent="-222885">
              <a:lnSpc>
                <a:spcPct val="100000"/>
              </a:lnSpc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compiling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securely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Judge0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API.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869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456565" lvl="1" indent="-221615">
              <a:lnSpc>
                <a:spcPct val="100000"/>
              </a:lnSpc>
              <a:buFont typeface="Times New Roman"/>
              <a:buAutoNum type="alphaLcParenR"/>
              <a:tabLst>
                <a:tab pos="456565" algn="l"/>
              </a:tabLst>
            </a:pPr>
            <a:r>
              <a:rPr sz="1100" b="1" spc="-10" dirty="0">
                <a:latin typeface="Times New Roman"/>
                <a:cs typeface="Times New Roman"/>
              </a:rPr>
              <a:t>Notifications: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60"/>
              </a:spcBef>
              <a:buFont typeface="Times New Roman"/>
              <a:buAutoNum type="alphaLcParenR"/>
            </a:pPr>
            <a:endParaRPr sz="1100">
              <a:latin typeface="Times New Roman"/>
              <a:cs typeface="Times New Roman"/>
            </a:endParaRPr>
          </a:p>
          <a:p>
            <a:pPr marL="672465" marR="5080" lvl="2" indent="-222885">
              <a:lnSpc>
                <a:spcPct val="146400"/>
              </a:lnSpc>
              <a:buSzPct val="86363"/>
              <a:buFont typeface="Courier New"/>
              <a:buChar char="o"/>
              <a:tabLst>
                <a:tab pos="672465" algn="l"/>
              </a:tabLst>
            </a:pPr>
            <a:r>
              <a:rPr sz="1100" dirty="0">
                <a:latin typeface="Times New Roman"/>
                <a:cs typeface="Times New Roman"/>
              </a:rPr>
              <a:t>Notifications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displayed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various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events,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such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another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room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when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execution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results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available.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55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0611"/>
            <a:ext cx="5755005" cy="76695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72085" indent="-159385">
              <a:lnSpc>
                <a:spcPct val="100000"/>
              </a:lnSpc>
              <a:spcBef>
                <a:spcPts val="110"/>
              </a:spcBef>
              <a:buAutoNum type="arabicPeriod" startAt="6"/>
              <a:tabLst>
                <a:tab pos="172085" algn="l"/>
              </a:tabLst>
            </a:pPr>
            <a:r>
              <a:rPr sz="1250" b="1" dirty="0">
                <a:latin typeface="Times New Roman"/>
                <a:cs typeface="Times New Roman"/>
              </a:rPr>
              <a:t>Key </a:t>
            </a:r>
            <a:r>
              <a:rPr sz="1250" b="1" spc="-10" dirty="0">
                <a:latin typeface="Times New Roman"/>
                <a:cs typeface="Times New Roman"/>
              </a:rPr>
              <a:t>Features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Font typeface="Times New Roman"/>
              <a:buAutoNum type="arabicPeriod" startAt="6"/>
            </a:pPr>
            <a:endParaRPr sz="125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Real-Time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participants.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62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Room-Based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Collaboration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Unique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sessions.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600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Efficient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Synchronization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Powered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optimized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Vite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HMR.</a:t>
            </a: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b="1" dirty="0">
                <a:latin typeface="Times New Roman"/>
                <a:cs typeface="Times New Roman"/>
              </a:rPr>
              <a:t>Low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Latency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Resilience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Automatic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reconnection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strategies.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9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buAutoNum type="arabicPeriod" startAt="6"/>
              <a:tabLst>
                <a:tab pos="172085" algn="l"/>
              </a:tabLst>
            </a:pPr>
            <a:r>
              <a:rPr sz="1250" b="1" dirty="0">
                <a:latin typeface="Times New Roman"/>
                <a:cs typeface="Times New Roman"/>
              </a:rPr>
              <a:t>Troubleshooting</a:t>
            </a:r>
            <a:r>
              <a:rPr sz="1250" b="1" spc="15" dirty="0">
                <a:latin typeface="Times New Roman"/>
                <a:cs typeface="Times New Roman"/>
              </a:rPr>
              <a:t> </a:t>
            </a:r>
            <a:r>
              <a:rPr sz="1250" b="1" spc="-20" dirty="0">
                <a:latin typeface="Times New Roman"/>
                <a:cs typeface="Times New Roman"/>
              </a:rPr>
              <a:t>Tips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Font typeface="Times New Roman"/>
              <a:buAutoNum type="arabicPeriod" startAt="6"/>
            </a:pPr>
            <a:endParaRPr sz="1250">
              <a:latin typeface="Times New Roman"/>
              <a:cs typeface="Times New Roman"/>
            </a:endParaRPr>
          </a:p>
          <a:p>
            <a:pPr marL="456565" lvl="1" indent="-182245">
              <a:lnSpc>
                <a:spcPct val="100000"/>
              </a:lnSpc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Issue: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Code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execution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is</a:t>
            </a:r>
            <a:r>
              <a:rPr sz="1100" b="1" spc="1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slow.</a:t>
            </a:r>
            <a:endParaRPr sz="1100">
              <a:latin typeface="Times New Roman"/>
              <a:cs typeface="Times New Roman"/>
            </a:endParaRPr>
          </a:p>
          <a:p>
            <a:pPr marL="902335" marR="435609" lvl="2" indent="-183515">
              <a:lnSpc>
                <a:spcPct val="145500"/>
              </a:lnSpc>
              <a:spcBef>
                <a:spcPts val="25"/>
              </a:spcBef>
              <a:buSzPct val="86363"/>
              <a:buFont typeface="Courier New"/>
              <a:buChar char="o"/>
              <a:tabLst>
                <a:tab pos="941705" algn="l"/>
              </a:tabLst>
            </a:pPr>
            <a:r>
              <a:rPr sz="1100" dirty="0">
                <a:latin typeface="Times New Roman"/>
                <a:cs typeface="Times New Roman"/>
              </a:rPr>
              <a:t>Solution: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internet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connection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stable,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requires 	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remote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compilation.</a:t>
            </a:r>
            <a:endParaRPr sz="1100">
              <a:latin typeface="Times New Roman"/>
              <a:cs typeface="Times New Roman"/>
            </a:endParaRPr>
          </a:p>
          <a:p>
            <a:pPr marL="456565" lvl="1" indent="-182245">
              <a:lnSpc>
                <a:spcPct val="100000"/>
              </a:lnSpc>
              <a:spcBef>
                <a:spcPts val="610"/>
              </a:spcBef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Issue: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Unable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to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join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room.</a:t>
            </a:r>
            <a:endParaRPr sz="1100">
              <a:latin typeface="Times New Roman"/>
              <a:cs typeface="Times New Roman"/>
            </a:endParaRPr>
          </a:p>
          <a:p>
            <a:pPr marL="902335" marR="436245" lvl="2" indent="-183515">
              <a:lnSpc>
                <a:spcPct val="146400"/>
              </a:lnSpc>
              <a:buSzPct val="86363"/>
              <a:buFont typeface="Courier New"/>
              <a:buChar char="o"/>
              <a:tabLst>
                <a:tab pos="941705" algn="l"/>
              </a:tabLst>
            </a:pPr>
            <a:r>
              <a:rPr sz="1100" dirty="0">
                <a:latin typeface="Times New Roman"/>
                <a:cs typeface="Times New Roman"/>
              </a:rPr>
              <a:t>Solution: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Check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correct.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issues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persist,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verify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your 	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refresh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browser.</a:t>
            </a:r>
            <a:endParaRPr sz="1100">
              <a:latin typeface="Times New Roman"/>
              <a:cs typeface="Times New Roman"/>
            </a:endParaRPr>
          </a:p>
          <a:p>
            <a:pPr marL="456565" lvl="1" indent="-182245">
              <a:lnSpc>
                <a:spcPct val="100000"/>
              </a:lnSpc>
              <a:spcBef>
                <a:spcPts val="615"/>
              </a:spcBef>
              <a:buSzPct val="86363"/>
              <a:buFont typeface="Symbol"/>
              <a:buChar char=""/>
              <a:tabLst>
                <a:tab pos="456565" algn="l"/>
              </a:tabLst>
            </a:pPr>
            <a:r>
              <a:rPr sz="1100" b="1" dirty="0">
                <a:latin typeface="Times New Roman"/>
                <a:cs typeface="Times New Roman"/>
              </a:rPr>
              <a:t>Issue: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Changes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are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not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synced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between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users.</a:t>
            </a:r>
            <a:endParaRPr sz="1100">
              <a:latin typeface="Times New Roman"/>
              <a:cs typeface="Times New Roman"/>
            </a:endParaRPr>
          </a:p>
          <a:p>
            <a:pPr marL="902335" marR="436880" lvl="2" indent="-183515">
              <a:lnSpc>
                <a:spcPct val="146400"/>
              </a:lnSpc>
              <a:buSzPct val="86363"/>
              <a:buFont typeface="Courier New"/>
              <a:buChar char="o"/>
              <a:tabLst>
                <a:tab pos="941705" algn="l"/>
              </a:tabLst>
            </a:pPr>
            <a:r>
              <a:rPr sz="1100" dirty="0">
                <a:latin typeface="Times New Roman"/>
                <a:cs typeface="Times New Roman"/>
              </a:rPr>
              <a:t>Solution: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that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both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have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stable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internet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connection.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issue 	</a:t>
            </a:r>
            <a:r>
              <a:rPr sz="1100" dirty="0">
                <a:latin typeface="Times New Roman"/>
                <a:cs typeface="Times New Roman"/>
              </a:rPr>
              <a:t>persists,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try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restarting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application.</a:t>
            </a:r>
            <a:endParaRPr sz="11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500"/>
              </a:spcBef>
              <a:buFont typeface="Courier New"/>
              <a:buChar char="o"/>
            </a:pPr>
            <a:endParaRPr sz="1100">
              <a:latin typeface="Times New Roman"/>
              <a:cs typeface="Times New Roman"/>
            </a:endParaRPr>
          </a:p>
          <a:p>
            <a:pPr marL="172085" indent="-159385">
              <a:lnSpc>
                <a:spcPct val="100000"/>
              </a:lnSpc>
              <a:spcBef>
                <a:spcPts val="5"/>
              </a:spcBef>
              <a:buAutoNum type="arabicPeriod" startAt="6"/>
              <a:tabLst>
                <a:tab pos="172085" algn="l"/>
              </a:tabLst>
            </a:pPr>
            <a:r>
              <a:rPr sz="1250" b="1" dirty="0">
                <a:latin typeface="Times New Roman"/>
                <a:cs typeface="Times New Roman"/>
              </a:rPr>
              <a:t>Output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Description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system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structured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three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key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components: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100">
              <a:latin typeface="Times New Roman"/>
              <a:cs typeface="Times New Roman"/>
            </a:endParaRPr>
          </a:p>
          <a:p>
            <a:pPr marL="97790" indent="-85090">
              <a:lnSpc>
                <a:spcPct val="100000"/>
              </a:lnSpc>
              <a:buChar char="•"/>
              <a:tabLst>
                <a:tab pos="97790" algn="l"/>
              </a:tabLst>
            </a:pPr>
            <a:r>
              <a:rPr sz="1100" b="1" dirty="0">
                <a:latin typeface="Times New Roman"/>
                <a:cs typeface="Times New Roman"/>
              </a:rPr>
              <a:t>Frontend</a:t>
            </a:r>
            <a:r>
              <a:rPr sz="1100" b="1" spc="5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Interface: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5"/>
              </a:spcBef>
              <a:buFont typeface="Times New Roman"/>
              <a:buChar char="•"/>
            </a:pPr>
            <a:endParaRPr sz="1100">
              <a:latin typeface="Times New Roman"/>
              <a:cs typeface="Times New Roman"/>
            </a:endParaRPr>
          </a:p>
          <a:p>
            <a:pPr marL="457200" lvl="1" indent="-222250">
              <a:lnSpc>
                <a:spcPct val="1000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built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React.js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integrated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CodeMirror.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57200" marR="169545" lvl="1" indent="-222885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Supports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syntax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highlighting,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multi-language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theme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switching,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and </a:t>
            </a: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update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rendering.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57200" marR="5080" lvl="1" indent="-222885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Displays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typing,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cursor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positioning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active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collaborators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a </a:t>
            </a:r>
            <a:r>
              <a:rPr sz="1100" spc="-10" dirty="0">
                <a:latin typeface="Times New Roman"/>
                <a:cs typeface="Times New Roman"/>
              </a:rPr>
              <a:t>room.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96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97790" indent="-85090">
              <a:lnSpc>
                <a:spcPct val="100000"/>
              </a:lnSpc>
              <a:buChar char="•"/>
              <a:tabLst>
                <a:tab pos="97790" algn="l"/>
              </a:tabLst>
            </a:pP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Communication: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56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5772150" cy="4446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marR="369570" indent="-222885">
              <a:lnSpc>
                <a:spcPct val="145500"/>
              </a:lnSpc>
              <a:spcBef>
                <a:spcPts val="9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messaging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via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over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WebSocket connections.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57200" marR="224790" indent="-222885">
              <a:lnSpc>
                <a:spcPct val="1473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Ensures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low-latency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delivery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join/leave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events,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execution requests.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57200" marR="128905" indent="-222885">
              <a:lnSpc>
                <a:spcPct val="145500"/>
              </a:lnSpc>
              <a:spcBef>
                <a:spcPts val="5"/>
              </a:spcBef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Efficient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event-driven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architecture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guarantees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minimal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delay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reliable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message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delivery </a:t>
            </a:r>
            <a:r>
              <a:rPr sz="1100" dirty="0">
                <a:latin typeface="Times New Roman"/>
                <a:cs typeface="Times New Roman"/>
              </a:rPr>
              <a:t>even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under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network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conditions.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65"/>
              </a:spcBef>
            </a:pPr>
            <a:endParaRPr sz="1100">
              <a:latin typeface="Times New Roman"/>
              <a:cs typeface="Times New Roman"/>
            </a:endParaRPr>
          </a:p>
          <a:p>
            <a:pPr marL="97790" indent="-85090">
              <a:lnSpc>
                <a:spcPct val="100000"/>
              </a:lnSpc>
              <a:buChar char="•"/>
              <a:tabLst>
                <a:tab pos="97790" algn="l"/>
              </a:tabLst>
            </a:pPr>
            <a:r>
              <a:rPr sz="1100" b="1" dirty="0">
                <a:latin typeface="Times New Roman"/>
                <a:cs typeface="Times New Roman"/>
              </a:rPr>
              <a:t>Room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Handling: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Font typeface="Times New Roman"/>
              <a:buChar char="•"/>
            </a:pPr>
            <a:endParaRPr sz="1100">
              <a:latin typeface="Times New Roman"/>
              <a:cs typeface="Times New Roman"/>
            </a:endParaRPr>
          </a:p>
          <a:p>
            <a:pPr marL="457200" marR="373380" lvl="1" indent="-222885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Creation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Unique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Rooms: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create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distinct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identified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by </a:t>
            </a:r>
            <a:r>
              <a:rPr sz="1100" dirty="0">
                <a:latin typeface="Times New Roman"/>
                <a:cs typeface="Times New Roman"/>
              </a:rPr>
              <a:t>unique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IDs.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30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57200" marR="654050" lvl="1" indent="-222885">
              <a:lnSpc>
                <a:spcPct val="1473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Dynamic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Joining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Leaving: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leave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without </a:t>
            </a:r>
            <a:r>
              <a:rPr sz="1100" dirty="0">
                <a:latin typeface="Times New Roman"/>
                <a:cs typeface="Times New Roman"/>
              </a:rPr>
              <a:t>interrupting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other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participants'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sessions.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5"/>
              </a:spcBef>
              <a:buFont typeface="Symbol"/>
              <a:buChar char=""/>
            </a:pPr>
            <a:endParaRPr sz="1100">
              <a:latin typeface="Times New Roman"/>
              <a:cs typeface="Times New Roman"/>
            </a:endParaRPr>
          </a:p>
          <a:p>
            <a:pPr marL="457200" marR="5080" lvl="1" indent="-222885">
              <a:lnSpc>
                <a:spcPct val="146400"/>
              </a:lnSpc>
              <a:buSzPct val="86363"/>
              <a:buFont typeface="Symbol"/>
              <a:buChar char=""/>
              <a:tabLst>
                <a:tab pos="457200" algn="l"/>
              </a:tabLst>
            </a:pPr>
            <a:r>
              <a:rPr sz="1100" dirty="0">
                <a:latin typeface="Times New Roman"/>
                <a:cs typeface="Times New Roman"/>
              </a:rPr>
              <a:t>Live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current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state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instantly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synchronized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 </a:t>
            </a:r>
            <a:r>
              <a:rPr sz="1100" dirty="0">
                <a:latin typeface="Times New Roman"/>
                <a:cs typeface="Times New Roman"/>
              </a:rPr>
              <a:t>joining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collaborators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remain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sync.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57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8172" y="1319777"/>
            <a:ext cx="4869815" cy="79101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433955">
              <a:lnSpc>
                <a:spcPct val="100000"/>
              </a:lnSpc>
              <a:spcBef>
                <a:spcPts val="110"/>
              </a:spcBef>
            </a:pPr>
            <a:r>
              <a:rPr sz="1450" b="1" spc="-10" dirty="0">
                <a:latin typeface="Times New Roman"/>
                <a:cs typeface="Times New Roman"/>
              </a:rPr>
              <a:t>APPENDIX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45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buAutoNum type="arabicParenR"/>
              <a:tabLst>
                <a:tab pos="184785" algn="l"/>
              </a:tabLst>
            </a:pPr>
            <a:r>
              <a:rPr sz="1250" b="1" dirty="0">
                <a:latin typeface="Times New Roman"/>
                <a:cs typeface="Times New Roman"/>
              </a:rPr>
              <a:t>Code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and</a:t>
            </a:r>
            <a:r>
              <a:rPr sz="1250" b="1" spc="1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Explanations: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  <a:buFont typeface="Times New Roman"/>
              <a:buAutoNum type="arabicParenR"/>
            </a:pPr>
            <a:endParaRPr sz="1250">
              <a:latin typeface="Times New Roman"/>
              <a:cs typeface="Times New Roman"/>
            </a:endParaRPr>
          </a:p>
          <a:p>
            <a:pPr marL="375920" lvl="1" indent="-154940">
              <a:lnSpc>
                <a:spcPct val="100000"/>
              </a:lnSpc>
              <a:buAutoNum type="alphaLcParenR"/>
              <a:tabLst>
                <a:tab pos="375920" algn="l"/>
              </a:tabLst>
            </a:pPr>
            <a:r>
              <a:rPr sz="1100" b="1" dirty="0">
                <a:latin typeface="Times New Roman"/>
                <a:cs typeface="Times New Roman"/>
              </a:rPr>
              <a:t>Actions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for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Socket.IO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spc="-20" dirty="0">
                <a:latin typeface="Times New Roman"/>
                <a:cs typeface="Times New Roman"/>
              </a:rPr>
              <a:t>Setup</a:t>
            </a:r>
            <a:endParaRPr sz="1100">
              <a:latin typeface="Times New Roman"/>
              <a:cs typeface="Times New Roman"/>
            </a:endParaRPr>
          </a:p>
          <a:p>
            <a:pPr marL="746125" marR="3099435" indent="-280670">
              <a:lnSpc>
                <a:spcPct val="2291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JOIN: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'join', </a:t>
            </a:r>
            <a:r>
              <a:rPr sz="1100" dirty="0">
                <a:latin typeface="Times New Roman"/>
                <a:cs typeface="Times New Roman"/>
              </a:rPr>
              <a:t>JOINED: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'joined',</a:t>
            </a:r>
            <a:endParaRPr sz="1100">
              <a:latin typeface="Times New Roman"/>
              <a:cs typeface="Times New Roman"/>
            </a:endParaRPr>
          </a:p>
          <a:p>
            <a:pPr marL="746125" marR="2121535">
              <a:lnSpc>
                <a:spcPct val="228799"/>
              </a:lnSpc>
            </a:pPr>
            <a:r>
              <a:rPr sz="1100" dirty="0">
                <a:latin typeface="Times New Roman"/>
                <a:cs typeface="Times New Roman"/>
              </a:rPr>
              <a:t>DISCONNECTED: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'disconnected', </a:t>
            </a:r>
            <a:r>
              <a:rPr sz="1100" dirty="0">
                <a:latin typeface="Times New Roman"/>
                <a:cs typeface="Times New Roman"/>
              </a:rPr>
              <a:t>CODE_CHANGE: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'code-</a:t>
            </a:r>
            <a:r>
              <a:rPr sz="1100" spc="-10" dirty="0">
                <a:latin typeface="Times New Roman"/>
                <a:cs typeface="Times New Roman"/>
              </a:rPr>
              <a:t>change', </a:t>
            </a:r>
            <a:r>
              <a:rPr sz="1100" dirty="0">
                <a:latin typeface="Times New Roman"/>
                <a:cs typeface="Times New Roman"/>
              </a:rPr>
              <a:t>SYNC_CODE: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'sync-</a:t>
            </a:r>
            <a:r>
              <a:rPr sz="1100" spc="-10" dirty="0">
                <a:latin typeface="Times New Roman"/>
                <a:cs typeface="Times New Roman"/>
              </a:rPr>
              <a:t>code', </a:t>
            </a:r>
            <a:r>
              <a:rPr sz="1100" dirty="0">
                <a:latin typeface="Times New Roman"/>
                <a:cs typeface="Times New Roman"/>
              </a:rPr>
              <a:t>LEAVE: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'leave',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100">
              <a:latin typeface="Times New Roman"/>
              <a:cs typeface="Times New Roman"/>
            </a:endParaRPr>
          </a:p>
          <a:p>
            <a:pPr marL="603885">
              <a:lnSpc>
                <a:spcPct val="100000"/>
              </a:lnSpc>
            </a:pPr>
            <a:r>
              <a:rPr sz="1100" spc="-25" dirty="0">
                <a:latin typeface="Times New Roman"/>
                <a:cs typeface="Times New Roman"/>
              </a:rPr>
              <a:t>};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100">
              <a:latin typeface="Times New Roman"/>
              <a:cs typeface="Times New Roman"/>
            </a:endParaRPr>
          </a:p>
          <a:p>
            <a:pPr marL="311785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export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default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ACTIONS;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1100">
              <a:latin typeface="Times New Roman"/>
              <a:cs typeface="Times New Roman"/>
            </a:endParaRPr>
          </a:p>
          <a:p>
            <a:pPr marL="108585" marR="5080" indent="-5080" algn="just">
              <a:lnSpc>
                <a:spcPct val="112700"/>
              </a:lnSpc>
            </a:pPr>
            <a:r>
              <a:rPr sz="1100" b="1" dirty="0">
                <a:latin typeface="Times New Roman"/>
                <a:cs typeface="Times New Roman"/>
              </a:rPr>
              <a:t>Purpose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constants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used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</a:t>
            </a:r>
            <a:r>
              <a:rPr sz="1100" spc="4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4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connections,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synchronization,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session</a:t>
            </a:r>
            <a:r>
              <a:rPr sz="1100" spc="4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lifecycle</a:t>
            </a:r>
            <a:r>
              <a:rPr sz="1100" spc="4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spc="-10" dirty="0">
                <a:latin typeface="Times New Roman"/>
                <a:cs typeface="Times New Roman"/>
              </a:rPr>
              <a:t>Codemate AI.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>
              <a:latin typeface="Times New Roman"/>
              <a:cs typeface="Times New Roman"/>
            </a:endParaRPr>
          </a:p>
          <a:p>
            <a:pPr marL="264160" lvl="1" indent="-160655">
              <a:lnSpc>
                <a:spcPct val="100000"/>
              </a:lnSpc>
              <a:buAutoNum type="alphaLcParenR" startAt="2"/>
              <a:tabLst>
                <a:tab pos="264160" algn="l"/>
              </a:tabLst>
            </a:pPr>
            <a:r>
              <a:rPr sz="1100" b="1" dirty="0">
                <a:latin typeface="Times New Roman"/>
                <a:cs typeface="Times New Roman"/>
              </a:rPr>
              <a:t>Socket.js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for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establishing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refreshing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socket</a:t>
            </a:r>
            <a:r>
              <a:rPr sz="1100" b="1" spc="50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connection</a:t>
            </a:r>
            <a:endParaRPr sz="1100">
              <a:latin typeface="Times New Roman"/>
              <a:cs typeface="Times New Roman"/>
            </a:endParaRPr>
          </a:p>
          <a:p>
            <a:pPr marL="464184" marR="2286000" indent="1270">
              <a:lnSpc>
                <a:spcPct val="229100"/>
              </a:lnSpc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io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"socket.io-</a:t>
            </a:r>
            <a:r>
              <a:rPr sz="1100" spc="-10" dirty="0">
                <a:latin typeface="Times New Roman"/>
                <a:cs typeface="Times New Roman"/>
              </a:rPr>
              <a:t>client"; </a:t>
            </a:r>
            <a:r>
              <a:rPr sz="1100" dirty="0">
                <a:latin typeface="Times New Roman"/>
                <a:cs typeface="Times New Roman"/>
              </a:rPr>
              <a:t>export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initSocket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()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430530" marR="1812925" indent="33655">
              <a:lnSpc>
                <a:spcPct val="2294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io("</a:t>
            </a:r>
            <a:r>
              <a:rPr sz="1100" dirty="0">
                <a:latin typeface="Times New Roman"/>
                <a:cs typeface="Times New Roman"/>
                <a:hlinkClick r:id="rId2"/>
              </a:rPr>
              <a:t>http://localhost:5000</a:t>
            </a:r>
            <a:r>
              <a:rPr sz="1100" dirty="0">
                <a:latin typeface="Times New Roman"/>
                <a:cs typeface="Times New Roman"/>
              </a:rPr>
              <a:t>",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transports: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["websocket"],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reconnection: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true, </a:t>
            </a:r>
            <a:r>
              <a:rPr sz="1100" dirty="0">
                <a:latin typeface="Times New Roman"/>
                <a:cs typeface="Times New Roman"/>
              </a:rPr>
              <a:t>reconnectionAttempts: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10,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reconnectionDelay: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3000,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});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58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59612" y="1305085"/>
            <a:ext cx="4776470" cy="6520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marR="5080" indent="-5080" algn="just">
              <a:lnSpc>
                <a:spcPct val="111800"/>
              </a:lnSpc>
              <a:spcBef>
                <a:spcPts val="95"/>
              </a:spcBef>
            </a:pPr>
            <a:r>
              <a:rPr sz="1100" b="1" dirty="0">
                <a:latin typeface="Times New Roman"/>
                <a:cs typeface="Times New Roman"/>
              </a:rPr>
              <a:t>Purpose:</a:t>
            </a:r>
            <a:r>
              <a:rPr sz="1100" b="1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initializes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manages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persistent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WebSocket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connection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3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automatic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reconnection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support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</a:t>
            </a:r>
            <a:r>
              <a:rPr sz="1100" spc="39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in </a:t>
            </a:r>
            <a:r>
              <a:rPr sz="1100" spc="-10" dirty="0">
                <a:latin typeface="Times New Roman"/>
                <a:cs typeface="Times New Roman"/>
              </a:rPr>
              <a:t>Codemate AI.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Times New Roman"/>
                <a:cs typeface="Times New Roman"/>
              </a:rPr>
              <a:t>c)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Server.js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for</a:t>
            </a:r>
            <a:r>
              <a:rPr sz="1100" b="1" spc="4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backend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funcitonality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145"/>
              </a:spcBef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express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"express";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620"/>
              </a:spcBef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http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"http";</a:t>
            </a:r>
            <a:endParaRPr sz="1100">
              <a:latin typeface="Times New Roman"/>
              <a:cs typeface="Times New Roman"/>
            </a:endParaRPr>
          </a:p>
          <a:p>
            <a:pPr marL="480059" marR="1899285">
              <a:lnSpc>
                <a:spcPct val="1464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"socket.io";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"./src/Actions.js"; </a:t>
            </a: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app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express();</a:t>
            </a:r>
            <a:endParaRPr sz="1100">
              <a:latin typeface="Times New Roman"/>
              <a:cs typeface="Times New Roman"/>
            </a:endParaRPr>
          </a:p>
          <a:p>
            <a:pPr marL="480059" marR="2146300">
              <a:lnSpc>
                <a:spcPts val="1939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http.createServer(app); </a:t>
            </a: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new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Server(server,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624205">
              <a:lnSpc>
                <a:spcPct val="100000"/>
              </a:lnSpc>
              <a:spcBef>
                <a:spcPts val="445"/>
              </a:spcBef>
            </a:pPr>
            <a:r>
              <a:rPr sz="1100" dirty="0">
                <a:latin typeface="Times New Roman"/>
                <a:cs typeface="Times New Roman"/>
              </a:rPr>
              <a:t>cors: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765175" marR="700405">
              <a:lnSpc>
                <a:spcPts val="1939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origin: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"*",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//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your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URL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needed </a:t>
            </a:r>
            <a:r>
              <a:rPr sz="1100" dirty="0">
                <a:latin typeface="Times New Roman"/>
                <a:cs typeface="Times New Roman"/>
              </a:rPr>
              <a:t>methods: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["GET",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"POST"],</a:t>
            </a:r>
            <a:endParaRPr sz="1100">
              <a:latin typeface="Times New Roman"/>
              <a:cs typeface="Times New Roman"/>
            </a:endParaRPr>
          </a:p>
          <a:p>
            <a:pPr marL="624205">
              <a:lnSpc>
                <a:spcPct val="100000"/>
              </a:lnSpc>
              <a:spcBef>
                <a:spcPts val="434"/>
              </a:spcBef>
            </a:pPr>
            <a:r>
              <a:rPr sz="1100" spc="-25" dirty="0">
                <a:latin typeface="Times New Roman"/>
                <a:cs typeface="Times New Roman"/>
              </a:rPr>
              <a:t>},</a:t>
            </a:r>
            <a:endParaRPr sz="1100">
              <a:latin typeface="Times New Roman"/>
              <a:cs typeface="Times New Roman"/>
            </a:endParaRPr>
          </a:p>
          <a:p>
            <a:pPr marL="624205" marR="455930">
              <a:lnSpc>
                <a:spcPct val="1464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pingInterval: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25000,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//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heartbeat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every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25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seconds </a:t>
            </a:r>
            <a:r>
              <a:rPr sz="1100" dirty="0">
                <a:latin typeface="Times New Roman"/>
                <a:cs typeface="Times New Roman"/>
              </a:rPr>
              <a:t>pingTimeout: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60000,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//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Disconnect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response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60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seconds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625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userSocketMap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{};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function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getAllConnectedClients(roomId)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765175" marR="349885" indent="-141605">
              <a:lnSpc>
                <a:spcPct val="1464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Array.from(io.sockets.adapter.rooms.get(roomId)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||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[]).map( </a:t>
            </a:r>
            <a:r>
              <a:rPr sz="1100" dirty="0">
                <a:latin typeface="Times New Roman"/>
                <a:cs typeface="Times New Roman"/>
              </a:rPr>
              <a:t>(socketId)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({</a:t>
            </a:r>
            <a:endParaRPr sz="1100">
              <a:latin typeface="Times New Roman"/>
              <a:cs typeface="Times New Roman"/>
            </a:endParaRPr>
          </a:p>
          <a:p>
            <a:pPr marL="907415">
              <a:lnSpc>
                <a:spcPct val="100000"/>
              </a:lnSpc>
              <a:spcBef>
                <a:spcPts val="610"/>
              </a:spcBef>
            </a:pPr>
            <a:r>
              <a:rPr sz="1100" spc="-10" dirty="0">
                <a:latin typeface="Times New Roman"/>
                <a:cs typeface="Times New Roman"/>
              </a:rPr>
              <a:t>socketId,</a:t>
            </a:r>
            <a:endParaRPr sz="1100">
              <a:latin typeface="Times New Roman"/>
              <a:cs typeface="Times New Roman"/>
            </a:endParaRPr>
          </a:p>
          <a:p>
            <a:pPr marL="907415">
              <a:lnSpc>
                <a:spcPct val="100000"/>
              </a:lnSpc>
              <a:spcBef>
                <a:spcPts val="610"/>
              </a:spcBef>
              <a:tabLst>
                <a:tab pos="3309620" algn="l"/>
              </a:tabLst>
            </a:pPr>
            <a:r>
              <a:rPr sz="1100" dirty="0">
                <a:latin typeface="Times New Roman"/>
                <a:cs typeface="Times New Roman"/>
              </a:rPr>
              <a:t>username: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userSocketMap[socketId],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})</a:t>
            </a:r>
            <a:endParaRPr sz="1100">
              <a:latin typeface="Times New Roman"/>
              <a:cs typeface="Times New Roman"/>
            </a:endParaRPr>
          </a:p>
          <a:p>
            <a:pPr marL="624205">
              <a:lnSpc>
                <a:spcPct val="100000"/>
              </a:lnSpc>
              <a:spcBef>
                <a:spcPts val="625"/>
              </a:spcBef>
            </a:pPr>
            <a:r>
              <a:rPr sz="1100" spc="-25" dirty="0">
                <a:latin typeface="Times New Roman"/>
                <a:cs typeface="Times New Roman"/>
              </a:rPr>
              <a:t>);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61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io.on("connection",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(socket)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1312" y="7876371"/>
            <a:ext cx="28765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try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4704" y="7801897"/>
            <a:ext cx="3544570" cy="1499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62890">
              <a:lnSpc>
                <a:spcPct val="1464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socket.on(ACTIONS.JOIN,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({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roomId,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username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userSocketMap[socket.id]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username;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spc="-10" dirty="0">
                <a:latin typeface="Times New Roman"/>
                <a:cs typeface="Times New Roman"/>
              </a:rPr>
              <a:t>socket.join(roomId);</a:t>
            </a:r>
            <a:endParaRPr sz="1100">
              <a:latin typeface="Times New Roman"/>
              <a:cs typeface="Times New Roman"/>
            </a:endParaRPr>
          </a:p>
          <a:p>
            <a:pPr marL="12700" marR="746125">
              <a:lnSpc>
                <a:spcPct val="1464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clients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getAllConnectedClients(roomId); </a:t>
            </a:r>
            <a:r>
              <a:rPr sz="1100" dirty="0">
                <a:latin typeface="Times New Roman"/>
                <a:cs typeface="Times New Roman"/>
              </a:rPr>
              <a:t>clients.forEach(({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socketId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io.to(socketId).emit(ACTIONS.JOINED,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59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845811" y="1812375"/>
            <a:ext cx="17970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4704" y="2057739"/>
            <a:ext cx="180975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9521" y="1247173"/>
            <a:ext cx="1128395" cy="1007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25780">
              <a:lnSpc>
                <a:spcPct val="146400"/>
              </a:lnSpc>
              <a:spcBef>
                <a:spcPts val="95"/>
              </a:spcBef>
            </a:pPr>
            <a:r>
              <a:rPr sz="1100" spc="-10" dirty="0">
                <a:latin typeface="Times New Roman"/>
                <a:cs typeface="Times New Roman"/>
              </a:rPr>
              <a:t>clients, username,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socketId: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socket.id,</a:t>
            </a:r>
            <a:endParaRPr sz="1100">
              <a:latin typeface="Times New Roman"/>
              <a:cs typeface="Times New Roman"/>
            </a:endParaRPr>
          </a:p>
          <a:p>
            <a:pPr marL="203835">
              <a:lnSpc>
                <a:spcPct val="100000"/>
              </a:lnSpc>
              <a:spcBef>
                <a:spcPts val="615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9612" y="2228629"/>
            <a:ext cx="4779645" cy="66395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7415" marR="167640" indent="-427355">
              <a:lnSpc>
                <a:spcPct val="1473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socket.on(ACTIONS.CODE_CHANGE,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({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roomId,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socket.in(roomId).emit(ACTIONS.CODE_CHANGE,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765175">
              <a:lnSpc>
                <a:spcPct val="100000"/>
              </a:lnSpc>
              <a:spcBef>
                <a:spcPts val="600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907415" marR="358775" indent="-427355">
              <a:lnSpc>
                <a:spcPct val="1464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socket.on(ACTIONS.SYNC_CODE,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({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socketId,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io.to(socketId).emit(ACTIONS.CODE_CHANGE,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765175">
              <a:lnSpc>
                <a:spcPct val="100000"/>
              </a:lnSpc>
              <a:spcBef>
                <a:spcPts val="610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907415" marR="2025650" indent="-427355">
              <a:lnSpc>
                <a:spcPts val="1939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socket.on("disconnecting",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()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[...socket.rooms]; </a:t>
            </a:r>
            <a:r>
              <a:rPr sz="1100" dirty="0">
                <a:latin typeface="Times New Roman"/>
                <a:cs typeface="Times New Roman"/>
              </a:rPr>
              <a:t>rooms.forEach((roomId)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440"/>
              </a:spcBef>
            </a:pPr>
            <a:r>
              <a:rPr sz="1100" dirty="0">
                <a:latin typeface="Times New Roman"/>
                <a:cs typeface="Times New Roman"/>
              </a:rPr>
              <a:t>socket.in(roomId).emit(ACTIONS.DISCONNECTED,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119253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imes New Roman"/>
                <a:cs typeface="Times New Roman"/>
              </a:rPr>
              <a:t>socketId: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socket.id,</a:t>
            </a:r>
            <a:endParaRPr sz="1100">
              <a:latin typeface="Times New Roman"/>
              <a:cs typeface="Times New Roman"/>
            </a:endParaRPr>
          </a:p>
          <a:p>
            <a:pPr marL="119253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username: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userSocketMap[socket.id],</a:t>
            </a:r>
            <a:endParaRPr sz="1100">
              <a:latin typeface="Times New Roman"/>
              <a:cs typeface="Times New Roman"/>
            </a:endParaRPr>
          </a:p>
          <a:p>
            <a:pPr marL="1049655">
              <a:lnSpc>
                <a:spcPct val="100000"/>
              </a:lnSpc>
              <a:spcBef>
                <a:spcPts val="610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625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871855" marR="2385060" indent="-391795">
              <a:lnSpc>
                <a:spcPts val="1939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delete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userSocketMap[socket.id]; socket.leave();</a:t>
            </a:r>
            <a:endParaRPr sz="1100">
              <a:latin typeface="Times New Roman"/>
              <a:cs typeface="Times New Roman"/>
            </a:endParaRPr>
          </a:p>
          <a:p>
            <a:pPr marL="765175">
              <a:lnSpc>
                <a:spcPct val="100000"/>
              </a:lnSpc>
              <a:spcBef>
                <a:spcPts val="434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imes New Roman"/>
                <a:cs typeface="Times New Roman"/>
              </a:rPr>
              <a:t>}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catch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(error)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765175">
              <a:lnSpc>
                <a:spcPct val="100000"/>
              </a:lnSpc>
              <a:spcBef>
                <a:spcPts val="790"/>
              </a:spcBef>
              <a:tabLst>
                <a:tab pos="3255645" algn="l"/>
              </a:tabLst>
            </a:pPr>
            <a:r>
              <a:rPr sz="1100" spc="20" dirty="0">
                <a:latin typeface="Times New Roman"/>
                <a:cs typeface="Times New Roman"/>
              </a:rPr>
              <a:t>console.error("</a:t>
            </a:r>
            <a:r>
              <a:rPr sz="1100" spc="20" dirty="0">
                <a:latin typeface="Segoe UI Symbol"/>
                <a:cs typeface="Segoe UI Symbol"/>
              </a:rPr>
              <a:t>❌</a:t>
            </a:r>
            <a:r>
              <a:rPr sz="1100" spc="30" dirty="0">
                <a:latin typeface="Segoe UI Symbol"/>
                <a:cs typeface="Segoe UI Symbol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Socket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10" dirty="0">
                <a:latin typeface="Times New Roman"/>
                <a:cs typeface="Times New Roman"/>
              </a:rPr>
              <a:t>error:",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error);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735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620"/>
              </a:spcBef>
            </a:pP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PORT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process.env.PORT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|| </a:t>
            </a:r>
            <a:r>
              <a:rPr sz="1100" spc="-20" dirty="0">
                <a:latin typeface="Times New Roman"/>
                <a:cs typeface="Times New Roman"/>
              </a:rPr>
              <a:t>5000;</a:t>
            </a:r>
            <a:endParaRPr sz="1100">
              <a:latin typeface="Times New Roman"/>
              <a:cs typeface="Times New Roman"/>
            </a:endParaRPr>
          </a:p>
          <a:p>
            <a:pPr marL="480059">
              <a:lnSpc>
                <a:spcPct val="100000"/>
              </a:lnSpc>
              <a:spcBef>
                <a:spcPts val="780"/>
              </a:spcBef>
            </a:pPr>
            <a:r>
              <a:rPr sz="1100" dirty="0">
                <a:latin typeface="Times New Roman"/>
                <a:cs typeface="Times New Roman"/>
              </a:rPr>
              <a:t>server.listen(PORT,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()</a:t>
            </a:r>
            <a:r>
              <a:rPr sz="1100" spc="22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console.log(</a:t>
            </a:r>
            <a:r>
              <a:rPr sz="1100" dirty="0">
                <a:latin typeface="Segoe UI Symbol"/>
                <a:cs typeface="Segoe UI Symbol"/>
              </a:rPr>
              <a:t>🚀</a:t>
            </a:r>
            <a:r>
              <a:rPr sz="1100" spc="210" dirty="0">
                <a:latin typeface="Segoe UI Symbol"/>
                <a:cs typeface="Segoe UI Symbol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229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running</a:t>
            </a:r>
            <a:r>
              <a:rPr sz="1100" spc="235" dirty="0">
                <a:latin typeface="Times New Roman"/>
                <a:cs typeface="Times New Roman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on</a:t>
            </a:r>
            <a:r>
              <a:rPr sz="1100" spc="225" dirty="0">
                <a:latin typeface="Times New Roman"/>
                <a:cs typeface="Times New Roman"/>
              </a:rPr>
              <a:t>  </a:t>
            </a:r>
            <a:r>
              <a:rPr sz="1100" spc="-20" dirty="0">
                <a:latin typeface="Times New Roman"/>
                <a:cs typeface="Times New Roman"/>
              </a:rPr>
              <a:t>port</a:t>
            </a:r>
            <a:endParaRPr sz="1100">
              <a:latin typeface="Times New Roman"/>
              <a:cs typeface="Times New Roman"/>
            </a:endParaRPr>
          </a:p>
          <a:p>
            <a:pPr marL="486409">
              <a:lnSpc>
                <a:spcPct val="100000"/>
              </a:lnSpc>
              <a:spcBef>
                <a:spcPts val="745"/>
              </a:spcBef>
            </a:pPr>
            <a:r>
              <a:rPr sz="1100" spc="-10" dirty="0">
                <a:latin typeface="Times New Roman"/>
                <a:cs typeface="Times New Roman"/>
              </a:rPr>
              <a:t>${PORT}));</a:t>
            </a:r>
            <a:endParaRPr sz="1100">
              <a:latin typeface="Times New Roman"/>
              <a:cs typeface="Times New Roman"/>
            </a:endParaRPr>
          </a:p>
          <a:p>
            <a:pPr marL="17145" marR="5715" indent="-5080" algn="just">
              <a:lnSpc>
                <a:spcPct val="145900"/>
              </a:lnSpc>
              <a:spcBef>
                <a:spcPts val="1185"/>
              </a:spcBef>
            </a:pPr>
            <a:r>
              <a:rPr sz="1100" b="1" dirty="0">
                <a:latin typeface="Times New Roman"/>
                <a:cs typeface="Times New Roman"/>
              </a:rPr>
              <a:t>Purpose</a:t>
            </a:r>
            <a:r>
              <a:rPr sz="1100" dirty="0">
                <a:latin typeface="Times New Roman"/>
                <a:cs typeface="Times New Roman"/>
              </a:rPr>
              <a:t>: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sets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backend</a:t>
            </a:r>
            <a:r>
              <a:rPr sz="1100" spc="2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server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Express</a:t>
            </a:r>
            <a:r>
              <a:rPr sz="1100" spc="2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Socket.IO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to </a:t>
            </a:r>
            <a:r>
              <a:rPr sz="1100" dirty="0">
                <a:latin typeface="Times New Roman"/>
                <a:cs typeface="Times New Roman"/>
              </a:rPr>
              <a:t>manage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connections,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joining,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synchronization,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client </a:t>
            </a:r>
            <a:r>
              <a:rPr sz="1100" dirty="0">
                <a:latin typeface="Times New Roman"/>
                <a:cs typeface="Times New Roman"/>
              </a:rPr>
              <a:t>communication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Codemate AI.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60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321647"/>
            <a:ext cx="4860925" cy="78486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5270" indent="-160655">
              <a:lnSpc>
                <a:spcPct val="100000"/>
              </a:lnSpc>
              <a:spcBef>
                <a:spcPts val="120"/>
              </a:spcBef>
              <a:buAutoNum type="alphaLcParenR" startAt="4"/>
              <a:tabLst>
                <a:tab pos="255270" algn="l"/>
              </a:tabLst>
            </a:pPr>
            <a:r>
              <a:rPr sz="1100" b="1" dirty="0">
                <a:latin typeface="Times New Roman"/>
                <a:cs typeface="Times New Roman"/>
              </a:rPr>
              <a:t>Client.jsx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for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avatar</a:t>
            </a:r>
            <a:r>
              <a:rPr sz="1100" b="1" spc="4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and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other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frontend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Times New Roman"/>
              <a:buAutoNum type="alphaLcParenR" startAt="4"/>
            </a:pPr>
            <a:endParaRPr sz="1100">
              <a:latin typeface="Times New Roman"/>
              <a:cs typeface="Times New Roman"/>
            </a:endParaRPr>
          </a:p>
          <a:p>
            <a:pPr marL="457834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'react';</a:t>
            </a:r>
            <a:endParaRPr sz="1100">
              <a:latin typeface="Times New Roman"/>
              <a:cs typeface="Times New Roman"/>
            </a:endParaRPr>
          </a:p>
          <a:p>
            <a:pPr marL="433070" marR="243586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Avatar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'react-</a:t>
            </a:r>
            <a:r>
              <a:rPr sz="1100" spc="-10" dirty="0">
                <a:latin typeface="Times New Roman"/>
                <a:cs typeface="Times New Roman"/>
              </a:rPr>
              <a:t>avatar'; </a:t>
            </a: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Client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({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username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(</a:t>
            </a:r>
            <a:endParaRPr sz="1100">
              <a:latin typeface="Times New Roman"/>
              <a:cs typeface="Times New Roman"/>
            </a:endParaRPr>
          </a:p>
          <a:p>
            <a:pPr marL="57658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imes New Roman"/>
                <a:cs typeface="Times New Roman"/>
              </a:rPr>
              <a:t>&lt;div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className="client"&gt;</a:t>
            </a:r>
            <a:endParaRPr sz="1100">
              <a:latin typeface="Times New Roman"/>
              <a:cs typeface="Times New Roman"/>
            </a:endParaRPr>
          </a:p>
          <a:p>
            <a:pPr marL="648335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&lt;Avatar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name={username}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size={50}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round="14px"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/&gt;</a:t>
            </a:r>
            <a:endParaRPr sz="1100">
              <a:latin typeface="Times New Roman"/>
              <a:cs typeface="Times New Roman"/>
            </a:endParaRPr>
          </a:p>
          <a:p>
            <a:pPr marL="648335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&lt;span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className="userName"&gt;{username}&lt;/span&gt;</a:t>
            </a:r>
            <a:endParaRPr sz="1100">
              <a:latin typeface="Times New Roman"/>
              <a:cs typeface="Times New Roman"/>
            </a:endParaRPr>
          </a:p>
          <a:p>
            <a:pPr marL="576580">
              <a:lnSpc>
                <a:spcPct val="100000"/>
              </a:lnSpc>
              <a:spcBef>
                <a:spcPts val="620"/>
              </a:spcBef>
            </a:pPr>
            <a:r>
              <a:rPr sz="1100" spc="-10" dirty="0">
                <a:latin typeface="Times New Roman"/>
                <a:cs typeface="Times New Roman"/>
              </a:rPr>
              <a:t>&lt;/div&gt;</a:t>
            </a:r>
            <a:endParaRPr sz="1100">
              <a:latin typeface="Times New Roman"/>
              <a:cs typeface="Times New Roman"/>
            </a:endParaRPr>
          </a:p>
          <a:p>
            <a:pPr marL="504190">
              <a:lnSpc>
                <a:spcPct val="100000"/>
              </a:lnSpc>
              <a:spcBef>
                <a:spcPts val="615"/>
              </a:spcBef>
            </a:pPr>
            <a:r>
              <a:rPr sz="1100" spc="-25" dirty="0">
                <a:latin typeface="Times New Roman"/>
                <a:cs typeface="Times New Roman"/>
              </a:rPr>
              <a:t>);</a:t>
            </a:r>
            <a:endParaRPr sz="1100">
              <a:latin typeface="Times New Roman"/>
              <a:cs typeface="Times New Roman"/>
            </a:endParaRPr>
          </a:p>
          <a:p>
            <a:pPr marL="433070">
              <a:lnSpc>
                <a:spcPct val="100000"/>
              </a:lnSpc>
              <a:spcBef>
                <a:spcPts val="610"/>
              </a:spcBef>
            </a:pPr>
            <a:r>
              <a:rPr sz="1100" spc="-25" dirty="0">
                <a:latin typeface="Times New Roman"/>
                <a:cs typeface="Times New Roman"/>
              </a:rPr>
              <a:t>};</a:t>
            </a:r>
            <a:endParaRPr sz="1100">
              <a:latin typeface="Times New Roman"/>
              <a:cs typeface="Times New Roman"/>
            </a:endParaRPr>
          </a:p>
          <a:p>
            <a:pPr marL="43307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imes New Roman"/>
                <a:cs typeface="Times New Roman"/>
              </a:rPr>
              <a:t>export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default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Client;</a:t>
            </a:r>
            <a:endParaRPr sz="1100">
              <a:latin typeface="Times New Roman"/>
              <a:cs typeface="Times New Roman"/>
            </a:endParaRPr>
          </a:p>
          <a:p>
            <a:pPr marL="99060" marR="5080" indent="-5080">
              <a:lnSpc>
                <a:spcPct val="146400"/>
              </a:lnSpc>
            </a:pPr>
            <a:r>
              <a:rPr sz="1100" b="1" dirty="0">
                <a:latin typeface="Times New Roman"/>
                <a:cs typeface="Times New Roman"/>
              </a:rPr>
              <a:t>Purpose: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displays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user's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avatar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username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Codemate AI </a:t>
            </a:r>
            <a:r>
              <a:rPr sz="1100" dirty="0">
                <a:latin typeface="Times New Roman"/>
                <a:cs typeface="Times New Roman"/>
              </a:rPr>
              <a:t>frontend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react-avatar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library.</a:t>
            </a:r>
            <a:endParaRPr sz="1100">
              <a:latin typeface="Times New Roman"/>
              <a:cs typeface="Times New Roman"/>
            </a:endParaRPr>
          </a:p>
          <a:p>
            <a:pPr marL="234315" indent="-221615">
              <a:lnSpc>
                <a:spcPct val="100000"/>
              </a:lnSpc>
              <a:spcBef>
                <a:spcPts val="610"/>
              </a:spcBef>
              <a:buAutoNum type="alphaLcParenR" startAt="5"/>
              <a:tabLst>
                <a:tab pos="234315" algn="l"/>
              </a:tabLst>
            </a:pPr>
            <a:r>
              <a:rPr sz="1100" b="1" dirty="0">
                <a:latin typeface="Times New Roman"/>
                <a:cs typeface="Times New Roman"/>
              </a:rPr>
              <a:t>For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2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Editor</a:t>
            </a:r>
            <a:r>
              <a:rPr sz="1100" b="1" spc="3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Frontend:</a:t>
            </a:r>
            <a:endParaRPr sz="1100">
              <a:latin typeface="Times New Roman"/>
              <a:cs typeface="Times New Roman"/>
            </a:endParaRPr>
          </a:p>
          <a:p>
            <a:pPr marL="94615" marR="2023745">
              <a:lnSpc>
                <a:spcPct val="146400"/>
              </a:lnSpc>
              <a:spcBef>
                <a:spcPts val="1105"/>
              </a:spcBef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React,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useEffect,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useRef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'react'; </a:t>
            </a: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Codemirror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'codemirror';</a:t>
            </a:r>
            <a:endParaRPr sz="1100">
              <a:latin typeface="Times New Roman"/>
              <a:cs typeface="Times New Roman"/>
            </a:endParaRPr>
          </a:p>
          <a:p>
            <a:pPr marL="94615" marR="2551430">
              <a:lnSpc>
                <a:spcPct val="1464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'codemirror/lib/codemirror.css'; </a:t>
            </a: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'codemirror/theme/dracula.css';</a:t>
            </a:r>
            <a:endParaRPr sz="1100">
              <a:latin typeface="Times New Roman"/>
              <a:cs typeface="Times New Roman"/>
            </a:endParaRPr>
          </a:p>
          <a:p>
            <a:pPr marL="94615" marR="208153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'codemirror/mode/javascript/javascript'; </a:t>
            </a: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'codemirror/addon/edit/closetag';</a:t>
            </a:r>
            <a:endParaRPr sz="1100">
              <a:latin typeface="Times New Roman"/>
              <a:cs typeface="Times New Roman"/>
            </a:endParaRPr>
          </a:p>
          <a:p>
            <a:pPr marL="94615" marR="2176145">
              <a:lnSpc>
                <a:spcPct val="1464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'codemirror/addon/edit/closebrackets'; </a:t>
            </a:r>
            <a:r>
              <a:rPr sz="1100" dirty="0">
                <a:latin typeface="Times New Roman"/>
                <a:cs typeface="Times New Roman"/>
              </a:rPr>
              <a:t>import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ACTIONS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'../Actions.js';</a:t>
            </a:r>
            <a:endParaRPr sz="1100">
              <a:latin typeface="Times New Roman"/>
              <a:cs typeface="Times New Roman"/>
            </a:endParaRPr>
          </a:p>
          <a:p>
            <a:pPr marL="236854" marR="1306830" indent="-142875">
              <a:lnSpc>
                <a:spcPts val="1939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({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socketRef,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roomId,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onCodeChange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})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editorRef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useRef(null);</a:t>
            </a:r>
            <a:endParaRPr sz="1100">
              <a:latin typeface="Times New Roman"/>
              <a:cs typeface="Times New Roman"/>
            </a:endParaRPr>
          </a:p>
          <a:p>
            <a:pPr marL="236854" marR="1471295">
              <a:lnSpc>
                <a:spcPts val="1930"/>
              </a:lnSpc>
            </a:pP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textareaRef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useRef(null);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//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textarea </a:t>
            </a:r>
            <a:r>
              <a:rPr sz="1100" dirty="0">
                <a:latin typeface="Times New Roman"/>
                <a:cs typeface="Times New Roman"/>
              </a:rPr>
              <a:t>useEffect(()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377825">
              <a:lnSpc>
                <a:spcPct val="100000"/>
              </a:lnSpc>
              <a:spcBef>
                <a:spcPts val="450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(!textareaRef.current)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return;</a:t>
            </a:r>
            <a:endParaRPr sz="1100">
              <a:latin typeface="Times New Roman"/>
              <a:cs typeface="Times New Roman"/>
            </a:endParaRPr>
          </a:p>
          <a:p>
            <a:pPr marL="521970" marR="553720" indent="-144145">
              <a:lnSpc>
                <a:spcPct val="1464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editorRef.current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Codemirror.fromTextArea(textareaRef.current,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mode: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name: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'javascript',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json: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true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},</a:t>
            </a:r>
            <a:endParaRPr sz="1100">
              <a:latin typeface="Times New Roman"/>
              <a:cs typeface="Times New Roman"/>
            </a:endParaRPr>
          </a:p>
          <a:p>
            <a:pPr marL="52197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theme: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'dracula',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61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02020" y="1247173"/>
            <a:ext cx="4637405" cy="4693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180" marR="2933065">
              <a:lnSpc>
                <a:spcPct val="1464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autoCloseTags: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true, </a:t>
            </a:r>
            <a:r>
              <a:rPr sz="1100" dirty="0">
                <a:latin typeface="Times New Roman"/>
                <a:cs typeface="Times New Roman"/>
              </a:rPr>
              <a:t>autoCloseBrackets: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true, </a:t>
            </a:r>
            <a:r>
              <a:rPr sz="1100" dirty="0">
                <a:latin typeface="Times New Roman"/>
                <a:cs typeface="Times New Roman"/>
              </a:rPr>
              <a:t>lineNumbers: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true,</a:t>
            </a:r>
            <a:endParaRPr sz="1100">
              <a:latin typeface="Times New Roman"/>
              <a:cs typeface="Times New Roman"/>
            </a:endParaRPr>
          </a:p>
          <a:p>
            <a:pPr marL="153670">
              <a:lnSpc>
                <a:spcPct val="100000"/>
              </a:lnSpc>
              <a:spcBef>
                <a:spcPts val="610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297180" marR="1360170" indent="-144145">
              <a:lnSpc>
                <a:spcPct val="147300"/>
              </a:lnSpc>
            </a:pPr>
            <a:r>
              <a:rPr sz="1100" dirty="0">
                <a:latin typeface="Times New Roman"/>
                <a:cs typeface="Times New Roman"/>
              </a:rPr>
              <a:t>editorRef.current.on('change',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(instance,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changes)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origin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changes;</a:t>
            </a:r>
            <a:endParaRPr sz="1100">
              <a:latin typeface="Times New Roman"/>
              <a:cs typeface="Times New Roman"/>
            </a:endParaRPr>
          </a:p>
          <a:p>
            <a:pPr marL="297180" marR="2429510">
              <a:lnSpc>
                <a:spcPts val="1939"/>
              </a:lnSpc>
              <a:spcBef>
                <a:spcPts val="150"/>
              </a:spcBef>
            </a:pP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instance.getValue(); onCodeChange(code);</a:t>
            </a:r>
            <a:endParaRPr sz="1100">
              <a:latin typeface="Times New Roman"/>
              <a:cs typeface="Times New Roman"/>
            </a:endParaRPr>
          </a:p>
          <a:p>
            <a:pPr marL="438150" marR="5080" indent="-141605">
              <a:lnSpc>
                <a:spcPts val="1930"/>
              </a:lnSpc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(origin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!==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'setValue'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&amp;&amp;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socketRef.current)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socketRef.current.emit(ACTIONS.CODE_CHANGE,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{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roomId,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263525">
              <a:lnSpc>
                <a:spcPct val="100000"/>
              </a:lnSpc>
              <a:spcBef>
                <a:spcPts val="450"/>
              </a:spcBef>
            </a:pPr>
            <a:r>
              <a:rPr sz="1100" spc="-25" dirty="0">
                <a:latin typeface="Times New Roman"/>
                <a:cs typeface="Times New Roman"/>
              </a:rPr>
              <a:t>});</a:t>
            </a:r>
            <a:endParaRPr sz="11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29718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imes New Roman"/>
                <a:cs typeface="Times New Roman"/>
              </a:rPr>
              <a:t>editorRef.current.toTextArea();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//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Clean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up</a:t>
            </a:r>
            <a:endParaRPr sz="1100">
              <a:latin typeface="Times New Roman"/>
              <a:cs typeface="Times New Roman"/>
            </a:endParaRPr>
          </a:p>
          <a:p>
            <a:pPr marL="153670">
              <a:lnSpc>
                <a:spcPct val="100000"/>
              </a:lnSpc>
              <a:spcBef>
                <a:spcPts val="615"/>
              </a:spcBef>
              <a:tabLst>
                <a:tab pos="439420" algn="l"/>
              </a:tabLst>
            </a:pPr>
            <a:r>
              <a:rPr sz="1100" spc="-25" dirty="0">
                <a:latin typeface="Times New Roman"/>
                <a:cs typeface="Times New Roman"/>
              </a:rPr>
              <a:t>};</a:t>
            </a:r>
            <a:r>
              <a:rPr sz="1100" dirty="0">
                <a:latin typeface="Times New Roman"/>
                <a:cs typeface="Times New Roman"/>
              </a:rPr>
              <a:t>	},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[]);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100" dirty="0">
                <a:latin typeface="Times New Roman"/>
                <a:cs typeface="Times New Roman"/>
              </a:rPr>
              <a:t>useEffect(()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153670" marR="1638300">
              <a:lnSpc>
                <a:spcPts val="1939"/>
              </a:lnSpc>
              <a:spcBef>
                <a:spcPts val="150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(!socketRef.current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||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!editorRef.current)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return; </a:t>
            </a:r>
            <a:r>
              <a:rPr sz="1100" dirty="0">
                <a:latin typeface="Times New Roman"/>
                <a:cs typeface="Times New Roman"/>
              </a:rPr>
              <a:t>const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handleCodeChange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({</a:t>
            </a:r>
            <a:r>
              <a:rPr sz="1100" spc="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})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438150" marR="1846580" indent="-141605">
              <a:lnSpc>
                <a:spcPts val="1920"/>
              </a:lnSpc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(code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!==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editorRef.current.getValue())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spc="-10" dirty="0">
                <a:latin typeface="Times New Roman"/>
                <a:cs typeface="Times New Roman"/>
              </a:rPr>
              <a:t>editorRef.current.setValue(code);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4183" y="3778335"/>
            <a:ext cx="9398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612" y="5916710"/>
            <a:ext cx="4776470" cy="27292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705"/>
              </a:spcBef>
              <a:tabLst>
                <a:tab pos="792480" algn="l"/>
              </a:tabLst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};</a:t>
            </a:r>
            <a:endParaRPr sz="1100">
              <a:latin typeface="Times New Roman"/>
              <a:cs typeface="Times New Roman"/>
            </a:endParaRPr>
          </a:p>
          <a:p>
            <a:pPr marL="295910" marR="264160">
              <a:lnSpc>
                <a:spcPts val="1939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socketRef.current.on(ACTIONS.CODE_CHANGE,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handleCodeChange); </a:t>
            </a: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()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=&gt;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43942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imes New Roman"/>
                <a:cs typeface="Times New Roman"/>
              </a:rPr>
              <a:t>socketRef.current.off(ACTIONS.CODE_CHANGE,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handleCodeChange);</a:t>
            </a:r>
            <a:endParaRPr sz="1100">
              <a:latin typeface="Times New Roman"/>
              <a:cs typeface="Times New Roman"/>
            </a:endParaRPr>
          </a:p>
          <a:p>
            <a:pPr marL="295910">
              <a:lnSpc>
                <a:spcPct val="100000"/>
              </a:lnSpc>
              <a:spcBef>
                <a:spcPts val="625"/>
              </a:spcBef>
            </a:pPr>
            <a:r>
              <a:rPr sz="1100" spc="-25" dirty="0">
                <a:latin typeface="Times New Roman"/>
                <a:cs typeface="Times New Roman"/>
              </a:rPr>
              <a:t>};</a:t>
            </a:r>
            <a:endParaRPr sz="1100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imes New Roman"/>
                <a:cs typeface="Times New Roman"/>
              </a:rPr>
              <a:t>},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[socketRef,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editorRef.current]);</a:t>
            </a:r>
            <a:endParaRPr sz="1100">
              <a:latin typeface="Times New Roman"/>
              <a:cs typeface="Times New Roman"/>
            </a:endParaRPr>
          </a:p>
          <a:p>
            <a:pPr marL="15494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return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&lt;textarea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ref={textareaRef}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id="realtimeEditor"&gt;&lt;/textarea&gt;;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spc="-25" dirty="0">
                <a:latin typeface="Times New Roman"/>
                <a:cs typeface="Times New Roman"/>
              </a:rPr>
              <a:t>};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export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default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Editor;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46400"/>
              </a:lnSpc>
              <a:spcBef>
                <a:spcPts val="15"/>
              </a:spcBef>
            </a:pPr>
            <a:r>
              <a:rPr sz="1100" b="1" dirty="0">
                <a:latin typeface="Times New Roman"/>
                <a:cs typeface="Times New Roman"/>
              </a:rPr>
              <a:t>Purpose:</a:t>
            </a:r>
            <a:r>
              <a:rPr sz="1100" b="1" spc="3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component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sets</a:t>
            </a:r>
            <a:r>
              <a:rPr sz="1100" spc="3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3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real-time</a:t>
            </a:r>
            <a:r>
              <a:rPr sz="1100" spc="3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collaborative</a:t>
            </a:r>
            <a:r>
              <a:rPr sz="1100" spc="3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3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using </a:t>
            </a:r>
            <a:r>
              <a:rPr sz="1100" dirty="0">
                <a:latin typeface="Times New Roman"/>
                <a:cs typeface="Times New Roman"/>
              </a:rPr>
              <a:t>CodeMirror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synchronizes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changes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across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users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through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Socket.IO.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62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7316" y="1248697"/>
            <a:ext cx="1634489" cy="198564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234950" algn="l"/>
              </a:tabLst>
            </a:pPr>
            <a:r>
              <a:rPr sz="1100" b="1" spc="-25" dirty="0">
                <a:latin typeface="Times New Roman"/>
                <a:cs typeface="Times New Roman"/>
              </a:rPr>
              <a:t>f)</a:t>
            </a:r>
            <a:r>
              <a:rPr sz="1100" b="1" dirty="0">
                <a:latin typeface="Times New Roman"/>
                <a:cs typeface="Times New Roman"/>
              </a:rPr>
              <a:t>	CSS</a:t>
            </a:r>
            <a:r>
              <a:rPr sz="1100" b="1" spc="15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for</a:t>
            </a:r>
            <a:r>
              <a:rPr sz="1100" b="1" spc="30" dirty="0">
                <a:latin typeface="Times New Roman"/>
                <a:cs typeface="Times New Roman"/>
              </a:rPr>
              <a:t> </a:t>
            </a:r>
            <a:r>
              <a:rPr sz="1100" b="1" dirty="0">
                <a:latin typeface="Times New Roman"/>
                <a:cs typeface="Times New Roman"/>
              </a:rPr>
              <a:t>the</a:t>
            </a:r>
            <a:r>
              <a:rPr sz="1100" b="1" spc="25" dirty="0">
                <a:latin typeface="Times New Roman"/>
                <a:cs typeface="Times New Roman"/>
              </a:rPr>
              <a:t> </a:t>
            </a:r>
            <a:r>
              <a:rPr sz="1100" b="1" spc="-10" dirty="0">
                <a:latin typeface="Times New Roman"/>
                <a:cs typeface="Times New Roman"/>
              </a:rPr>
              <a:t>platfrom</a:t>
            </a:r>
            <a:endParaRPr sz="1100">
              <a:latin typeface="Times New Roman"/>
              <a:cs typeface="Times New Roman"/>
            </a:endParaRPr>
          </a:p>
          <a:p>
            <a:pPr marL="234950" marR="1002665">
              <a:lnSpc>
                <a:spcPts val="1939"/>
              </a:lnSpc>
              <a:spcBef>
                <a:spcPts val="145"/>
              </a:spcBef>
            </a:pPr>
            <a:r>
              <a:rPr sz="1100" spc="-10" dirty="0">
                <a:latin typeface="Times New Roman"/>
                <a:cs typeface="Times New Roman"/>
              </a:rPr>
              <a:t>html, </a:t>
            </a:r>
            <a:r>
              <a:rPr sz="1100" dirty="0">
                <a:latin typeface="Times New Roman"/>
                <a:cs typeface="Times New Roman"/>
              </a:rPr>
              <a:t>body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306070">
              <a:lnSpc>
                <a:spcPct val="100000"/>
              </a:lnSpc>
              <a:spcBef>
                <a:spcPts val="439"/>
              </a:spcBef>
            </a:pPr>
            <a:r>
              <a:rPr sz="1100" dirty="0">
                <a:latin typeface="Times New Roman"/>
                <a:cs typeface="Times New Roman"/>
              </a:rPr>
              <a:t>height: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100vh;</a:t>
            </a:r>
            <a:endParaRPr sz="1100">
              <a:latin typeface="Times New Roman"/>
              <a:cs typeface="Times New Roman"/>
            </a:endParaRPr>
          </a:p>
          <a:p>
            <a:pPr marL="306070" marR="57277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margin: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0;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flex;</a:t>
            </a:r>
            <a:endParaRPr sz="1100">
              <a:latin typeface="Times New Roman"/>
              <a:cs typeface="Times New Roman"/>
            </a:endParaRPr>
          </a:p>
          <a:p>
            <a:pPr marL="30607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flex-direction: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column;</a:t>
            </a:r>
            <a:endParaRPr sz="11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61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9819" y="3205513"/>
            <a:ext cx="1524000" cy="51943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20"/>
              </a:spcBef>
              <a:tabLst>
                <a:tab pos="247015" algn="l"/>
                <a:tab pos="878840" algn="l"/>
                <a:tab pos="1125855" algn="l"/>
              </a:tabLst>
            </a:pPr>
            <a:r>
              <a:rPr sz="1100" spc="-25" dirty="0">
                <a:latin typeface="Times New Roman"/>
                <a:cs typeface="Times New Roman"/>
              </a:rPr>
              <a:t>/*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Wrapper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5" dirty="0">
                <a:latin typeface="Times New Roman"/>
                <a:cs typeface="Times New Roman"/>
              </a:rPr>
              <a:t>to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ensure</a:t>
            </a:r>
            <a:endParaRPr sz="11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620"/>
              </a:spcBef>
            </a:pPr>
            <a:r>
              <a:rPr sz="1100" spc="-10" dirty="0">
                <a:latin typeface="Times New Roman"/>
                <a:cs typeface="Times New Roman"/>
              </a:rPr>
              <a:t>within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9819" y="3453925"/>
            <a:ext cx="989965" cy="516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6400"/>
              </a:lnSpc>
              <a:spcBef>
                <a:spcPts val="95"/>
              </a:spcBef>
              <a:tabLst>
                <a:tab pos="794385" algn="l"/>
              </a:tabLst>
            </a:pPr>
            <a:r>
              <a:rPr sz="1100" spc="-10" dirty="0">
                <a:latin typeface="Times New Roman"/>
                <a:cs typeface="Times New Roman"/>
              </a:rPr>
              <a:t>everything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0" dirty="0">
                <a:latin typeface="Times New Roman"/>
                <a:cs typeface="Times New Roman"/>
              </a:rPr>
              <a:t>fits </a:t>
            </a:r>
            <a:r>
              <a:rPr sz="1100" dirty="0">
                <a:latin typeface="Times New Roman"/>
                <a:cs typeface="Times New Roman"/>
              </a:rPr>
              <a:t>100vh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9819" y="3941605"/>
            <a:ext cx="1412240" cy="5423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3820" marR="161925" indent="-71755">
              <a:lnSpc>
                <a:spcPct val="1464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.homePageWrapper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height: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100vh;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flex;</a:t>
            </a:r>
            <a:endParaRPr sz="1100">
              <a:latin typeface="Times New Roman"/>
              <a:cs typeface="Times New Roman"/>
            </a:endParaRPr>
          </a:p>
          <a:p>
            <a:pPr marL="83820" marR="508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flex-direction: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column; </a:t>
            </a:r>
            <a:r>
              <a:rPr sz="1100" dirty="0">
                <a:latin typeface="Times New Roman"/>
                <a:cs typeface="Times New Roman"/>
              </a:rPr>
              <a:t>align-items: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center; </a:t>
            </a:r>
            <a:r>
              <a:rPr sz="1100" dirty="0">
                <a:latin typeface="Times New Roman"/>
                <a:cs typeface="Times New Roman"/>
              </a:rPr>
              <a:t>justify-content: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center; </a:t>
            </a:r>
            <a:r>
              <a:rPr sz="1100" dirty="0">
                <a:latin typeface="Times New Roman"/>
                <a:cs typeface="Times New Roman"/>
              </a:rPr>
              <a:t>color: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#fff;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overflow: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hidden;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Form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Styling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12700" marR="26860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.formWrapper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background-</a:t>
            </a:r>
            <a:r>
              <a:rPr sz="1100" spc="-10" dirty="0">
                <a:latin typeface="Times New Roman"/>
                <a:cs typeface="Times New Roman"/>
              </a:rPr>
              <a:t>color: #282a36;</a:t>
            </a:r>
            <a:endParaRPr sz="1100">
              <a:latin typeface="Times New Roman"/>
              <a:cs typeface="Times New Roman"/>
            </a:endParaRPr>
          </a:p>
          <a:p>
            <a:pPr marL="83820" marR="15367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20px; </a:t>
            </a:r>
            <a:r>
              <a:rPr sz="1100" dirty="0">
                <a:latin typeface="Times New Roman"/>
                <a:cs typeface="Times New Roman"/>
              </a:rPr>
              <a:t>border-radius: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10px; </a:t>
            </a:r>
            <a:r>
              <a:rPr sz="1100" dirty="0">
                <a:latin typeface="Times New Roman"/>
                <a:cs typeface="Times New Roman"/>
              </a:rPr>
              <a:t>width: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400px;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max-width: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90%;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454025" indent="-71755">
              <a:lnSpc>
                <a:spcPct val="145900"/>
              </a:lnSpc>
              <a:spcBef>
                <a:spcPts val="20"/>
              </a:spcBef>
            </a:pPr>
            <a:r>
              <a:rPr sz="1100" dirty="0">
                <a:latin typeface="Times New Roman"/>
                <a:cs typeface="Times New Roman"/>
              </a:rPr>
              <a:t>footer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position: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fixed; </a:t>
            </a:r>
            <a:r>
              <a:rPr sz="1100" dirty="0">
                <a:latin typeface="Times New Roman"/>
                <a:cs typeface="Times New Roman"/>
              </a:rPr>
              <a:t>bottom: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0;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620"/>
              </a:spcBef>
            </a:pPr>
            <a:r>
              <a:rPr sz="1100" dirty="0">
                <a:latin typeface="Times New Roman"/>
                <a:cs typeface="Times New Roman"/>
              </a:rPr>
              <a:t>width: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100%;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6080" y="1489489"/>
            <a:ext cx="1294130" cy="763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46400"/>
              </a:lnSpc>
              <a:spcBef>
                <a:spcPts val="105"/>
              </a:spcBef>
            </a:pPr>
            <a:r>
              <a:rPr sz="1100" dirty="0">
                <a:latin typeface="Times New Roman"/>
                <a:cs typeface="Times New Roman"/>
              </a:rPr>
              <a:t>text-align: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center; </a:t>
            </a:r>
            <a:r>
              <a:rPr sz="1100" dirty="0">
                <a:latin typeface="Times New Roman"/>
                <a:cs typeface="Times New Roman"/>
              </a:rPr>
              <a:t>background: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#1c1e29; </a:t>
            </a: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10px;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4876" y="2227105"/>
            <a:ext cx="1412240" cy="713803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footer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color: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#4aee88;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572770" indent="-71755">
              <a:lnSpc>
                <a:spcPts val="1939"/>
              </a:lnSpc>
              <a:spcBef>
                <a:spcPts val="150"/>
              </a:spcBef>
            </a:pPr>
            <a:r>
              <a:rPr sz="1100" dirty="0">
                <a:latin typeface="Times New Roman"/>
                <a:cs typeface="Times New Roman"/>
              </a:rPr>
              <a:t>.inputGroup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450"/>
              </a:spcBef>
            </a:pPr>
            <a:r>
              <a:rPr sz="1100" dirty="0">
                <a:latin typeface="Times New Roman"/>
                <a:cs typeface="Times New Roman"/>
              </a:rPr>
              <a:t>flex-direction: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column;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100" dirty="0">
                <a:latin typeface="Times New Roman"/>
                <a:cs typeface="Times New Roman"/>
              </a:rPr>
              <a:t>.mainLabel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83820" marR="67310">
              <a:lnSpc>
                <a:spcPts val="1930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margin-bottom: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20px; </a:t>
            </a:r>
            <a:r>
              <a:rPr sz="1100" dirty="0">
                <a:latin typeface="Times New Roman"/>
                <a:cs typeface="Times New Roman"/>
              </a:rPr>
              <a:t>margin-top: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0;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357505" indent="-7175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.homePageLogo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height: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80px;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margin-bottom: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30px;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462280" indent="-71755">
              <a:lnSpc>
                <a:spcPts val="193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.inputBox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10px;</a:t>
            </a:r>
            <a:endParaRPr sz="1100">
              <a:latin typeface="Times New Roman"/>
              <a:cs typeface="Times New Roman"/>
            </a:endParaRPr>
          </a:p>
          <a:p>
            <a:pPr marL="83820" marR="226060">
              <a:lnSpc>
                <a:spcPts val="192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border-radius: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5px; </a:t>
            </a:r>
            <a:r>
              <a:rPr sz="1100" dirty="0">
                <a:latin typeface="Times New Roman"/>
                <a:cs typeface="Times New Roman"/>
              </a:rPr>
              <a:t>outline: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none;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450"/>
              </a:spcBef>
            </a:pPr>
            <a:r>
              <a:rPr sz="1100" dirty="0">
                <a:latin typeface="Times New Roman"/>
                <a:cs typeface="Times New Roman"/>
              </a:rPr>
              <a:t>border: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none;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margin-bottom: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14px;</a:t>
            </a:r>
            <a:endParaRPr sz="1100">
              <a:latin typeface="Times New Roman"/>
              <a:cs typeface="Times New Roman"/>
            </a:endParaRPr>
          </a:p>
          <a:p>
            <a:pPr marL="83820" marR="272415">
              <a:lnSpc>
                <a:spcPct val="1459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background: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#eee; </a:t>
            </a:r>
            <a:r>
              <a:rPr sz="1100" dirty="0">
                <a:latin typeface="Times New Roman"/>
                <a:cs typeface="Times New Roman"/>
              </a:rPr>
              <a:t>font-size: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16px; </a:t>
            </a:r>
            <a:r>
              <a:rPr sz="1100" dirty="0">
                <a:latin typeface="Times New Roman"/>
                <a:cs typeface="Times New Roman"/>
              </a:rPr>
              <a:t>font-weight: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bold;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.btn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83820" marR="462280">
              <a:lnSpc>
                <a:spcPts val="1939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border: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none; </a:t>
            </a: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10px;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63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99819" y="1248697"/>
            <a:ext cx="1523365" cy="44373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83820" marR="337820">
              <a:lnSpc>
                <a:spcPct val="146100"/>
              </a:lnSpc>
              <a:spcBef>
                <a:spcPts val="85"/>
              </a:spcBef>
            </a:pPr>
            <a:r>
              <a:rPr sz="1100" dirty="0">
                <a:latin typeface="Times New Roman"/>
                <a:cs typeface="Times New Roman"/>
              </a:rPr>
              <a:t>border-radius: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5px; </a:t>
            </a:r>
            <a:r>
              <a:rPr sz="1100" dirty="0">
                <a:latin typeface="Times New Roman"/>
                <a:cs typeface="Times New Roman"/>
              </a:rPr>
              <a:t>font-size: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16px; </a:t>
            </a:r>
            <a:r>
              <a:rPr sz="1100" dirty="0">
                <a:latin typeface="Times New Roman"/>
                <a:cs typeface="Times New Roman"/>
              </a:rPr>
              <a:t>font-weight: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bold; </a:t>
            </a:r>
            <a:r>
              <a:rPr sz="1100" dirty="0">
                <a:latin typeface="Times New Roman"/>
                <a:cs typeface="Times New Roman"/>
              </a:rPr>
              <a:t>cursor: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pointer;</a:t>
            </a:r>
            <a:endParaRPr sz="1100">
              <a:latin typeface="Times New Roman"/>
              <a:cs typeface="Times New Roman"/>
            </a:endParaRPr>
          </a:p>
          <a:p>
            <a:pPr marL="12700" marR="5080" indent="7112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transition: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0.3s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ease- </a:t>
            </a:r>
            <a:r>
              <a:rPr sz="1100" dirty="0">
                <a:latin typeface="Times New Roman"/>
                <a:cs typeface="Times New Roman"/>
              </a:rPr>
              <a:t>in-</a:t>
            </a:r>
            <a:r>
              <a:rPr sz="1100" spc="-20" dirty="0">
                <a:latin typeface="Times New Roman"/>
                <a:cs typeface="Times New Roman"/>
              </a:rPr>
              <a:t>out;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spc="-10" dirty="0">
                <a:latin typeface="Times New Roman"/>
                <a:cs typeface="Times New Roman"/>
              </a:rPr>
              <a:t>.joinBtn,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.leaveBtn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12700" marR="379730" indent="71120">
              <a:lnSpc>
                <a:spcPct val="1464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background-</a:t>
            </a:r>
            <a:r>
              <a:rPr sz="1100" spc="-10" dirty="0">
                <a:latin typeface="Times New Roman"/>
                <a:cs typeface="Times New Roman"/>
              </a:rPr>
              <a:t>color: #4aee88;</a:t>
            </a:r>
            <a:endParaRPr sz="1100">
              <a:latin typeface="Times New Roman"/>
              <a:cs typeface="Times New Roman"/>
            </a:endParaRPr>
          </a:p>
          <a:p>
            <a:pPr marL="83820" marR="430530">
              <a:lnSpc>
                <a:spcPts val="1939"/>
              </a:lnSpc>
              <a:spcBef>
                <a:spcPts val="150"/>
              </a:spcBef>
            </a:pPr>
            <a:r>
              <a:rPr sz="1100" dirty="0">
                <a:latin typeface="Times New Roman"/>
                <a:cs typeface="Times New Roman"/>
              </a:rPr>
              <a:t>width: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100px; </a:t>
            </a:r>
            <a:r>
              <a:rPr sz="1100" dirty="0">
                <a:latin typeface="Times New Roman"/>
                <a:cs typeface="Times New Roman"/>
              </a:rPr>
              <a:t>margin-left: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auto;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spc="-10" dirty="0">
                <a:latin typeface="Times New Roman"/>
                <a:cs typeface="Times New Roman"/>
              </a:rPr>
              <a:t>.joinBtn:hover,</a:t>
            </a:r>
            <a:endParaRPr sz="1100">
              <a:latin typeface="Times New Roman"/>
              <a:cs typeface="Times New Roman"/>
            </a:endParaRPr>
          </a:p>
          <a:p>
            <a:pPr marL="83820" marR="154305" indent="-7175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.leaveBtn:hover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background: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#2b824c;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9819" y="5907564"/>
            <a:ext cx="1523365" cy="3457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3820" marR="400050" indent="-71755">
              <a:lnSpc>
                <a:spcPct val="1459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.createInfo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margin: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auto; </a:t>
            </a:r>
            <a:r>
              <a:rPr sz="1100" dirty="0">
                <a:latin typeface="Times New Roman"/>
                <a:cs typeface="Times New Roman"/>
              </a:rPr>
              <a:t>margin-top: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20px;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548640" indent="-71755">
              <a:lnSpc>
                <a:spcPts val="1930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.createNewBtn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color: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#4aee88;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imes New Roman"/>
                <a:cs typeface="Times New Roman"/>
              </a:rPr>
              <a:t>text-decoration: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none;</a:t>
            </a:r>
            <a:endParaRPr sz="1100">
              <a:latin typeface="Times New Roman"/>
              <a:cs typeface="Times New Roman"/>
            </a:endParaRPr>
          </a:p>
          <a:p>
            <a:pPr marL="12700" marR="5715" indent="71120">
              <a:lnSpc>
                <a:spcPct val="1464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border-bottom: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1px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solid </a:t>
            </a:r>
            <a:r>
              <a:rPr sz="1100" spc="-10" dirty="0">
                <a:latin typeface="Times New Roman"/>
                <a:cs typeface="Times New Roman"/>
              </a:rPr>
              <a:t>#4aee88;</a:t>
            </a:r>
            <a:endParaRPr sz="1100">
              <a:latin typeface="Times New Roman"/>
              <a:cs typeface="Times New Roman"/>
            </a:endParaRPr>
          </a:p>
          <a:p>
            <a:pPr marL="12700" marR="5080" indent="71120">
              <a:lnSpc>
                <a:spcPts val="1939"/>
              </a:lnSpc>
              <a:spcBef>
                <a:spcPts val="150"/>
              </a:spcBef>
            </a:pPr>
            <a:r>
              <a:rPr sz="1100" dirty="0">
                <a:latin typeface="Times New Roman"/>
                <a:cs typeface="Times New Roman"/>
              </a:rPr>
              <a:t>transition: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2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0.3s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ease- </a:t>
            </a:r>
            <a:r>
              <a:rPr sz="1100" dirty="0">
                <a:latin typeface="Times New Roman"/>
                <a:cs typeface="Times New Roman"/>
              </a:rPr>
              <a:t>in-</a:t>
            </a:r>
            <a:r>
              <a:rPr sz="1100" spc="-20" dirty="0">
                <a:latin typeface="Times New Roman"/>
                <a:cs typeface="Times New Roman"/>
              </a:rPr>
              <a:t>out;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 marR="254000">
              <a:lnSpc>
                <a:spcPts val="1939"/>
              </a:lnSpc>
              <a:spcBef>
                <a:spcPts val="100"/>
              </a:spcBef>
            </a:pPr>
            <a:r>
              <a:rPr sz="1100" spc="-10" dirty="0">
                <a:latin typeface="Times New Roman"/>
                <a:cs typeface="Times New Roman"/>
              </a:rPr>
              <a:t>.createNewBtn:hover, </a:t>
            </a:r>
            <a:r>
              <a:rPr sz="1100" dirty="0">
                <a:latin typeface="Times New Roman"/>
                <a:cs typeface="Times New Roman"/>
              </a:rPr>
              <a:t>footer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a:hover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6080" y="1248697"/>
            <a:ext cx="1350645" cy="5130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dirty="0">
                <a:latin typeface="Times New Roman"/>
                <a:cs typeface="Times New Roman"/>
              </a:rPr>
              <a:t>color: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#368654;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border-color: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#368654;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4876" y="1739425"/>
            <a:ext cx="1523365" cy="76257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ts val="193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Main</a:t>
            </a:r>
            <a:r>
              <a:rPr sz="1100" spc="40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Layout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-</a:t>
            </a:r>
            <a:r>
              <a:rPr sz="1100" spc="40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Code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+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Sidebar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83820" marR="677545" indent="-71755">
              <a:lnSpc>
                <a:spcPts val="193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.mainWrap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grid;</a:t>
            </a:r>
            <a:endParaRPr sz="1100">
              <a:latin typeface="Times New Roman"/>
              <a:cs typeface="Times New Roman"/>
            </a:endParaRPr>
          </a:p>
          <a:p>
            <a:pPr marL="12700" marR="96520" indent="71120">
              <a:lnSpc>
                <a:spcPts val="192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grid-template-</a:t>
            </a:r>
            <a:r>
              <a:rPr sz="1100" spc="-10" dirty="0">
                <a:latin typeface="Times New Roman"/>
                <a:cs typeface="Times New Roman"/>
              </a:rPr>
              <a:t>columns: </a:t>
            </a:r>
            <a:r>
              <a:rPr sz="1100" dirty="0">
                <a:latin typeface="Times New Roman"/>
                <a:cs typeface="Times New Roman"/>
              </a:rPr>
              <a:t>230px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1fr;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459"/>
              </a:spcBef>
            </a:pPr>
            <a:r>
              <a:rPr sz="1100" dirty="0">
                <a:latin typeface="Times New Roman"/>
                <a:cs typeface="Times New Roman"/>
              </a:rPr>
              <a:t>height: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100vh;</a:t>
            </a:r>
            <a:endParaRPr sz="1100">
              <a:latin typeface="Times New Roman"/>
              <a:cs typeface="Times New Roman"/>
            </a:endParaRPr>
          </a:p>
          <a:p>
            <a:pPr marL="83820" marR="415925">
              <a:lnSpc>
                <a:spcPct val="1455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bottom: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0; </a:t>
            </a:r>
            <a:r>
              <a:rPr sz="1100" dirty="0">
                <a:latin typeface="Times New Roman"/>
                <a:cs typeface="Times New Roman"/>
              </a:rPr>
              <a:t>overflow: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hidden;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Sidebar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.aside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83820" marR="16256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background: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#1c1e29; </a:t>
            </a: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16px;</a:t>
            </a:r>
            <a:endParaRPr sz="1100">
              <a:latin typeface="Times New Roman"/>
              <a:cs typeface="Times New Roman"/>
            </a:endParaRPr>
          </a:p>
          <a:p>
            <a:pPr marL="83820" marR="683895">
              <a:lnSpc>
                <a:spcPct val="1455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color: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#fff;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imes New Roman"/>
                <a:cs typeface="Times New Roman"/>
              </a:rPr>
              <a:t>flex-direction: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column;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769620" indent="-71755">
              <a:lnSpc>
                <a:spcPts val="1939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.asideInner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flex: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683895" indent="-71755">
              <a:lnSpc>
                <a:spcPct val="1455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.clientsList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flex;</a:t>
            </a:r>
            <a:endParaRPr sz="1100">
              <a:latin typeface="Times New Roman"/>
              <a:cs typeface="Times New Roman"/>
            </a:endParaRPr>
          </a:p>
          <a:p>
            <a:pPr marL="83820" marR="328295">
              <a:lnSpc>
                <a:spcPct val="145900"/>
              </a:lnSpc>
              <a:spcBef>
                <a:spcPts val="20"/>
              </a:spcBef>
            </a:pPr>
            <a:r>
              <a:rPr sz="1100" dirty="0">
                <a:latin typeface="Times New Roman"/>
                <a:cs typeface="Times New Roman"/>
              </a:rPr>
              <a:t>align-items: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center; </a:t>
            </a:r>
            <a:r>
              <a:rPr sz="1100" dirty="0">
                <a:latin typeface="Times New Roman"/>
                <a:cs typeface="Times New Roman"/>
              </a:rPr>
              <a:t>flex-wrap: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wrap; </a:t>
            </a:r>
            <a:r>
              <a:rPr sz="1100" dirty="0">
                <a:latin typeface="Times New Roman"/>
                <a:cs typeface="Times New Roman"/>
              </a:rPr>
              <a:t>gap: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20px;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683895" indent="-71755">
              <a:lnSpc>
                <a:spcPts val="193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.client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459"/>
              </a:spcBef>
            </a:pPr>
            <a:r>
              <a:rPr sz="1100" dirty="0">
                <a:latin typeface="Times New Roman"/>
                <a:cs typeface="Times New Roman"/>
              </a:rPr>
              <a:t>align-items: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center;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64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171024" y="1248697"/>
            <a:ext cx="13411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55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flex-direction: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column; </a:t>
            </a:r>
            <a:r>
              <a:rPr sz="1100" dirty="0">
                <a:latin typeface="Times New Roman"/>
                <a:cs typeface="Times New Roman"/>
              </a:rPr>
              <a:t>font-weight: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bold;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9819" y="1739425"/>
            <a:ext cx="1522730" cy="76257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398780" indent="-71755">
              <a:lnSpc>
                <a:spcPts val="1930"/>
              </a:lnSpc>
              <a:spcBef>
                <a:spcPts val="155"/>
              </a:spcBef>
            </a:pPr>
            <a:r>
              <a:rPr sz="1100" dirty="0">
                <a:latin typeface="Times New Roman"/>
                <a:cs typeface="Times New Roman"/>
              </a:rPr>
              <a:t>.username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margin-top: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10px;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dirty="0">
                <a:latin typeface="Times New Roman"/>
                <a:cs typeface="Times New Roman"/>
              </a:rPr>
              <a:t>.logo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12700" marR="5080" indent="71120">
              <a:lnSpc>
                <a:spcPct val="145500"/>
              </a:lnSpc>
              <a:spcBef>
                <a:spcPts val="10"/>
              </a:spcBef>
            </a:pPr>
            <a:r>
              <a:rPr sz="1100" dirty="0">
                <a:latin typeface="Times New Roman"/>
                <a:cs typeface="Times New Roman"/>
              </a:rPr>
              <a:t>border-bottom: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1px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solid </a:t>
            </a:r>
            <a:r>
              <a:rPr sz="1100" spc="-10" dirty="0">
                <a:latin typeface="Times New Roman"/>
                <a:cs typeface="Times New Roman"/>
              </a:rPr>
              <a:t>#424242;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625"/>
              </a:spcBef>
            </a:pPr>
            <a:r>
              <a:rPr sz="1100" dirty="0">
                <a:latin typeface="Times New Roman"/>
                <a:cs typeface="Times New Roman"/>
              </a:rPr>
              <a:t>padding-bottom: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10px;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83820" marR="676275" indent="-71755">
              <a:lnSpc>
                <a:spcPts val="1939"/>
              </a:lnSpc>
              <a:spcBef>
                <a:spcPts val="145"/>
              </a:spcBef>
            </a:pPr>
            <a:r>
              <a:rPr sz="1100" dirty="0">
                <a:latin typeface="Times New Roman"/>
                <a:cs typeface="Times New Roman"/>
              </a:rPr>
              <a:t>.logoImage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height: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60px;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.leaveBtn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</a:t>
            </a:r>
            <a:endParaRPr sz="1100">
              <a:latin typeface="Times New Roman"/>
              <a:cs typeface="Times New Roman"/>
            </a:endParaRPr>
          </a:p>
          <a:p>
            <a:pPr marL="83820" marR="39878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margin-top: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20px; </a:t>
            </a:r>
            <a:r>
              <a:rPr sz="1100" dirty="0">
                <a:latin typeface="Times New Roman"/>
                <a:cs typeface="Times New Roman"/>
              </a:rPr>
              <a:t>width: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100%;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83820" marR="468630" indent="-71755">
              <a:lnSpc>
                <a:spcPct val="145500"/>
              </a:lnSpc>
              <a:spcBef>
                <a:spcPts val="25"/>
              </a:spcBef>
            </a:pPr>
            <a:r>
              <a:rPr sz="1100" dirty="0">
                <a:latin typeface="Times New Roman"/>
                <a:cs typeface="Times New Roman"/>
              </a:rPr>
              <a:t>.editorContainer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flex;</a:t>
            </a:r>
            <a:endParaRPr sz="1100">
              <a:latin typeface="Times New Roman"/>
              <a:cs typeface="Times New Roman"/>
            </a:endParaRPr>
          </a:p>
          <a:p>
            <a:pPr marL="83820" marR="115570">
              <a:lnSpc>
                <a:spcPts val="1939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flex-direction: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column; </a:t>
            </a:r>
            <a:r>
              <a:rPr sz="1100" dirty="0">
                <a:latin typeface="Times New Roman"/>
                <a:cs typeface="Times New Roman"/>
              </a:rPr>
              <a:t>height: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100vh;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100%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Styling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83820" marR="681355" indent="-71755">
              <a:lnSpc>
                <a:spcPct val="1464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.CodeMirror</a:t>
            </a:r>
            <a:r>
              <a:rPr sz="1100" spc="105" dirty="0">
                <a:latin typeface="Times New Roman"/>
                <a:cs typeface="Times New Roman"/>
              </a:rPr>
              <a:t> </a:t>
            </a:r>
            <a:r>
              <a:rPr sz="1100" spc="-6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flex-grow: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1;</a:t>
            </a:r>
            <a:endParaRPr sz="1100">
              <a:latin typeface="Times New Roman"/>
              <a:cs typeface="Times New Roman"/>
            </a:endParaRPr>
          </a:p>
          <a:p>
            <a:pPr marL="12700" marR="5080" indent="71120">
              <a:lnSpc>
                <a:spcPts val="1939"/>
              </a:lnSpc>
              <a:spcBef>
                <a:spcPts val="145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1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Takes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up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all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available </a:t>
            </a:r>
            <a:r>
              <a:rPr sz="1100" dirty="0">
                <a:latin typeface="Times New Roman"/>
                <a:cs typeface="Times New Roman"/>
              </a:rPr>
              <a:t>space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imes New Roman"/>
                <a:cs typeface="Times New Roman"/>
              </a:rPr>
              <a:t>font-size: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20px;</a:t>
            </a:r>
            <a:endParaRPr sz="1100">
              <a:latin typeface="Times New Roman"/>
              <a:cs typeface="Times New Roman"/>
            </a:endParaRPr>
          </a:p>
          <a:p>
            <a:pPr marL="83820" marR="521970">
              <a:lnSpc>
                <a:spcPts val="1939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line-height: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1.6; </a:t>
            </a: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10px;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86080" y="1248697"/>
            <a:ext cx="1303020" cy="7600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46400"/>
              </a:lnSpc>
              <a:spcBef>
                <a:spcPts val="80"/>
              </a:spcBef>
            </a:pPr>
            <a:r>
              <a:rPr sz="1100" dirty="0">
                <a:latin typeface="Times New Roman"/>
                <a:cs typeface="Times New Roman"/>
              </a:rPr>
              <a:t>background: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#282a36; </a:t>
            </a:r>
            <a:r>
              <a:rPr sz="1100" dirty="0">
                <a:latin typeface="Times New Roman"/>
                <a:cs typeface="Times New Roman"/>
              </a:rPr>
              <a:t>border-radius: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5px; </a:t>
            </a:r>
            <a:r>
              <a:rPr sz="1100" dirty="0">
                <a:latin typeface="Times New Roman"/>
                <a:cs typeface="Times New Roman"/>
              </a:rPr>
              <a:t>overflow: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hidden;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4876" y="1981741"/>
            <a:ext cx="996950" cy="174307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Bottom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Bar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.bottomSection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flex; </a:t>
            </a:r>
            <a:r>
              <a:rPr sz="1100" dirty="0">
                <a:latin typeface="Times New Roman"/>
                <a:cs typeface="Times New Roman"/>
              </a:rPr>
              <a:t>justify-</a:t>
            </a:r>
            <a:r>
              <a:rPr sz="1100" spc="-10" dirty="0">
                <a:latin typeface="Times New Roman"/>
                <a:cs typeface="Times New Roman"/>
              </a:rPr>
              <a:t>content: between; </a:t>
            </a: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10px;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0059" y="3037671"/>
            <a:ext cx="38862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0" dirty="0">
                <a:latin typeface="Times New Roman"/>
                <a:cs typeface="Times New Roman"/>
              </a:rPr>
              <a:t>space-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6080" y="3773763"/>
            <a:ext cx="130302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latin typeface="Times New Roman"/>
                <a:cs typeface="Times New Roman"/>
              </a:rPr>
              <a:t>background: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#282a36;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4876" y="3941605"/>
            <a:ext cx="1442720" cy="517652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Language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Selection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83820" marR="256540" indent="-71755">
              <a:lnSpc>
                <a:spcPts val="1930"/>
              </a:lnSpc>
              <a:spcBef>
                <a:spcPts val="160"/>
              </a:spcBef>
            </a:pPr>
            <a:r>
              <a:rPr sz="1100" dirty="0">
                <a:latin typeface="Times New Roman"/>
                <a:cs typeface="Times New Roman"/>
              </a:rPr>
              <a:t>.languageSelect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8px; </a:t>
            </a:r>
            <a:r>
              <a:rPr sz="1100" dirty="0">
                <a:latin typeface="Times New Roman"/>
                <a:cs typeface="Times New Roman"/>
              </a:rPr>
              <a:t>border-radius: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5px;</a:t>
            </a:r>
            <a:endParaRPr sz="1100">
              <a:latin typeface="Times New Roman"/>
              <a:cs typeface="Times New Roman"/>
            </a:endParaRPr>
          </a:p>
          <a:p>
            <a:pPr marL="83820" marR="97155">
              <a:lnSpc>
                <a:spcPts val="1930"/>
              </a:lnSpc>
              <a:spcBef>
                <a:spcPts val="5"/>
              </a:spcBef>
            </a:pPr>
            <a:r>
              <a:rPr sz="1100" dirty="0">
                <a:latin typeface="Times New Roman"/>
                <a:cs typeface="Times New Roman"/>
              </a:rPr>
              <a:t>background: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#2d2f2e; </a:t>
            </a:r>
            <a:r>
              <a:rPr sz="1100" dirty="0">
                <a:latin typeface="Times New Roman"/>
                <a:cs typeface="Times New Roman"/>
              </a:rPr>
              <a:t>color: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white;</a:t>
            </a:r>
            <a:endParaRPr sz="110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imes New Roman"/>
                <a:cs typeface="Times New Roman"/>
              </a:rPr>
              <a:t>border: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none;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Run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Button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12700" marR="29908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.runBtn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background-</a:t>
            </a:r>
            <a:r>
              <a:rPr sz="1100" spc="-10" dirty="0">
                <a:latin typeface="Times New Roman"/>
                <a:cs typeface="Times New Roman"/>
              </a:rPr>
              <a:t>color: #b8e362;</a:t>
            </a:r>
            <a:endParaRPr sz="1100">
              <a:latin typeface="Times New Roman"/>
              <a:cs typeface="Times New Roman"/>
            </a:endParaRPr>
          </a:p>
          <a:p>
            <a:pPr marL="83820" marR="17335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10px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15px; </a:t>
            </a:r>
            <a:r>
              <a:rPr sz="1100" dirty="0">
                <a:latin typeface="Times New Roman"/>
                <a:cs typeface="Times New Roman"/>
              </a:rPr>
              <a:t>border-radius: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5px; </a:t>
            </a:r>
            <a:r>
              <a:rPr sz="1100" dirty="0">
                <a:latin typeface="Times New Roman"/>
                <a:cs typeface="Times New Roman"/>
              </a:rPr>
              <a:t>border: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none;</a:t>
            </a:r>
            <a:r>
              <a:rPr sz="1100" spc="5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cursor: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pointer;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Output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Window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</a:t>
            </a:r>
            <a:endParaRPr sz="1100">
              <a:latin typeface="Times New Roman"/>
              <a:cs typeface="Times New Roman"/>
            </a:endParaRPr>
          </a:p>
          <a:p>
            <a:pPr marL="83820" marR="67310" indent="-71755">
              <a:lnSpc>
                <a:spcPts val="1930"/>
              </a:lnSpc>
              <a:spcBef>
                <a:spcPts val="100"/>
              </a:spcBef>
            </a:pPr>
            <a:r>
              <a:rPr sz="1100" dirty="0">
                <a:latin typeface="Times New Roman"/>
                <a:cs typeface="Times New Roman"/>
              </a:rPr>
              <a:t>.outputWindow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{ </a:t>
            </a:r>
            <a:r>
              <a:rPr sz="1100" dirty="0">
                <a:latin typeface="Times New Roman"/>
                <a:cs typeface="Times New Roman"/>
              </a:rPr>
              <a:t>background: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#242426;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P</a:t>
            </a:r>
            <a:r>
              <a:rPr spc="15" dirty="0"/>
              <a:t> </a:t>
            </a:r>
            <a:r>
              <a:rPr dirty="0"/>
              <a:t>a g</a:t>
            </a:r>
            <a:r>
              <a:rPr spc="10" dirty="0"/>
              <a:t> </a:t>
            </a:r>
            <a:r>
              <a:rPr dirty="0"/>
              <a:t>e</a:t>
            </a:r>
            <a:r>
              <a:rPr spc="25" dirty="0"/>
              <a:t> </a:t>
            </a:r>
            <a:r>
              <a:rPr dirty="0">
                <a:solidFill>
                  <a:srgbClr val="000000"/>
                </a:solidFill>
              </a:rPr>
              <a:t>| </a:t>
            </a:r>
            <a:fld id="{81D60167-4931-47E6-BA6A-407CBD079E47}" type="slidenum">
              <a:rPr spc="-25" dirty="0">
                <a:solidFill>
                  <a:srgbClr val="000000"/>
                </a:solidFill>
              </a:rPr>
              <a:t>65</a:t>
            </a:fld>
            <a:endParaRPr spc="-25" dirty="0">
              <a:solidFill>
                <a:srgbClr val="000000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99819" y="1248697"/>
            <a:ext cx="1524000" cy="296545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695"/>
              </a:spcBef>
              <a:tabLst>
                <a:tab pos="596900" algn="l"/>
                <a:tab pos="1262380" algn="l"/>
              </a:tabLst>
            </a:pPr>
            <a:r>
              <a:rPr sz="1100" spc="-10" dirty="0">
                <a:latin typeface="Times New Roman"/>
                <a:cs typeface="Times New Roman"/>
              </a:rPr>
              <a:t>color: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rgb(246,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20" dirty="0">
                <a:latin typeface="Times New Roman"/>
                <a:cs typeface="Times New Roman"/>
              </a:rPr>
              <a:t>232,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10" dirty="0">
                <a:latin typeface="Times New Roman"/>
                <a:cs typeface="Times New Roman"/>
              </a:rPr>
              <a:t>232);</a:t>
            </a:r>
            <a:endParaRPr sz="1100">
              <a:latin typeface="Times New Roman"/>
              <a:cs typeface="Times New Roman"/>
            </a:endParaRPr>
          </a:p>
          <a:p>
            <a:pPr marL="83820" marR="337820">
              <a:lnSpc>
                <a:spcPct val="1461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padding: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15px; </a:t>
            </a:r>
            <a:r>
              <a:rPr sz="1100" dirty="0">
                <a:latin typeface="Times New Roman"/>
                <a:cs typeface="Times New Roman"/>
              </a:rPr>
              <a:t>border-radius: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5px; </a:t>
            </a:r>
            <a:r>
              <a:rPr sz="1100" dirty="0">
                <a:latin typeface="Times New Roman"/>
                <a:cs typeface="Times New Roman"/>
              </a:rPr>
              <a:t>overflow: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auto; </a:t>
            </a:r>
            <a:r>
              <a:rPr sz="1100" dirty="0">
                <a:latin typeface="Times New Roman"/>
                <a:cs typeface="Times New Roman"/>
              </a:rPr>
              <a:t>height: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27vh;</a:t>
            </a:r>
            <a:endParaRPr sz="1100">
              <a:latin typeface="Times New Roman"/>
              <a:cs typeface="Times New Roman"/>
            </a:endParaRPr>
          </a:p>
          <a:p>
            <a:pPr marL="83820" marR="266065">
              <a:lnSpc>
                <a:spcPct val="146400"/>
              </a:lnSpc>
            </a:pPr>
            <a:r>
              <a:rPr sz="1100" dirty="0">
                <a:latin typeface="Times New Roman"/>
                <a:cs typeface="Times New Roman"/>
              </a:rPr>
              <a:t>/*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resize: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vertical;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*/ </a:t>
            </a:r>
            <a:r>
              <a:rPr sz="1100" dirty="0">
                <a:latin typeface="Times New Roman"/>
                <a:cs typeface="Times New Roman"/>
              </a:rPr>
              <a:t>margin-bottom:</a:t>
            </a:r>
            <a:r>
              <a:rPr sz="1100" spc="9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0;</a:t>
            </a:r>
            <a:endParaRPr sz="1100">
              <a:latin typeface="Times New Roman"/>
              <a:cs typeface="Times New Roman"/>
            </a:endParaRPr>
          </a:p>
          <a:p>
            <a:pPr marL="83820" marR="684530">
              <a:lnSpc>
                <a:spcPts val="1939"/>
              </a:lnSpc>
              <a:spcBef>
                <a:spcPts val="145"/>
              </a:spcBef>
            </a:pPr>
            <a:r>
              <a:rPr sz="1100" dirty="0">
                <a:latin typeface="Times New Roman"/>
                <a:cs typeface="Times New Roman"/>
              </a:rPr>
              <a:t>flex-grow: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1; </a:t>
            </a:r>
            <a:r>
              <a:rPr sz="1100" dirty="0">
                <a:latin typeface="Times New Roman"/>
                <a:cs typeface="Times New Roman"/>
              </a:rPr>
              <a:t>display: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flex;</a:t>
            </a:r>
            <a:endParaRPr sz="1100">
              <a:latin typeface="Times New Roman"/>
              <a:cs typeface="Times New Roman"/>
            </a:endParaRPr>
          </a:p>
          <a:p>
            <a:pPr marL="83820" marR="116205">
              <a:lnSpc>
                <a:spcPts val="1920"/>
              </a:lnSpc>
            </a:pPr>
            <a:r>
              <a:rPr sz="1100" dirty="0">
                <a:latin typeface="Times New Roman"/>
                <a:cs typeface="Times New Roman"/>
              </a:rPr>
              <a:t>flex-direction: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column; </a:t>
            </a:r>
            <a:r>
              <a:rPr sz="1100" dirty="0">
                <a:latin typeface="Times New Roman"/>
                <a:cs typeface="Times New Roman"/>
              </a:rPr>
              <a:t>align-self: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flex-</a:t>
            </a:r>
            <a:r>
              <a:rPr sz="1100" spc="-10" dirty="0">
                <a:latin typeface="Times New Roman"/>
                <a:cs typeface="Times New Roman"/>
              </a:rPr>
              <a:t>start;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6" y="4191541"/>
            <a:ext cx="5812790" cy="1447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4950" marR="4071620" indent="71120">
              <a:lnSpc>
                <a:spcPct val="145900"/>
              </a:lnSpc>
              <a:spcBef>
                <a:spcPts val="90"/>
              </a:spcBef>
              <a:tabLst>
                <a:tab pos="624840" algn="l"/>
                <a:tab pos="1282700" algn="l"/>
              </a:tabLst>
            </a:pPr>
            <a:r>
              <a:rPr sz="1100" spc="-25" dirty="0">
                <a:latin typeface="Times New Roman"/>
                <a:cs typeface="Times New Roman"/>
              </a:rPr>
              <a:t>/*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Ensures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10" dirty="0">
                <a:latin typeface="Times New Roman"/>
                <a:cs typeface="Times New Roman"/>
              </a:rPr>
              <a:t>resizing </a:t>
            </a:r>
            <a:r>
              <a:rPr sz="1100" dirty="0">
                <a:latin typeface="Times New Roman"/>
                <a:cs typeface="Times New Roman"/>
              </a:rPr>
              <a:t>happens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from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top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*/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} </a:t>
            </a:r>
            <a:r>
              <a:rPr sz="1100" spc="-10" dirty="0">
                <a:latin typeface="Times New Roman"/>
                <a:cs typeface="Times New Roman"/>
              </a:rPr>
              <a:t>textarea{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06400"/>
              </a:lnSpc>
            </a:pPr>
            <a:r>
              <a:rPr sz="1100" b="1" dirty="0">
                <a:latin typeface="Times New Roman"/>
                <a:cs typeface="Times New Roman"/>
              </a:rPr>
              <a:t>Purpose:</a:t>
            </a:r>
            <a:r>
              <a:rPr sz="1100" b="1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This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CSS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styles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the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Codemate AI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platform’s</a:t>
            </a:r>
            <a:r>
              <a:rPr sz="1100" spc="-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interface,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ensuring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responsive,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user-</a:t>
            </a:r>
            <a:r>
              <a:rPr sz="1100" spc="-10" dirty="0">
                <a:latin typeface="Times New Roman"/>
                <a:cs typeface="Times New Roman"/>
              </a:rPr>
              <a:t>friendly,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visually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cohesive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layout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code</a:t>
            </a:r>
            <a:r>
              <a:rPr sz="1100" spc="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editing,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collaboration,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and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navigation.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4876" y="1248697"/>
            <a:ext cx="1148715" cy="149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1120">
              <a:lnSpc>
                <a:spcPct val="145500"/>
              </a:lnSpc>
              <a:spcBef>
                <a:spcPts val="95"/>
              </a:spcBef>
            </a:pPr>
            <a:r>
              <a:rPr sz="1100" dirty="0">
                <a:latin typeface="Times New Roman"/>
                <a:cs typeface="Times New Roman"/>
              </a:rPr>
              <a:t>background-</a:t>
            </a:r>
            <a:r>
              <a:rPr sz="1100" spc="-10" dirty="0">
                <a:latin typeface="Times New Roman"/>
                <a:cs typeface="Times New Roman"/>
              </a:rPr>
              <a:t>color: #49494d;</a:t>
            </a:r>
            <a:endParaRPr sz="1100">
              <a:latin typeface="Times New Roman"/>
              <a:cs typeface="Times New Roman"/>
            </a:endParaRPr>
          </a:p>
          <a:p>
            <a:pPr marL="83820" marR="285115" algn="just">
              <a:lnSpc>
                <a:spcPct val="145900"/>
              </a:lnSpc>
              <a:spcBef>
                <a:spcPts val="15"/>
              </a:spcBef>
            </a:pPr>
            <a:r>
              <a:rPr sz="1100" dirty="0">
                <a:latin typeface="Times New Roman"/>
                <a:cs typeface="Times New Roman"/>
              </a:rPr>
              <a:t>color: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white; </a:t>
            </a:r>
            <a:r>
              <a:rPr sz="1100" dirty="0">
                <a:latin typeface="Times New Roman"/>
                <a:cs typeface="Times New Roman"/>
              </a:rPr>
              <a:t>height: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4em; </a:t>
            </a:r>
            <a:r>
              <a:rPr sz="1100" dirty="0">
                <a:latin typeface="Times New Roman"/>
                <a:cs typeface="Times New Roman"/>
              </a:rPr>
              <a:t>width:</a:t>
            </a:r>
            <a:r>
              <a:rPr sz="1100" spc="6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100%;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4876" y="2964722"/>
            <a:ext cx="8223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820" marR="5080" indent="-71755">
              <a:lnSpc>
                <a:spcPct val="145500"/>
              </a:lnSpc>
              <a:spcBef>
                <a:spcPts val="95"/>
              </a:spcBef>
            </a:pPr>
            <a:r>
              <a:rPr sz="1100" spc="-10" dirty="0">
                <a:latin typeface="Times New Roman"/>
                <a:cs typeface="Times New Roman"/>
              </a:rPr>
              <a:t>.inputArea{ </a:t>
            </a:r>
            <a:r>
              <a:rPr sz="1100" dirty="0">
                <a:latin typeface="Times New Roman"/>
                <a:cs typeface="Times New Roman"/>
              </a:rPr>
              <a:t>color: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#fff;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}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16376</Words>
  <Application>Microsoft Office PowerPoint</Application>
  <PresentationFormat>Custom</PresentationFormat>
  <Paragraphs>1517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Calibri</vt:lpstr>
      <vt:lpstr>Courier New</vt:lpstr>
      <vt:lpstr>Segoe UI Symbol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ANGRA</cp:lastModifiedBy>
  <cp:revision>3</cp:revision>
  <dcterms:created xsi:type="dcterms:W3CDTF">2026-03-30T15:30:35Z</dcterms:created>
  <dcterms:modified xsi:type="dcterms:W3CDTF">2026-03-30T15:48:37Z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LastSaved">
    <vt:filetime>2026-03-30T00:00:00Z</vt:filetime>
  </property>
  <property fmtid="{D5CDD505-2E9C-101B-9397-08002B2CF9AE}" pid="4" name="Producer">
    <vt:lpwstr>iLovePDF</vt:lpwstr>
  </property>
</Properties>
</file>